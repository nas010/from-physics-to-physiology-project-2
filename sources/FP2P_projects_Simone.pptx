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1FBE343-6925-4CDF-BA71-FC96F19CCA86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11252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PROJECT 1   /   MEDIUM-LOW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6304D6-85BC-457C-93F5-82C0DE97AB5D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E43"/>
                </a:solidFill>
                <a:latin typeface="Arial"/>
                <a:ea typeface="Arial"/>
                <a:cs typeface="Arial"/>
              </a:rPr>
              <a:t>Reduced-order velocity fields with POD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AD13A0-0051-4989-A267-B2EDB7A688EC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How many spatial modes capture the flow?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BB5D14-54BC-40B4-88BF-A8AD63A8793C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5619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CORE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6350E7-9782-48F8-8E84-F8A267F7ABDF}"/>
              </a:ext>
            </a:extLst>
          </p:cNvPr>
          <p:cNvSpPr>
            <a:spLocks noGrp="1"/>
          </p:cNvSpPr>
          <p:nvPr/>
        </p:nvSpPr>
        <p:spPr>
          <a:xfrm>
            <a:off x="533400" y="2619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068738-CB5E-4C5F-ABBA-46794F8BB494}"/>
              </a:ext>
            </a:extLst>
          </p:cNvPr>
          <p:cNvSpPr>
            <a:spLocks noGrp="1"/>
          </p:cNvSpPr>
          <p:nvPr/>
        </p:nvSpPr>
        <p:spPr>
          <a:xfrm>
            <a:off x="1000125" y="2581275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Build the snapshot matrix and compute POD with SVD.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Verify using the analytical Womersley tube.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31D1B-41AD-4662-A456-994D4CA03A78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D8F5F0-442A-46A3-80D5-60A96A0F3F52}"/>
              </a:ext>
            </a:extLst>
          </p:cNvPr>
          <p:cNvSpPr>
            <a:spLocks noGrp="1"/>
          </p:cNvSpPr>
          <p:nvPr/>
        </p:nvSpPr>
        <p:spPr>
          <a:xfrm>
            <a:off x="1000125" y="3352800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Compare two anatomies: modes needed for 90%,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99% and 99.9% energy. Interpret the leading modes.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87303D-D3C1-4F94-8DD7-CB918A93D635}"/>
              </a:ext>
            </a:extLst>
          </p:cNvPr>
          <p:cNvSpPr>
            <a:spLocks noGrp="1"/>
          </p:cNvSpPr>
          <p:nvPr/>
        </p:nvSpPr>
        <p:spPr>
          <a:xfrm>
            <a:off x="533400" y="416242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46AD96-ADD5-4B45-8D63-5090491FAA69}"/>
              </a:ext>
            </a:extLst>
          </p:cNvPr>
          <p:cNvSpPr>
            <a:spLocks noGrp="1"/>
          </p:cNvSpPr>
          <p:nvPr/>
        </p:nvSpPr>
        <p:spPr>
          <a:xfrm>
            <a:off x="1000125" y="4124325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Measure reconstruction error for velocity and wall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shear stress. Explain why the errors differ.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C76193-2840-4D20-9935-DBF9A4467E9A}"/>
              </a:ext>
            </a:extLst>
          </p:cNvPr>
          <p:cNvSpPr>
            <a:spLocks noGrp="1"/>
          </p:cNvSpPr>
          <p:nvPr/>
        </p:nvSpPr>
        <p:spPr>
          <a:xfrm>
            <a:off x="533400" y="5095875"/>
            <a:ext cx="6000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OPTIONAL STRETCH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ED7381-7E6A-433A-B950-6D5B5E543C9A}"/>
              </a:ext>
            </a:extLst>
          </p:cNvPr>
          <p:cNvSpPr>
            <a:spLocks noGrp="1"/>
          </p:cNvSpPr>
          <p:nvPr/>
        </p:nvSpPr>
        <p:spPr>
          <a:xfrm>
            <a:off x="533400" y="5448300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Learn coefficients from inflow features.</a:t>
            </a:r>
          </a:p>
          <a:p>
            <a:pPr>
              <a:defRPr sz="165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Explore a shared basis across geometries.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19900" y="2324100"/>
            <a:ext cx="4914900" cy="3276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57D1A843-0292-46D2-AF33-B2C2E74150C3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C7F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F8A"/>
                </a:solidFill>
                <a:latin typeface="Arial"/>
                <a:ea typeface="Arial"/>
                <a:cs typeface="Arial"/>
              </a:rPr>
              <a:t>1 / 4</a:t>
            </a:r>
          </a:p>
        </p:txBody>
      </p:sp>
    </p:spTree>
    <p:extLst>
      <p:ext uri="{BB962C8B-B14F-4D97-AF65-F5344CB8AC3E}">
        <p14:creationId xmlns:p14="http://schemas.microsoft.com/office/powerpoint/2010/main" val="579420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40E2E55-3B9F-4AB8-802E-C67B17EEF912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11252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PROJECT 2   /   MEDIUM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CD56B5-FE13-4B13-9611-AF9EA5BC7044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E43"/>
                </a:solidFill>
                <a:latin typeface="Arial"/>
                <a:ea typeface="Arial"/>
                <a:cs typeface="Arial"/>
              </a:rPr>
              <a:t>How good are the 1D assumptions?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4617E5-F755-487D-9E0F-74DF33972133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Where does a 1D description stop being accurate?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0C3CB0-B18B-442F-B367-6E39EC0C2B22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5619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CORE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364D1D-5676-4DAE-A44A-791FA7F38184}"/>
              </a:ext>
            </a:extLst>
          </p:cNvPr>
          <p:cNvSpPr>
            <a:spLocks noGrp="1"/>
          </p:cNvSpPr>
          <p:nvPr/>
        </p:nvSpPr>
        <p:spPr>
          <a:xfrm>
            <a:off x="533400" y="2619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643B8F-5B91-4F4B-A5C6-5754492DBF24}"/>
              </a:ext>
            </a:extLst>
          </p:cNvPr>
          <p:cNvSpPr>
            <a:spLocks noGrp="1"/>
          </p:cNvSpPr>
          <p:nvPr/>
        </p:nvSpPr>
        <p:spPr>
          <a:xfrm>
            <a:off x="1000125" y="2581275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Slice the 3D flow: area, flow rate, mean pressure and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velocity profiles. Check mass balance and Womersley.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4B00D2-D239-48AD-ABBA-27DF2899ED5F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D9D397-DED3-4A4B-9460-728711AF3EF8}"/>
              </a:ext>
            </a:extLst>
          </p:cNvPr>
          <p:cNvSpPr>
            <a:spLocks noGrp="1"/>
          </p:cNvSpPr>
          <p:nvPr/>
        </p:nvSpPr>
        <p:spPr>
          <a:xfrm>
            <a:off x="1000125" y="3352800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Map pressure non-uniformity. Compare momentum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coefficient alpha and friction with reference profiles.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0EC991-99AF-41F6-8216-EBB6B7BC5769}"/>
              </a:ext>
            </a:extLst>
          </p:cNvPr>
          <p:cNvSpPr>
            <a:spLocks noGrp="1"/>
          </p:cNvSpPr>
          <p:nvPr/>
        </p:nvSpPr>
        <p:spPr>
          <a:xfrm>
            <a:off x="533400" y="416242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14844A-70A1-4E40-8E19-FBE41258FCC8}"/>
              </a:ext>
            </a:extLst>
          </p:cNvPr>
          <p:cNvSpPr>
            <a:spLocks noGrp="1"/>
          </p:cNvSpPr>
          <p:nvPr/>
        </p:nvSpPr>
        <p:spPr>
          <a:xfrm>
            <a:off x="1000125" y="4124325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Evaluate the 1D momentum-equation residual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along the vessel, including bends and stenoses.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9624B4-416C-44A5-A442-C63E4D6425C4}"/>
              </a:ext>
            </a:extLst>
          </p:cNvPr>
          <p:cNvSpPr>
            <a:spLocks noGrp="1"/>
          </p:cNvSpPr>
          <p:nvPr/>
        </p:nvSpPr>
        <p:spPr>
          <a:xfrm>
            <a:off x="533400" y="5095875"/>
            <a:ext cx="6000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OPTIONAL STRETCH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2BCD5A-F3D9-4328-B0C0-25662AA669D4}"/>
              </a:ext>
            </a:extLst>
          </p:cNvPr>
          <p:cNvSpPr>
            <a:spLocks noGrp="1"/>
          </p:cNvSpPr>
          <p:nvPr/>
        </p:nvSpPr>
        <p:spPr>
          <a:xfrm>
            <a:off x="533400" y="5448300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Fit local closures to reduce the residual.</a:t>
            </a:r>
          </a:p>
          <a:p>
            <a:pPr>
              <a:defRPr sz="165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Compare a 0D/1D model with the 3D solution.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19900" y="2324100"/>
            <a:ext cx="4914900" cy="32766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A99F5B4-A7F6-4D31-B64B-25FC796464AD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C7F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F8A"/>
                </a:solidFill>
                <a:latin typeface="Arial"/>
                <a:ea typeface="Arial"/>
                <a:cs typeface="Arial"/>
              </a:rPr>
              <a:t>2 / 4</a:t>
            </a:r>
          </a:p>
        </p:txBody>
      </p:sp>
    </p:spTree>
    <p:extLst>
      <p:ext uri="{BB962C8B-B14F-4D97-AF65-F5344CB8AC3E}">
        <p14:creationId xmlns:p14="http://schemas.microsoft.com/office/powerpoint/2010/main" val="205152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6CBE591-2355-46F2-A809-5DBE30AF8E5B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11252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PROJECT 3   /   HIGH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D5490C-EB76-4163-8EFA-A4945BB707D8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E43"/>
                </a:solidFill>
                <a:latin typeface="Arial"/>
                <a:ea typeface="Arial"/>
                <a:cs typeface="Arial"/>
              </a:rPr>
              <a:t>A 1D solver for coronary artery trees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5B337F-233E-4D34-A7E3-07CD7DE58065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Can a fast tree model reproduce coronary 3D CFD?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7A5060-6EA8-4D87-8551-7885FFE3F467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5619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CORE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A6E305-9B74-4E04-B796-F8C95FF2D838}"/>
              </a:ext>
            </a:extLst>
          </p:cNvPr>
          <p:cNvSpPr>
            <a:spLocks noGrp="1"/>
          </p:cNvSpPr>
          <p:nvPr/>
        </p:nvSpPr>
        <p:spPr>
          <a:xfrm>
            <a:off x="533400" y="2619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139B3-E489-4A00-AD47-8F8EF84CE732}"/>
              </a:ext>
            </a:extLst>
          </p:cNvPr>
          <p:cNvSpPr>
            <a:spLocks noGrp="1"/>
          </p:cNvSpPr>
          <p:nvPr/>
        </p:nvSpPr>
        <p:spPr>
          <a:xfrm>
            <a:off x="1000125" y="2581275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Extend the supplied Python openBF core to arbitrary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trees with a Newton-based junction solver.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FA5EE4-A6E9-427A-A57B-0EBD3A20E92C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E60046-0A68-4D89-A079-CEC6E99A5CB5}"/>
              </a:ext>
            </a:extLst>
          </p:cNvPr>
          <p:cNvSpPr>
            <a:spLocks noGrp="1"/>
          </p:cNvSpPr>
          <p:nvPr/>
        </p:nvSpPr>
        <p:spPr>
          <a:xfrm>
            <a:off x="1000125" y="3352800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Add Windkessel outlets and intramyocardial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back-pressure to obtain diastole-dominant flow.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718C82-CA27-451D-9CC4-9C64B27BB45F}"/>
              </a:ext>
            </a:extLst>
          </p:cNvPr>
          <p:cNvSpPr>
            <a:spLocks noGrp="1"/>
          </p:cNvSpPr>
          <p:nvPr/>
        </p:nvSpPr>
        <p:spPr>
          <a:xfrm>
            <a:off x="533400" y="416242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24A248-0E9C-4344-B179-AEE28EDD7203}"/>
              </a:ext>
            </a:extLst>
          </p:cNvPr>
          <p:cNvSpPr>
            <a:spLocks noGrp="1"/>
          </p:cNvSpPr>
          <p:nvPr/>
        </p:nvSpPr>
        <p:spPr>
          <a:xfrm>
            <a:off x="1000125" y="4124325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Test convergence and mass conservation. Compare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flow split, pressure drop and virtual FFR with 3D CFD.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D4F5D5-B352-419D-A026-AE4AD87201E6}"/>
              </a:ext>
            </a:extLst>
          </p:cNvPr>
          <p:cNvSpPr>
            <a:spLocks noGrp="1"/>
          </p:cNvSpPr>
          <p:nvPr/>
        </p:nvSpPr>
        <p:spPr>
          <a:xfrm>
            <a:off x="533400" y="5095875"/>
            <a:ext cx="6000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OPTIONAL STRETCH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C1C2E-0DAB-4715-B987-02928612CBF4}"/>
              </a:ext>
            </a:extLst>
          </p:cNvPr>
          <p:cNvSpPr>
            <a:spLocks noGrp="1"/>
          </p:cNvSpPr>
          <p:nvPr/>
        </p:nvSpPr>
        <p:spPr>
          <a:xfrm>
            <a:off x="533400" y="5448300"/>
            <a:ext cx="6191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Add stenosis losses and virtual stenting.</a:t>
            </a:r>
          </a:p>
          <a:p>
            <a:pPr>
              <a:defRPr sz="1650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173348"/>
                </a:solidFill>
                <a:latin typeface="Arial"/>
                <a:ea typeface="Arial"/>
                <a:cs typeface="Arial"/>
              </a:rPr>
              <a:t>Test sensitivity to stiffness, resistance and radius.</a:t>
            </a: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819900" y="2324100"/>
            <a:ext cx="4914900" cy="3276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3626EFE-CD0B-4F9F-AC65-B5DA005E07F7}"/>
              </a:ext>
            </a:extLst>
          </p:cNvPr>
          <p:cNvSpPr>
            <a:spLocks noGrp="1"/>
          </p:cNvSpPr>
          <p:nvPr/>
        </p:nvSpPr>
        <p:spPr>
          <a:xfrm>
            <a:off x="9542128" y="6596062"/>
            <a:ext cx="1697372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C7F8A"/>
                </a:solidFill>
                <a:latin typeface="Arial"/>
                <a:ea typeface="Arial"/>
                <a:cs typeface="Arial"/>
              </a:defRPr>
            </a:pPr>
            <a:r>
              <a:rPr sz="975" b="0" dirty="0">
                <a:solidFill>
                  <a:srgbClr val="6C7F8A"/>
                </a:solidFill>
                <a:latin typeface="Arial"/>
                <a:ea typeface="Arial"/>
                <a:cs typeface="Arial"/>
              </a:rPr>
              <a:t>AI-generated schematic</a:t>
            </a:r>
            <a:r>
              <a:rPr lang="en-GB" sz="975" b="0" dirty="0">
                <a:solidFill>
                  <a:srgbClr val="6C7F8A"/>
                </a:solidFill>
                <a:latin typeface="Arial"/>
                <a:ea typeface="Arial"/>
                <a:cs typeface="Arial"/>
              </a:rPr>
              <a:t>s</a:t>
            </a:r>
            <a:endParaRPr sz="975" b="0" dirty="0">
              <a:solidFill>
                <a:srgbClr val="6C7F8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066116-D9EE-4A9B-BFB5-811E76561BEA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C7F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F8A"/>
                </a:solidFill>
                <a:latin typeface="Arial"/>
                <a:ea typeface="Arial"/>
                <a:cs typeface="Arial"/>
              </a:rPr>
              <a:t>3 / 4</a:t>
            </a:r>
          </a:p>
        </p:txBody>
      </p:sp>
    </p:spTree>
    <p:extLst>
      <p:ext uri="{BB962C8B-B14F-4D97-AF65-F5344CB8AC3E}">
        <p14:creationId xmlns:p14="http://schemas.microsoft.com/office/powerpoint/2010/main" val="1738421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56A7018-42E8-4965-9A8D-2FD9E1FF011C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111252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PROJECT 4   /   SCOPE BY PROPOSAL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F2AD2F-0399-4D3C-83C1-FAD88ADD5E0A}"/>
              </a:ext>
            </a:extLst>
          </p:cNvPr>
          <p:cNvSpPr>
            <a:spLocks noGrp="1"/>
          </p:cNvSpPr>
          <p:nvPr/>
        </p:nvSpPr>
        <p:spPr>
          <a:xfrm>
            <a:off x="533400" y="752475"/>
            <a:ext cx="1123950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02E4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E43"/>
                </a:solidFill>
                <a:latin typeface="Arial"/>
                <a:ea typeface="Arial"/>
                <a:cs typeface="Arial"/>
              </a:rPr>
              <a:t>Propose your own project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C0C2D7-3005-4ACA-81D3-A9D04A3BB164}"/>
              </a:ext>
            </a:extLst>
          </p:cNvPr>
          <p:cNvSpPr>
            <a:spLocks noGrp="1"/>
          </p:cNvSpPr>
          <p:nvPr/>
        </p:nvSpPr>
        <p:spPr>
          <a:xfrm>
            <a:off x="533400" y="1438275"/>
            <a:ext cx="11144250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Choose a course-inspired question you can test in 3 weeks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75AA55-0EC4-4118-9875-AC928DABEE88}"/>
              </a:ext>
            </a:extLst>
          </p:cNvPr>
          <p:cNvSpPr>
            <a:spLocks noGrp="1"/>
          </p:cNvSpPr>
          <p:nvPr/>
        </p:nvSpPr>
        <p:spPr>
          <a:xfrm>
            <a:off x="533400" y="2162175"/>
            <a:ext cx="561975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PROPOSAL &amp; APPROVAL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48BDD-2F2A-497A-B1FC-AD7CAC83AA0B}"/>
              </a:ext>
            </a:extLst>
          </p:cNvPr>
          <p:cNvSpPr>
            <a:spLocks noGrp="1"/>
          </p:cNvSpPr>
          <p:nvPr/>
        </p:nvSpPr>
        <p:spPr>
          <a:xfrm>
            <a:off x="533400" y="2619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EA510-D10D-4748-8CBE-79994A59C68E}"/>
              </a:ext>
            </a:extLst>
          </p:cNvPr>
          <p:cNvSpPr>
            <a:spLocks noGrp="1"/>
          </p:cNvSpPr>
          <p:nvPr/>
        </p:nvSpPr>
        <p:spPr>
          <a:xfrm>
            <a:off x="1000125" y="2581275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Submit a 2-page proposal: question, physics, data,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core and stretch outcomes, and a verification case.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BCD41D-39E3-4A8F-B5FA-B460A7AFD601}"/>
              </a:ext>
            </a:extLst>
          </p:cNvPr>
          <p:cNvSpPr>
            <a:spLocks noGrp="1"/>
          </p:cNvSpPr>
          <p:nvPr/>
        </p:nvSpPr>
        <p:spPr>
          <a:xfrm>
            <a:off x="533400" y="3390900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CC591F-D3BF-4A83-AEBF-36A16C77619A}"/>
              </a:ext>
            </a:extLst>
          </p:cNvPr>
          <p:cNvSpPr>
            <a:spLocks noGrp="1"/>
          </p:cNvSpPr>
          <p:nvPr/>
        </p:nvSpPr>
        <p:spPr>
          <a:xfrm>
            <a:off x="1000125" y="3352800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Include a week plan and division of work.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Pitch in a 10-minute meeting with the coordinator.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776473-3B7C-4B95-A28E-9FE311EE3F5C}"/>
              </a:ext>
            </a:extLst>
          </p:cNvPr>
          <p:cNvSpPr>
            <a:spLocks noGrp="1"/>
          </p:cNvSpPr>
          <p:nvPr/>
        </p:nvSpPr>
        <p:spPr>
          <a:xfrm>
            <a:off x="533400" y="416242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D2644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2644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14FFDF-FF11-4F6A-BBE1-F55A9F7FFC80}"/>
              </a:ext>
            </a:extLst>
          </p:cNvPr>
          <p:cNvSpPr>
            <a:spLocks noGrp="1"/>
          </p:cNvSpPr>
          <p:nvPr/>
        </p:nvSpPr>
        <p:spPr>
          <a:xfrm>
            <a:off x="1000125" y="4124325"/>
            <a:ext cx="5619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Acceptance may require changes. Otherwise select</a:t>
            </a:r>
          </a:p>
          <a:p>
            <a:pPr>
              <a:defRPr sz="1725" b="0">
                <a:solidFill>
                  <a:srgbClr val="1733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348"/>
                </a:solidFill>
                <a:latin typeface="Arial"/>
                <a:ea typeface="Arial"/>
                <a:cs typeface="Arial"/>
              </a:rPr>
              <a:t>Project 1, 2 or 3. The same grading criteria apply.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37A96E5-F32D-4039-A825-577B392E42BB}"/>
              </a:ext>
            </a:extLst>
          </p:cNvPr>
          <p:cNvSpPr>
            <a:spLocks noGrp="1"/>
          </p:cNvSpPr>
          <p:nvPr/>
        </p:nvSpPr>
        <p:spPr>
          <a:xfrm>
            <a:off x="11239500" y="6610350"/>
            <a:ext cx="571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975" b="0">
                <a:solidFill>
                  <a:srgbClr val="6C7F8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C7F8A"/>
                </a:solidFill>
                <a:latin typeface="Arial"/>
                <a:ea typeface="Arial"/>
                <a:cs typeface="Arial"/>
              </a:rPr>
              <a:t>4 / 4</a:t>
            </a:r>
          </a:p>
        </p:txBody>
      </p:sp>
    </p:spTree>
    <p:extLst>
      <p:ext uri="{BB962C8B-B14F-4D97-AF65-F5344CB8AC3E}">
        <p14:creationId xmlns:p14="http://schemas.microsoft.com/office/powerpoint/2010/main" val="17411003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DocSecurity>0</DocSecurity>
  <PresentationFormat>Widescreen</PresentationFormat>
  <Paragraphs>66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Saitta, Simone</cp:lastModifiedBy>
  <cp:revision>1</cp:revision>
  <dcterms:created xsi:type="dcterms:W3CDTF">2026-09-25T07:01:32Z</dcterms:created>
  <dcterms:modified xsi:type="dcterms:W3CDTF">2026-09-25T07:06:10Z</dcterms:modified>
</cp:coreProperties>
</file>