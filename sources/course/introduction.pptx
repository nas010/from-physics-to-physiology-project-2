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8"/>
  </p:notesMasterIdLst>
  <p:sldIdLst>
    <p:sldId id="256" r:id="rId2"/>
    <p:sldId id="294" r:id="rId3"/>
    <p:sldId id="278" r:id="rId4"/>
    <p:sldId id="3022" r:id="rId5"/>
    <p:sldId id="3023" r:id="rId6"/>
    <p:sldId id="259" r:id="rId7"/>
    <p:sldId id="258" r:id="rId8"/>
    <p:sldId id="261" r:id="rId9"/>
    <p:sldId id="257" r:id="rId10"/>
    <p:sldId id="287" r:id="rId11"/>
    <p:sldId id="288" r:id="rId12"/>
    <p:sldId id="289" r:id="rId13"/>
    <p:sldId id="293" r:id="rId14"/>
    <p:sldId id="3019" r:id="rId15"/>
    <p:sldId id="310" r:id="rId16"/>
    <p:sldId id="3015" r:id="rId17"/>
    <p:sldId id="3016" r:id="rId18"/>
    <p:sldId id="262" r:id="rId19"/>
    <p:sldId id="263" r:id="rId20"/>
    <p:sldId id="291" r:id="rId21"/>
    <p:sldId id="292" r:id="rId22"/>
    <p:sldId id="279" r:id="rId23"/>
    <p:sldId id="3017" r:id="rId24"/>
    <p:sldId id="265" r:id="rId25"/>
    <p:sldId id="264" r:id="rId26"/>
    <p:sldId id="267" r:id="rId27"/>
    <p:sldId id="3018" r:id="rId28"/>
    <p:sldId id="266" r:id="rId29"/>
    <p:sldId id="269" r:id="rId30"/>
    <p:sldId id="290" r:id="rId31"/>
    <p:sldId id="270" r:id="rId32"/>
    <p:sldId id="271" r:id="rId33"/>
    <p:sldId id="275" r:id="rId34"/>
    <p:sldId id="274" r:id="rId35"/>
    <p:sldId id="276" r:id="rId36"/>
    <p:sldId id="277" r:id="rId37"/>
    <p:sldId id="273" r:id="rId38"/>
    <p:sldId id="280" r:id="rId39"/>
    <p:sldId id="281" r:id="rId40"/>
    <p:sldId id="282" r:id="rId41"/>
    <p:sldId id="283" r:id="rId42"/>
    <p:sldId id="3020" r:id="rId43"/>
    <p:sldId id="284" r:id="rId44"/>
    <p:sldId id="285" r:id="rId45"/>
    <p:sldId id="286" r:id="rId46"/>
    <p:sldId id="268" r:id="rId47"/>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16" autoAdjust="0"/>
    <p:restoredTop sz="87325" autoAdjust="0"/>
  </p:normalViewPr>
  <p:slideViewPr>
    <p:cSldViewPr snapToGrid="0">
      <p:cViewPr>
        <p:scale>
          <a:sx n="100" d="100"/>
          <a:sy n="100" d="100"/>
        </p:scale>
        <p:origin x="726" y="31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B3159-E316-4D7B-B411-AF0DC0856375}" type="datetimeFigureOut">
              <a:rPr lang="nl-NL" smtClean="0"/>
              <a:t>31-8-2026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DE340D-DEE6-4342-B238-87AEF24DC822}" type="slidenum">
              <a:rPr lang="nl-NL" smtClean="0"/>
              <a:t>‹#›</a:t>
            </a:fld>
            <a:endParaRPr lang="nl-NL"/>
          </a:p>
        </p:txBody>
      </p:sp>
    </p:spTree>
    <p:extLst>
      <p:ext uri="{BB962C8B-B14F-4D97-AF65-F5344CB8AC3E}">
        <p14:creationId xmlns:p14="http://schemas.microsoft.com/office/powerpoint/2010/main" val="3595996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D0DE340D-DEE6-4342-B238-87AEF24DC822}" type="slidenum">
              <a:rPr lang="nl-NL" smtClean="0"/>
              <a:t>13</a:t>
            </a:fld>
            <a:endParaRPr lang="nl-NL"/>
          </a:p>
        </p:txBody>
      </p:sp>
    </p:spTree>
    <p:extLst>
      <p:ext uri="{BB962C8B-B14F-4D97-AF65-F5344CB8AC3E}">
        <p14:creationId xmlns:p14="http://schemas.microsoft.com/office/powerpoint/2010/main" val="1557376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p:cNvSpPr>
            <a:spLocks noGrp="1"/>
          </p:cNvSpPr>
          <p:nvPr>
            <p:ph type="dt" sz="half" idx="10"/>
          </p:nvPr>
        </p:nvSpPr>
        <p:spPr/>
        <p:txBody>
          <a:bodyPr/>
          <a:lstStyle/>
          <a:p>
            <a:fld id="{4770F9B9-8E69-47D8-9DD4-F923430D5578}" type="datetimeFigureOut">
              <a:rPr lang="nl-NL" smtClean="0"/>
              <a:t>31-8-2026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220785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4770F9B9-8E69-47D8-9DD4-F923430D5578}" type="datetimeFigureOut">
              <a:rPr lang="nl-NL" smtClean="0"/>
              <a:t>31-8-2026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912727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770F9B9-8E69-47D8-9DD4-F923430D5578}" type="datetimeFigureOut">
              <a:rPr lang="nl-NL" smtClean="0"/>
              <a:t>31-8-2026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301843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p:cNvSpPr>
            <a:spLocks noGrp="1"/>
          </p:cNvSpPr>
          <p:nvPr>
            <p:ph type="dt" sz="half" idx="10"/>
          </p:nvPr>
        </p:nvSpPr>
        <p:spPr/>
        <p:txBody>
          <a:bodyPr/>
          <a:lstStyle/>
          <a:p>
            <a:fld id="{4770F9B9-8E69-47D8-9DD4-F923430D5578}" type="datetimeFigureOut">
              <a:rPr lang="nl-NL" smtClean="0"/>
              <a:t>31-8-2026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1351507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p:cNvSpPr>
            <a:spLocks noGrp="1"/>
          </p:cNvSpPr>
          <p:nvPr>
            <p:ph type="dt" sz="half" idx="10"/>
          </p:nvPr>
        </p:nvSpPr>
        <p:spPr/>
        <p:txBody>
          <a:bodyPr/>
          <a:lstStyle/>
          <a:p>
            <a:fld id="{4770F9B9-8E69-47D8-9DD4-F923430D5578}" type="datetimeFigureOut">
              <a:rPr lang="nl-NL" smtClean="0"/>
              <a:t>31-8-2026</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3147145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Date Placeholder 2"/>
          <p:cNvSpPr>
            <a:spLocks noGrp="1"/>
          </p:cNvSpPr>
          <p:nvPr>
            <p:ph type="dt" sz="half" idx="10"/>
          </p:nvPr>
        </p:nvSpPr>
        <p:spPr/>
        <p:txBody>
          <a:bodyPr/>
          <a:lstStyle/>
          <a:p>
            <a:fld id="{4770F9B9-8E69-47D8-9DD4-F923430D5578}" type="datetimeFigureOut">
              <a:rPr lang="nl-NL" smtClean="0"/>
              <a:t>31-8-2026</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4076802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70F9B9-8E69-47D8-9DD4-F923430D5578}" type="datetimeFigureOut">
              <a:rPr lang="nl-NL" smtClean="0"/>
              <a:t>31-8-2026</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1422436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70F9B9-8E69-47D8-9DD4-F923430D5578}" type="datetimeFigureOut">
              <a:rPr lang="nl-NL" smtClean="0"/>
              <a:t>31-8-2026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33425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70F9B9-8E69-47D8-9DD4-F923430D5578}" type="datetimeFigureOut">
              <a:rPr lang="nl-NL" smtClean="0"/>
              <a:t>31-8-2026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3608704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4770F9B9-8E69-47D8-9DD4-F923430D5578}" type="datetimeFigureOut">
              <a:rPr lang="nl-NL" smtClean="0"/>
              <a:t>31-8-2026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2119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4770F9B9-8E69-47D8-9DD4-F923430D5578}" type="datetimeFigureOut">
              <a:rPr lang="nl-NL" smtClean="0"/>
              <a:t>31-8-2026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8E56E70-75B8-474E-8E02-2A4F9D270317}" type="slidenum">
              <a:rPr lang="nl-NL" smtClean="0"/>
              <a:t>‹#›</a:t>
            </a:fld>
            <a:endParaRPr lang="nl-NL"/>
          </a:p>
        </p:txBody>
      </p:sp>
    </p:spTree>
    <p:extLst>
      <p:ext uri="{BB962C8B-B14F-4D97-AF65-F5344CB8AC3E}">
        <p14:creationId xmlns:p14="http://schemas.microsoft.com/office/powerpoint/2010/main" val="2438862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8061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0F9B9-8E69-47D8-9DD4-F923430D5578}" type="datetimeFigureOut">
              <a:rPr lang="nl-NL" smtClean="0"/>
              <a:t>31-8-2026</a:t>
            </a:fld>
            <a:endParaRPr lang="nl-N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E56E70-75B8-474E-8E02-2A4F9D270317}" type="slidenum">
              <a:rPr lang="nl-NL" smtClean="0"/>
              <a:t>‹#›</a:t>
            </a:fld>
            <a:endParaRPr lang="nl-NL"/>
          </a:p>
        </p:txBody>
      </p:sp>
    </p:spTree>
    <p:extLst>
      <p:ext uri="{BB962C8B-B14F-4D97-AF65-F5344CB8AC3E}">
        <p14:creationId xmlns:p14="http://schemas.microsoft.com/office/powerpoint/2010/main" val="2576571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e.vanbavel@amsterdamumc.n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pure.amsterdamumc.nl/en/persons/ed-van-bavel" TargetMode="External"/><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hyperlink" Target="https://bme-physics.n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hyperlink" Target="https://www.youtube.com/watch?v=cWh1ovlJg24" TargetMode="Externa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canvas.uva.nl/courses/6070/pages/responsible-use-of-ai-tool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hyperlink" Target="https://www.bol.com/nl/nl/f/medical-physiology/3874387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eb.mst.edu/~gosavia/queuing_formulas.pdf"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nl-NL" dirty="0" err="1"/>
              <a:t>Introduction</a:t>
            </a:r>
            <a:r>
              <a:rPr lang="nl-NL" dirty="0"/>
              <a:t> </a:t>
            </a:r>
            <a:br>
              <a:rPr lang="nl-NL" dirty="0"/>
            </a:br>
            <a:r>
              <a:rPr lang="nl-NL" dirty="0"/>
              <a:t>Ed van Bavel</a:t>
            </a:r>
          </a:p>
        </p:txBody>
      </p:sp>
      <p:sp>
        <p:nvSpPr>
          <p:cNvPr id="3" name="Subtitle 2"/>
          <p:cNvSpPr>
            <a:spLocks noGrp="1"/>
          </p:cNvSpPr>
          <p:nvPr>
            <p:ph type="subTitle" idx="1"/>
          </p:nvPr>
        </p:nvSpPr>
        <p:spPr/>
        <p:txBody>
          <a:bodyPr/>
          <a:lstStyle/>
          <a:p>
            <a:r>
              <a:rPr lang="nl-NL" dirty="0">
                <a:hlinkClick r:id="rId2"/>
              </a:rPr>
              <a:t>e.vanbavel@amsterdamumc.nl</a:t>
            </a:r>
            <a:endParaRPr lang="nl-NL" dirty="0"/>
          </a:p>
          <a:p>
            <a:r>
              <a:rPr lang="nl-NL" dirty="0"/>
              <a:t>020-5665203 (</a:t>
            </a:r>
            <a:r>
              <a:rPr lang="nl-NL" dirty="0" err="1"/>
              <a:t>work</a:t>
            </a:r>
            <a:r>
              <a:rPr lang="nl-NL" dirty="0"/>
              <a:t>) / 020-5667788 (secr)</a:t>
            </a:r>
          </a:p>
        </p:txBody>
      </p:sp>
    </p:spTree>
    <p:extLst>
      <p:ext uri="{BB962C8B-B14F-4D97-AF65-F5344CB8AC3E}">
        <p14:creationId xmlns:p14="http://schemas.microsoft.com/office/powerpoint/2010/main" val="136490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0F0E50-B70C-6E11-272A-C825ED2C8A85}"/>
              </a:ext>
            </a:extLst>
          </p:cNvPr>
          <p:cNvSpPr>
            <a:spLocks noGrp="1"/>
          </p:cNvSpPr>
          <p:nvPr>
            <p:ph type="title"/>
          </p:nvPr>
        </p:nvSpPr>
        <p:spPr/>
        <p:txBody>
          <a:bodyPr/>
          <a:lstStyle/>
          <a:p>
            <a:r>
              <a:rPr lang="nl-NL" dirty="0" err="1"/>
              <a:t>From</a:t>
            </a:r>
            <a:r>
              <a:rPr lang="nl-NL" dirty="0"/>
              <a:t> </a:t>
            </a:r>
            <a:r>
              <a:rPr lang="nl-NL" dirty="0" err="1"/>
              <a:t>Physics</a:t>
            </a:r>
            <a:r>
              <a:rPr lang="nl-NL" dirty="0"/>
              <a:t> </a:t>
            </a:r>
            <a:r>
              <a:rPr lang="nl-NL" dirty="0" err="1"/>
              <a:t>to</a:t>
            </a:r>
            <a:r>
              <a:rPr lang="nl-NL" dirty="0"/>
              <a:t> </a:t>
            </a:r>
            <a:r>
              <a:rPr lang="nl-NL" dirty="0" err="1"/>
              <a:t>Physiology</a:t>
            </a:r>
            <a:endParaRPr lang="nl-NL" dirty="0"/>
          </a:p>
        </p:txBody>
      </p:sp>
      <p:sp>
        <p:nvSpPr>
          <p:cNvPr id="3" name="Tijdelijke aanduiding voor inhoud 2">
            <a:extLst>
              <a:ext uri="{FF2B5EF4-FFF2-40B4-BE49-F238E27FC236}">
                <a16:creationId xmlns:a16="http://schemas.microsoft.com/office/drawing/2014/main" id="{7EF4A9DE-ABA3-501B-D420-1B43B7A9840B}"/>
              </a:ext>
            </a:extLst>
          </p:cNvPr>
          <p:cNvSpPr>
            <a:spLocks noGrp="1"/>
          </p:cNvSpPr>
          <p:nvPr>
            <p:ph idx="1"/>
          </p:nvPr>
        </p:nvSpPr>
        <p:spPr/>
        <p:txBody>
          <a:bodyPr/>
          <a:lstStyle/>
          <a:p>
            <a:r>
              <a:rPr lang="nl-NL" dirty="0"/>
              <a:t>Ivo van Stokkum</a:t>
            </a:r>
          </a:p>
          <a:p>
            <a:r>
              <a:rPr lang="nl-NL" dirty="0"/>
              <a:t>Simone Saitta</a:t>
            </a:r>
          </a:p>
          <a:p>
            <a:r>
              <a:rPr lang="nl-NL" dirty="0"/>
              <a:t>Ed van Bavel</a:t>
            </a:r>
          </a:p>
          <a:p>
            <a:r>
              <a:rPr lang="nl-NL" dirty="0"/>
              <a:t>Support Naomi Duits</a:t>
            </a:r>
          </a:p>
        </p:txBody>
      </p:sp>
    </p:spTree>
    <p:extLst>
      <p:ext uri="{BB962C8B-B14F-4D97-AF65-F5344CB8AC3E}">
        <p14:creationId xmlns:p14="http://schemas.microsoft.com/office/powerpoint/2010/main" val="4229644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D9874B-E717-CBD7-83A9-A2734C33A31E}"/>
              </a:ext>
            </a:extLst>
          </p:cNvPr>
          <p:cNvSpPr>
            <a:spLocks noGrp="1"/>
          </p:cNvSpPr>
          <p:nvPr>
            <p:ph type="title"/>
          </p:nvPr>
        </p:nvSpPr>
        <p:spPr/>
        <p:txBody>
          <a:bodyPr/>
          <a:lstStyle/>
          <a:p>
            <a:r>
              <a:rPr lang="en-US" dirty="0"/>
              <a:t>Aim today</a:t>
            </a:r>
            <a:endParaRPr lang="nl-NL" dirty="0"/>
          </a:p>
        </p:txBody>
      </p:sp>
      <p:sp>
        <p:nvSpPr>
          <p:cNvPr id="3" name="Tijdelijke aanduiding voor inhoud 2">
            <a:extLst>
              <a:ext uri="{FF2B5EF4-FFF2-40B4-BE49-F238E27FC236}">
                <a16:creationId xmlns:a16="http://schemas.microsoft.com/office/drawing/2014/main" id="{4892E05F-0D73-5385-029D-CC85F7C641AA}"/>
              </a:ext>
            </a:extLst>
          </p:cNvPr>
          <p:cNvSpPr>
            <a:spLocks noGrp="1"/>
          </p:cNvSpPr>
          <p:nvPr>
            <p:ph idx="1"/>
          </p:nvPr>
        </p:nvSpPr>
        <p:spPr/>
        <p:txBody>
          <a:bodyPr/>
          <a:lstStyle/>
          <a:p>
            <a:pPr marL="0" indent="0">
              <a:buNone/>
            </a:pPr>
            <a:r>
              <a:rPr lang="en-US" dirty="0"/>
              <a:t>Hours 1-2:</a:t>
            </a:r>
          </a:p>
          <a:p>
            <a:r>
              <a:rPr lang="en-US" dirty="0"/>
              <a:t>Introduce ourselves and the course</a:t>
            </a:r>
          </a:p>
          <a:p>
            <a:r>
              <a:rPr lang="en-US" dirty="0"/>
              <a:t>Introduce the content lectures, set up groups</a:t>
            </a:r>
          </a:p>
          <a:p>
            <a:r>
              <a:rPr lang="en-US" dirty="0"/>
              <a:t>Discuss modeling</a:t>
            </a:r>
          </a:p>
          <a:p>
            <a:pPr marL="0" indent="0">
              <a:buNone/>
            </a:pPr>
            <a:endParaRPr lang="en-US" dirty="0"/>
          </a:p>
          <a:p>
            <a:pPr marL="0" indent="0">
              <a:buNone/>
            </a:pPr>
            <a:r>
              <a:rPr lang="en-US" dirty="0"/>
              <a:t>Hours 3-4 (we need to move to the NU building Theater6-NU-4C07):</a:t>
            </a:r>
          </a:p>
          <a:p>
            <a:r>
              <a:rPr lang="en-US" dirty="0"/>
              <a:t>Lecture 1: circulation and steady  flow (followed by group exercises on Thursday)</a:t>
            </a:r>
          </a:p>
          <a:p>
            <a:pPr marL="0" indent="0">
              <a:buNone/>
            </a:pPr>
            <a:endParaRPr lang="nl-NL" dirty="0"/>
          </a:p>
        </p:txBody>
      </p:sp>
    </p:spTree>
    <p:extLst>
      <p:ext uri="{BB962C8B-B14F-4D97-AF65-F5344CB8AC3E}">
        <p14:creationId xmlns:p14="http://schemas.microsoft.com/office/powerpoint/2010/main" val="2173970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6766560" cy="6858000"/>
          </a:xfrm>
          <a:prstGeom prst="rect">
            <a:avLst/>
          </a:prstGeom>
          <a:solidFill>
            <a:srgbClr val="1C1C22"/>
          </a:solidFill>
          <a:ln/>
        </p:spPr>
        <p:txBody>
          <a:bodyPr/>
          <a:lstStyle/>
          <a:p>
            <a:endParaRPr lang="en-NL" sz="2400"/>
          </a:p>
        </p:txBody>
      </p:sp>
      <p:sp>
        <p:nvSpPr>
          <p:cNvPr id="4" name="Text 1"/>
          <p:cNvSpPr/>
          <p:nvPr/>
        </p:nvSpPr>
        <p:spPr>
          <a:xfrm>
            <a:off x="670560" y="914400"/>
            <a:ext cx="5608320" cy="426720"/>
          </a:xfrm>
          <a:prstGeom prst="rect">
            <a:avLst/>
          </a:prstGeom>
          <a:noFill/>
          <a:ln/>
        </p:spPr>
        <p:txBody>
          <a:bodyPr wrap="square" lIns="0" tIns="0" rIns="0" bIns="0" rtlCol="0" anchor="ctr"/>
          <a:lstStyle/>
          <a:p>
            <a:r>
              <a:rPr lang="en-US" sz="1867" kern="0" spc="533" dirty="0">
                <a:solidFill>
                  <a:srgbClr val="E8B4B8"/>
                </a:solidFill>
                <a:latin typeface="Calibri" pitchFamily="34" charset="0"/>
                <a:ea typeface="Calibri" pitchFamily="34" charset="-122"/>
                <a:cs typeface="Calibri" pitchFamily="34" charset="-120"/>
              </a:rPr>
              <a:t>INTRODUCTION</a:t>
            </a:r>
            <a:endParaRPr lang="en-US" sz="1867" dirty="0"/>
          </a:p>
        </p:txBody>
      </p:sp>
      <p:sp>
        <p:nvSpPr>
          <p:cNvPr id="5" name="Text 2"/>
          <p:cNvSpPr/>
          <p:nvPr/>
        </p:nvSpPr>
        <p:spPr>
          <a:xfrm>
            <a:off x="670560" y="1341120"/>
            <a:ext cx="5730240" cy="1097280"/>
          </a:xfrm>
          <a:prstGeom prst="rect">
            <a:avLst/>
          </a:prstGeom>
          <a:noFill/>
          <a:ln/>
        </p:spPr>
        <p:txBody>
          <a:bodyPr wrap="square" lIns="0" tIns="0" rIns="0" bIns="0" rtlCol="0" anchor="ctr"/>
          <a:lstStyle/>
          <a:p>
            <a:r>
              <a:rPr lang="en-US" sz="5333" b="1" dirty="0">
                <a:solidFill>
                  <a:srgbClr val="FFFFFF"/>
                </a:solidFill>
                <a:latin typeface="Cambria" pitchFamily="34" charset="0"/>
                <a:ea typeface="Cambria" pitchFamily="34" charset="-122"/>
                <a:cs typeface="Cambria" pitchFamily="34" charset="-120"/>
              </a:rPr>
              <a:t>Simone Saitta</a:t>
            </a:r>
            <a:endParaRPr lang="en-US" sz="5333" dirty="0"/>
          </a:p>
        </p:txBody>
      </p:sp>
      <p:sp>
        <p:nvSpPr>
          <p:cNvPr id="6" name="Text 3"/>
          <p:cNvSpPr/>
          <p:nvPr/>
        </p:nvSpPr>
        <p:spPr>
          <a:xfrm>
            <a:off x="670560" y="2499360"/>
            <a:ext cx="5608320" cy="1036320"/>
          </a:xfrm>
          <a:prstGeom prst="rect">
            <a:avLst/>
          </a:prstGeom>
          <a:noFill/>
          <a:ln/>
        </p:spPr>
        <p:txBody>
          <a:bodyPr wrap="square" lIns="0" tIns="0" rIns="0" bIns="0" rtlCol="0" anchor="ctr"/>
          <a:lstStyle/>
          <a:p>
            <a:r>
              <a:rPr lang="en-US" sz="2267" i="1" dirty="0">
                <a:solidFill>
                  <a:srgbClr val="E8B4B8"/>
                </a:solidFill>
                <a:latin typeface="Calibri" pitchFamily="34" charset="0"/>
                <a:ea typeface="Calibri" pitchFamily="34" charset="-122"/>
                <a:cs typeface="Calibri" pitchFamily="34" charset="-120"/>
              </a:rPr>
              <a:t>Data-driven quantitative image analysis</a:t>
            </a:r>
            <a:endParaRPr lang="en-US" sz="2267" dirty="0"/>
          </a:p>
          <a:p>
            <a:r>
              <a:rPr lang="en-US" sz="2267" i="1" dirty="0">
                <a:solidFill>
                  <a:srgbClr val="E8B4B8"/>
                </a:solidFill>
                <a:latin typeface="Calibri" pitchFamily="34" charset="0"/>
                <a:ea typeface="Calibri" pitchFamily="34" charset="-122"/>
                <a:cs typeface="Calibri" pitchFamily="34" charset="-120"/>
              </a:rPr>
              <a:t>for cardiovascular medicine</a:t>
            </a:r>
            <a:endParaRPr lang="en-US" sz="2267" dirty="0"/>
          </a:p>
        </p:txBody>
      </p:sp>
      <p:sp>
        <p:nvSpPr>
          <p:cNvPr id="7" name="Text 4"/>
          <p:cNvSpPr/>
          <p:nvPr/>
        </p:nvSpPr>
        <p:spPr>
          <a:xfrm>
            <a:off x="670560" y="3962400"/>
            <a:ext cx="5730240" cy="1219200"/>
          </a:xfrm>
          <a:prstGeom prst="rect">
            <a:avLst/>
          </a:prstGeom>
          <a:noFill/>
          <a:ln/>
        </p:spPr>
        <p:txBody>
          <a:bodyPr wrap="square" lIns="0" tIns="0" rIns="0" bIns="0" rtlCol="0" anchor="ctr"/>
          <a:lstStyle/>
          <a:p>
            <a:pPr>
              <a:lnSpc>
                <a:spcPct val="115000"/>
              </a:lnSpc>
            </a:pPr>
            <a:r>
              <a:rPr lang="en-US" b="1" dirty="0">
                <a:solidFill>
                  <a:srgbClr val="FCF6F5"/>
                </a:solidFill>
                <a:latin typeface="Calibri" pitchFamily="34" charset="0"/>
                <a:ea typeface="Calibri" pitchFamily="34" charset="-122"/>
                <a:cs typeface="Calibri" pitchFamily="34" charset="-120"/>
              </a:rPr>
              <a:t>Assistant Professor — qurAI group
</a:t>
            </a:r>
            <a:r>
              <a:rPr lang="en-US" dirty="0">
                <a:solidFill>
                  <a:srgbClr val="FCF6F5"/>
                </a:solidFill>
                <a:latin typeface="Calibri" pitchFamily="34" charset="0"/>
                <a:ea typeface="Calibri" pitchFamily="34" charset="-122"/>
                <a:cs typeface="Calibri" pitchFamily="34" charset="-120"/>
              </a:rPr>
              <a:t>Dept. of Biomedical Engineering &amp; Physics, Amsterdam UMC
Informatics Institute, University of Amsterdam</a:t>
            </a:r>
            <a:endParaRPr lang="en-US" dirty="0"/>
          </a:p>
        </p:txBody>
      </p:sp>
      <p:sp>
        <p:nvSpPr>
          <p:cNvPr id="8" name="Text 5"/>
          <p:cNvSpPr/>
          <p:nvPr/>
        </p:nvSpPr>
        <p:spPr>
          <a:xfrm>
            <a:off x="670560" y="5547360"/>
            <a:ext cx="5730240" cy="426720"/>
          </a:xfrm>
          <a:prstGeom prst="rect">
            <a:avLst/>
          </a:prstGeom>
          <a:noFill/>
          <a:ln/>
        </p:spPr>
        <p:txBody>
          <a:bodyPr wrap="square" lIns="0" tIns="0" rIns="0" bIns="0" rtlCol="0" anchor="ctr"/>
          <a:lstStyle/>
          <a:p>
            <a:r>
              <a:rPr lang="en-US" sz="1733" b="1" dirty="0">
                <a:solidFill>
                  <a:srgbClr val="FFFFFF"/>
                </a:solidFill>
                <a:latin typeface="Calibri" pitchFamily="34" charset="0"/>
                <a:ea typeface="Calibri" pitchFamily="34" charset="-122"/>
                <a:cs typeface="Calibri" pitchFamily="34" charset="-120"/>
              </a:rPr>
              <a:t>s.saitta@amsterdamumc.nl</a:t>
            </a:r>
            <a:r>
              <a:rPr lang="en-US" sz="1733" dirty="0">
                <a:solidFill>
                  <a:srgbClr val="FFFFFF"/>
                </a:solidFill>
                <a:latin typeface="Calibri" pitchFamily="34" charset="0"/>
                <a:ea typeface="Calibri" pitchFamily="34" charset="-122"/>
                <a:cs typeface="Calibri" pitchFamily="34" charset="-120"/>
              </a:rPr>
              <a:t> </a:t>
            </a:r>
            <a:endParaRPr lang="en-US" sz="1733" dirty="0"/>
          </a:p>
        </p:txBody>
      </p:sp>
      <p:pic>
        <p:nvPicPr>
          <p:cNvPr id="10" name="Picture 9">
            <a:extLst>
              <a:ext uri="{FF2B5EF4-FFF2-40B4-BE49-F238E27FC236}">
                <a16:creationId xmlns:a16="http://schemas.microsoft.com/office/drawing/2014/main" id="{81618A51-C14E-EA0F-F374-8A2D1E3D0582}"/>
              </a:ext>
            </a:extLst>
          </p:cNvPr>
          <p:cNvPicPr>
            <a:picLocks noChangeAspect="1"/>
          </p:cNvPicPr>
          <p:nvPr/>
        </p:nvPicPr>
        <p:blipFill>
          <a:blip r:embed="rId3"/>
          <a:stretch>
            <a:fillRect/>
          </a:stretch>
        </p:blipFill>
        <p:spPr>
          <a:xfrm>
            <a:off x="6722697" y="561788"/>
            <a:ext cx="5194436" cy="565872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731520"/>
          </a:xfrm>
          <a:prstGeom prst="rect">
            <a:avLst/>
          </a:prstGeom>
          <a:noFill/>
          <a:ln/>
        </p:spPr>
        <p:txBody>
          <a:bodyPr wrap="square" lIns="0" tIns="0" rIns="0" bIns="0" rtlCol="0" anchor="ctr"/>
          <a:lstStyle/>
          <a:p>
            <a:r>
              <a:rPr lang="en-US" sz="4533" b="1" dirty="0">
                <a:solidFill>
                  <a:srgbClr val="2A2A2E"/>
                </a:solidFill>
                <a:latin typeface="Cambria" pitchFamily="34" charset="0"/>
                <a:ea typeface="Cambria" pitchFamily="34" charset="-122"/>
                <a:cs typeface="Cambria" pitchFamily="34" charset="-120"/>
              </a:rPr>
              <a:t>Who am I</a:t>
            </a:r>
            <a:endParaRPr lang="en-US" sz="4533" dirty="0"/>
          </a:p>
        </p:txBody>
      </p:sp>
      <p:pic>
        <p:nvPicPr>
          <p:cNvPr id="3" name="Image 0" descr="pick/portrait.jpg"/>
          <p:cNvPicPr>
            <a:picLocks noChangeAspect="1"/>
          </p:cNvPicPr>
          <p:nvPr/>
        </p:nvPicPr>
        <p:blipFill>
          <a:blip r:embed="rId3"/>
          <a:stretch>
            <a:fillRect/>
          </a:stretch>
        </p:blipFill>
        <p:spPr>
          <a:xfrm>
            <a:off x="792480" y="1645920"/>
            <a:ext cx="2438400" cy="2438400"/>
          </a:xfrm>
          <a:prstGeom prst="ellipse">
            <a:avLst/>
          </a:prstGeom>
        </p:spPr>
      </p:pic>
      <p:sp>
        <p:nvSpPr>
          <p:cNvPr id="4" name="Text 1"/>
          <p:cNvSpPr/>
          <p:nvPr/>
        </p:nvSpPr>
        <p:spPr>
          <a:xfrm>
            <a:off x="487680" y="4206240"/>
            <a:ext cx="3048000" cy="365760"/>
          </a:xfrm>
          <a:prstGeom prst="rect">
            <a:avLst/>
          </a:prstGeom>
          <a:noFill/>
          <a:ln/>
        </p:spPr>
        <p:txBody>
          <a:bodyPr wrap="square" lIns="0" tIns="0" rIns="0" bIns="0" rtlCol="0" anchor="ctr"/>
          <a:lstStyle/>
          <a:p>
            <a:pPr algn="ctr"/>
            <a:r>
              <a:rPr lang="en-US" sz="1733" b="1" dirty="0">
                <a:solidFill>
                  <a:srgbClr val="2A2A2E"/>
                </a:solidFill>
                <a:latin typeface="Calibri" pitchFamily="34" charset="0"/>
                <a:ea typeface="Calibri" pitchFamily="34" charset="-122"/>
                <a:cs typeface="Calibri" pitchFamily="34" charset="-120"/>
              </a:rPr>
              <a:t>Simone Saitta, PhD</a:t>
            </a:r>
            <a:endParaRPr lang="en-US" sz="1733" dirty="0"/>
          </a:p>
        </p:txBody>
      </p:sp>
      <p:sp>
        <p:nvSpPr>
          <p:cNvPr id="5" name="Text 2"/>
          <p:cNvSpPr/>
          <p:nvPr/>
        </p:nvSpPr>
        <p:spPr>
          <a:xfrm>
            <a:off x="365760" y="4572000"/>
            <a:ext cx="3291840" cy="731520"/>
          </a:xfrm>
          <a:prstGeom prst="rect">
            <a:avLst/>
          </a:prstGeom>
          <a:noFill/>
          <a:ln/>
        </p:spPr>
        <p:txBody>
          <a:bodyPr wrap="square" lIns="0" tIns="0" rIns="0" bIns="0" rtlCol="0" anchor="ctr"/>
          <a:lstStyle/>
          <a:p>
            <a:pPr algn="ctr"/>
            <a:r>
              <a:rPr lang="en-US" sz="1467" dirty="0">
                <a:solidFill>
                  <a:srgbClr val="6B6B72"/>
                </a:solidFill>
                <a:latin typeface="Calibri" pitchFamily="34" charset="0"/>
                <a:ea typeface="Calibri" pitchFamily="34" charset="-122"/>
                <a:cs typeface="Calibri" pitchFamily="34" charset="-120"/>
              </a:rPr>
              <a:t>Biomedical engineer working on</a:t>
            </a:r>
            <a:endParaRPr lang="en-US" sz="1467" dirty="0"/>
          </a:p>
          <a:p>
            <a:pPr algn="ctr"/>
            <a:r>
              <a:rPr lang="en-US" sz="1467" dirty="0">
                <a:solidFill>
                  <a:srgbClr val="6B6B72"/>
                </a:solidFill>
                <a:latin typeface="Calibri" pitchFamily="34" charset="0"/>
                <a:ea typeface="Calibri" pitchFamily="34" charset="-122"/>
                <a:cs typeface="Calibri" pitchFamily="34" charset="-120"/>
              </a:rPr>
              <a:t>AI for cardiovascular imaging</a:t>
            </a:r>
            <a:endParaRPr lang="en-US" sz="1467" dirty="0"/>
          </a:p>
        </p:txBody>
      </p:sp>
      <p:sp>
        <p:nvSpPr>
          <p:cNvPr id="7" name="Shape 4"/>
          <p:cNvSpPr/>
          <p:nvPr/>
        </p:nvSpPr>
        <p:spPr>
          <a:xfrm>
            <a:off x="4413504" y="1670304"/>
            <a:ext cx="0" cy="3901440"/>
          </a:xfrm>
          <a:prstGeom prst="line">
            <a:avLst/>
          </a:prstGeom>
          <a:noFill/>
          <a:ln w="19050">
            <a:solidFill>
              <a:srgbClr val="D8C6C6"/>
            </a:solidFill>
            <a:prstDash val="solid"/>
          </a:ln>
        </p:spPr>
        <p:txBody>
          <a:bodyPr/>
          <a:lstStyle/>
          <a:p>
            <a:endParaRPr lang="en-NL" sz="2400"/>
          </a:p>
        </p:txBody>
      </p:sp>
      <p:sp>
        <p:nvSpPr>
          <p:cNvPr id="8" name="Shape 5"/>
          <p:cNvSpPr/>
          <p:nvPr/>
        </p:nvSpPr>
        <p:spPr>
          <a:xfrm>
            <a:off x="4303776" y="1584960"/>
            <a:ext cx="219456" cy="219456"/>
          </a:xfrm>
          <a:prstGeom prst="ellipse">
            <a:avLst/>
          </a:prstGeom>
          <a:solidFill>
            <a:srgbClr val="D8C6C6"/>
          </a:solidFill>
          <a:ln/>
        </p:spPr>
        <p:txBody>
          <a:bodyPr/>
          <a:lstStyle/>
          <a:p>
            <a:endParaRPr lang="en-NL" sz="2400"/>
          </a:p>
        </p:txBody>
      </p:sp>
      <p:sp>
        <p:nvSpPr>
          <p:cNvPr id="9" name="Text 6"/>
          <p:cNvSpPr/>
          <p:nvPr/>
        </p:nvSpPr>
        <p:spPr>
          <a:xfrm>
            <a:off x="4754880" y="1450848"/>
            <a:ext cx="7193280" cy="390144"/>
          </a:xfrm>
          <a:prstGeom prst="rect">
            <a:avLst/>
          </a:prstGeom>
          <a:noFill/>
          <a:ln/>
        </p:spPr>
        <p:txBody>
          <a:bodyPr wrap="square" lIns="0" tIns="0" rIns="0" bIns="0" rtlCol="0" anchor="ctr"/>
          <a:lstStyle/>
          <a:p>
            <a:r>
              <a:rPr lang="en-US" sz="1933" b="1" dirty="0">
                <a:solidFill>
                  <a:srgbClr val="2A2A2E"/>
                </a:solidFill>
                <a:latin typeface="Calibri" pitchFamily="34" charset="0"/>
                <a:ea typeface="Calibri" pitchFamily="34" charset="-122"/>
                <a:cs typeface="Calibri" pitchFamily="34" charset="-120"/>
              </a:rPr>
              <a:t>Imperial College London</a:t>
            </a:r>
            <a:endParaRPr lang="en-US" sz="1933" dirty="0"/>
          </a:p>
        </p:txBody>
      </p:sp>
      <p:sp>
        <p:nvSpPr>
          <p:cNvPr id="10" name="Text 7"/>
          <p:cNvSpPr/>
          <p:nvPr/>
        </p:nvSpPr>
        <p:spPr>
          <a:xfrm>
            <a:off x="4754880" y="1840992"/>
            <a:ext cx="7193280" cy="877824"/>
          </a:xfrm>
          <a:prstGeom prst="rect">
            <a:avLst/>
          </a:prstGeom>
          <a:noFill/>
          <a:ln/>
        </p:spPr>
        <p:txBody>
          <a:bodyPr wrap="square" lIns="0" tIns="0" rIns="0" bIns="0" rtlCol="0" anchor="ctr"/>
          <a:lstStyle/>
          <a:p>
            <a:pPr>
              <a:lnSpc>
                <a:spcPct val="105000"/>
              </a:lnSpc>
            </a:pPr>
            <a:r>
              <a:rPr lang="en-US" sz="1533" dirty="0">
                <a:solidFill>
                  <a:srgbClr val="6B6B72"/>
                </a:solidFill>
                <a:latin typeface="Calibri" pitchFamily="34" charset="0"/>
                <a:ea typeface="Calibri" pitchFamily="34" charset="-122"/>
                <a:cs typeface="Calibri" pitchFamily="34" charset="-120"/>
              </a:rPr>
              <a:t>MSc thesis &amp; Research Assistant, Biofluids and Transport Group — 4D flow MRI analysis (built the flow4D tool)</a:t>
            </a:r>
            <a:endParaRPr lang="en-US" sz="1533" dirty="0"/>
          </a:p>
        </p:txBody>
      </p:sp>
      <p:sp>
        <p:nvSpPr>
          <p:cNvPr id="11" name="Shape 8"/>
          <p:cNvSpPr/>
          <p:nvPr/>
        </p:nvSpPr>
        <p:spPr>
          <a:xfrm>
            <a:off x="4303776" y="2865120"/>
            <a:ext cx="219456" cy="219456"/>
          </a:xfrm>
          <a:prstGeom prst="ellipse">
            <a:avLst/>
          </a:prstGeom>
          <a:solidFill>
            <a:srgbClr val="D8C6C6"/>
          </a:solidFill>
          <a:ln/>
        </p:spPr>
        <p:txBody>
          <a:bodyPr/>
          <a:lstStyle/>
          <a:p>
            <a:endParaRPr lang="en-NL" sz="2400"/>
          </a:p>
        </p:txBody>
      </p:sp>
      <p:sp>
        <p:nvSpPr>
          <p:cNvPr id="12" name="Text 9"/>
          <p:cNvSpPr/>
          <p:nvPr/>
        </p:nvSpPr>
        <p:spPr>
          <a:xfrm>
            <a:off x="4754880" y="2731008"/>
            <a:ext cx="7193280" cy="390144"/>
          </a:xfrm>
          <a:prstGeom prst="rect">
            <a:avLst/>
          </a:prstGeom>
          <a:noFill/>
          <a:ln/>
        </p:spPr>
        <p:txBody>
          <a:bodyPr wrap="square" lIns="0" tIns="0" rIns="0" bIns="0" rtlCol="0" anchor="ctr"/>
          <a:lstStyle/>
          <a:p>
            <a:r>
              <a:rPr lang="en-US" sz="1933" b="1" dirty="0">
                <a:solidFill>
                  <a:srgbClr val="2A2A2E"/>
                </a:solidFill>
                <a:latin typeface="Calibri" pitchFamily="34" charset="0"/>
                <a:ea typeface="Calibri" pitchFamily="34" charset="-122"/>
                <a:cs typeface="Calibri" pitchFamily="34" charset="-120"/>
              </a:rPr>
              <a:t>National University of Singapore</a:t>
            </a:r>
            <a:endParaRPr lang="en-US" sz="1933" dirty="0"/>
          </a:p>
        </p:txBody>
      </p:sp>
      <p:sp>
        <p:nvSpPr>
          <p:cNvPr id="13" name="Text 10"/>
          <p:cNvSpPr/>
          <p:nvPr/>
        </p:nvSpPr>
        <p:spPr>
          <a:xfrm>
            <a:off x="4754880" y="3121152"/>
            <a:ext cx="7193280" cy="877824"/>
          </a:xfrm>
          <a:prstGeom prst="rect">
            <a:avLst/>
          </a:prstGeom>
          <a:noFill/>
          <a:ln/>
        </p:spPr>
        <p:txBody>
          <a:bodyPr wrap="square" lIns="0" tIns="0" rIns="0" bIns="0" rtlCol="0" anchor="ctr"/>
          <a:lstStyle/>
          <a:p>
            <a:pPr>
              <a:lnSpc>
                <a:spcPct val="105000"/>
              </a:lnSpc>
            </a:pPr>
            <a:r>
              <a:rPr lang="en-US" sz="1533" dirty="0">
                <a:solidFill>
                  <a:srgbClr val="6B6B72"/>
                </a:solidFill>
                <a:latin typeface="Calibri" pitchFamily="34" charset="0"/>
                <a:ea typeface="Calibri" pitchFamily="34" charset="-122"/>
                <a:cs typeface="Calibri" pitchFamily="34" charset="-120"/>
              </a:rPr>
              <a:t>Research Engineer — simulation &amp; registration of 4D fetal heart echocardiography</a:t>
            </a:r>
            <a:endParaRPr lang="en-US" sz="1533" dirty="0"/>
          </a:p>
        </p:txBody>
      </p:sp>
      <p:sp>
        <p:nvSpPr>
          <p:cNvPr id="14" name="Shape 11"/>
          <p:cNvSpPr/>
          <p:nvPr/>
        </p:nvSpPr>
        <p:spPr>
          <a:xfrm>
            <a:off x="4303776" y="4145280"/>
            <a:ext cx="219456" cy="219456"/>
          </a:xfrm>
          <a:prstGeom prst="ellipse">
            <a:avLst/>
          </a:prstGeom>
          <a:solidFill>
            <a:srgbClr val="D8C6C6"/>
          </a:solidFill>
          <a:ln/>
        </p:spPr>
        <p:txBody>
          <a:bodyPr/>
          <a:lstStyle/>
          <a:p>
            <a:endParaRPr lang="en-NL" sz="2400"/>
          </a:p>
        </p:txBody>
      </p:sp>
      <p:sp>
        <p:nvSpPr>
          <p:cNvPr id="15" name="Text 12"/>
          <p:cNvSpPr/>
          <p:nvPr/>
        </p:nvSpPr>
        <p:spPr>
          <a:xfrm>
            <a:off x="4754880" y="4011168"/>
            <a:ext cx="7193280" cy="390144"/>
          </a:xfrm>
          <a:prstGeom prst="rect">
            <a:avLst/>
          </a:prstGeom>
          <a:noFill/>
          <a:ln/>
        </p:spPr>
        <p:txBody>
          <a:bodyPr wrap="square" lIns="0" tIns="0" rIns="0" bIns="0" rtlCol="0" anchor="ctr"/>
          <a:lstStyle/>
          <a:p>
            <a:r>
              <a:rPr lang="en-US" sz="1933" b="1" dirty="0">
                <a:solidFill>
                  <a:srgbClr val="2A2A2E"/>
                </a:solidFill>
                <a:latin typeface="Calibri" pitchFamily="34" charset="0"/>
                <a:ea typeface="Calibri" pitchFamily="34" charset="-122"/>
                <a:cs typeface="Calibri" pitchFamily="34" charset="-120"/>
              </a:rPr>
              <a:t>Politecnico di Milano</a:t>
            </a:r>
            <a:endParaRPr lang="en-US" sz="1933" dirty="0"/>
          </a:p>
        </p:txBody>
      </p:sp>
      <p:sp>
        <p:nvSpPr>
          <p:cNvPr id="16" name="Text 13"/>
          <p:cNvSpPr/>
          <p:nvPr/>
        </p:nvSpPr>
        <p:spPr>
          <a:xfrm>
            <a:off x="4754880" y="4401312"/>
            <a:ext cx="7193280" cy="877824"/>
          </a:xfrm>
          <a:prstGeom prst="rect">
            <a:avLst/>
          </a:prstGeom>
          <a:noFill/>
          <a:ln/>
        </p:spPr>
        <p:txBody>
          <a:bodyPr wrap="square" lIns="0" tIns="0" rIns="0" bIns="0" rtlCol="0" anchor="ctr"/>
          <a:lstStyle/>
          <a:p>
            <a:pPr>
              <a:lnSpc>
                <a:spcPct val="105000"/>
              </a:lnSpc>
            </a:pPr>
            <a:r>
              <a:rPr lang="en-US" sz="1533" dirty="0">
                <a:solidFill>
                  <a:srgbClr val="6B6B72"/>
                </a:solidFill>
                <a:latin typeface="Calibri" pitchFamily="34" charset="0"/>
                <a:ea typeface="Calibri" pitchFamily="34" charset="-122"/>
                <a:cs typeface="Calibri" pitchFamily="34" charset="-120"/>
              </a:rPr>
              <a:t>PhD in Bioengineering, cum laude (2023) — data-driven quantification of imaging biomarkers; visiting researcher at the Cambridge Image Analysis group</a:t>
            </a:r>
            <a:endParaRPr lang="en-US" sz="1533" dirty="0"/>
          </a:p>
        </p:txBody>
      </p:sp>
      <p:sp>
        <p:nvSpPr>
          <p:cNvPr id="17" name="Shape 14"/>
          <p:cNvSpPr/>
          <p:nvPr/>
        </p:nvSpPr>
        <p:spPr>
          <a:xfrm>
            <a:off x="4303776" y="5425440"/>
            <a:ext cx="219456" cy="219456"/>
          </a:xfrm>
          <a:prstGeom prst="ellipse">
            <a:avLst/>
          </a:prstGeom>
          <a:solidFill>
            <a:srgbClr val="990011"/>
          </a:solidFill>
          <a:ln/>
        </p:spPr>
        <p:txBody>
          <a:bodyPr/>
          <a:lstStyle/>
          <a:p>
            <a:endParaRPr lang="en-NL" sz="2400"/>
          </a:p>
        </p:txBody>
      </p:sp>
      <p:sp>
        <p:nvSpPr>
          <p:cNvPr id="18" name="Text 15"/>
          <p:cNvSpPr/>
          <p:nvPr/>
        </p:nvSpPr>
        <p:spPr>
          <a:xfrm>
            <a:off x="4754880" y="5291328"/>
            <a:ext cx="7193280" cy="390144"/>
          </a:xfrm>
          <a:prstGeom prst="rect">
            <a:avLst/>
          </a:prstGeom>
          <a:noFill/>
          <a:ln/>
        </p:spPr>
        <p:txBody>
          <a:bodyPr wrap="square" lIns="0" tIns="0" rIns="0" bIns="0" rtlCol="0" anchor="ctr"/>
          <a:lstStyle/>
          <a:p>
            <a:r>
              <a:rPr lang="en-US" sz="1933" b="1" dirty="0">
                <a:solidFill>
                  <a:srgbClr val="990011"/>
                </a:solidFill>
                <a:latin typeface="Calibri" pitchFamily="34" charset="0"/>
                <a:ea typeface="Calibri" pitchFamily="34" charset="-122"/>
                <a:cs typeface="Calibri" pitchFamily="34" charset="-120"/>
              </a:rPr>
              <a:t>Amsterdam UMC &amp; UvA — since 2024</a:t>
            </a:r>
            <a:endParaRPr lang="en-US" sz="1933" dirty="0"/>
          </a:p>
        </p:txBody>
      </p:sp>
      <p:sp>
        <p:nvSpPr>
          <p:cNvPr id="19" name="Text 16"/>
          <p:cNvSpPr/>
          <p:nvPr/>
        </p:nvSpPr>
        <p:spPr>
          <a:xfrm>
            <a:off x="4754880" y="5681472"/>
            <a:ext cx="7193280" cy="877824"/>
          </a:xfrm>
          <a:prstGeom prst="rect">
            <a:avLst/>
          </a:prstGeom>
          <a:noFill/>
          <a:ln/>
        </p:spPr>
        <p:txBody>
          <a:bodyPr wrap="square" lIns="0" tIns="0" rIns="0" bIns="0" rtlCol="0" anchor="ctr"/>
          <a:lstStyle/>
          <a:p>
            <a:pPr>
              <a:lnSpc>
                <a:spcPct val="105000"/>
              </a:lnSpc>
            </a:pPr>
            <a:r>
              <a:rPr lang="en-US" sz="1533" dirty="0">
                <a:solidFill>
                  <a:srgbClr val="6B6B72"/>
                </a:solidFill>
                <a:latin typeface="Calibri" pitchFamily="34" charset="0"/>
                <a:ea typeface="Calibri" pitchFamily="34" charset="-122"/>
                <a:cs typeface="Calibri" pitchFamily="34" charset="-120"/>
              </a:rPr>
              <a:t>Assistant Professor in Cardiovascular Image Analysis, qurAI group; technical lead of the CARA Lab (real-time AI for intracoronary OCT)</a:t>
            </a:r>
            <a:endParaRPr lang="en-US" sz="153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90144"/>
            <a:ext cx="11216640" cy="670560"/>
          </a:xfrm>
          <a:prstGeom prst="rect">
            <a:avLst/>
          </a:prstGeom>
          <a:noFill/>
          <a:ln/>
        </p:spPr>
        <p:txBody>
          <a:bodyPr wrap="square" lIns="0" tIns="0" rIns="0" bIns="0" rtlCol="0" anchor="ctr"/>
          <a:lstStyle/>
          <a:p>
            <a:r>
              <a:rPr lang="en-US" sz="3200" b="1" dirty="0">
                <a:solidFill>
                  <a:srgbClr val="2A2A2E"/>
                </a:solidFill>
                <a:latin typeface="Cambria" pitchFamily="34" charset="0"/>
                <a:ea typeface="Cambria" pitchFamily="34" charset="-122"/>
                <a:cs typeface="Cambria" pitchFamily="34" charset="-120"/>
              </a:rPr>
              <a:t>Research example: cardiovascular flow &amp; image analysis</a:t>
            </a:r>
            <a:endParaRPr lang="en-US" sz="3200" dirty="0"/>
          </a:p>
        </p:txBody>
      </p:sp>
      <p:sp>
        <p:nvSpPr>
          <p:cNvPr id="3" name="Text 1"/>
          <p:cNvSpPr/>
          <p:nvPr/>
        </p:nvSpPr>
        <p:spPr>
          <a:xfrm>
            <a:off x="609600" y="1402080"/>
            <a:ext cx="6461760" cy="4389120"/>
          </a:xfrm>
          <a:prstGeom prst="rect">
            <a:avLst/>
          </a:prstGeom>
          <a:noFill/>
          <a:ln/>
        </p:spPr>
        <p:txBody>
          <a:bodyPr wrap="square" rtlCol="0" anchor="t"/>
          <a:lstStyle/>
          <a:p>
            <a:pPr marL="203195" indent="-203195">
              <a:lnSpc>
                <a:spcPct val="105000"/>
              </a:lnSpc>
              <a:spcAft>
                <a:spcPts val="1600"/>
              </a:spcAft>
              <a:buSzPct val="100000"/>
              <a:buChar char="•"/>
            </a:pPr>
            <a:r>
              <a:rPr lang="en-US" b="1" dirty="0">
                <a:solidFill>
                  <a:srgbClr val="2A2A2E"/>
                </a:solidFill>
                <a:latin typeface="Calibri" pitchFamily="34" charset="0"/>
                <a:ea typeface="Calibri" pitchFamily="34" charset="-122"/>
                <a:cs typeface="Calibri" pitchFamily="34" charset="-120"/>
              </a:rPr>
              <a:t>Non-invasive hemodynamics from 4D flow MRI</a:t>
            </a:r>
            <a:r>
              <a:rPr lang="en-US" dirty="0">
                <a:solidFill>
                  <a:srgbClr val="2A2A2E"/>
                </a:solidFill>
                <a:latin typeface="Calibri" pitchFamily="34" charset="0"/>
                <a:ea typeface="Calibri" pitchFamily="34" charset="-122"/>
                <a:cs typeface="Calibri" pitchFamily="34" charset="-120"/>
              </a:rPr>
              <a:t> — pressure drops in aortic coarctation, wall shear stress via variational data assimilation (4DVar)</a:t>
            </a:r>
            <a:endParaRPr lang="en-US" dirty="0"/>
          </a:p>
          <a:p>
            <a:pPr marL="203195" indent="-203195">
              <a:lnSpc>
                <a:spcPct val="105000"/>
              </a:lnSpc>
              <a:spcAft>
                <a:spcPts val="1600"/>
              </a:spcAft>
              <a:buSzPct val="100000"/>
              <a:buChar char="•"/>
            </a:pPr>
            <a:r>
              <a:rPr lang="en-US" b="1" dirty="0">
                <a:solidFill>
                  <a:srgbClr val="2A2A2E"/>
                </a:solidFill>
                <a:latin typeface="Calibri" pitchFamily="34" charset="0"/>
                <a:ea typeface="Calibri" pitchFamily="34" charset="-122"/>
                <a:cs typeface="Calibri" pitchFamily="34" charset="-120"/>
              </a:rPr>
              <a:t>Implicit neural representations</a:t>
            </a:r>
            <a:r>
              <a:rPr lang="en-US" dirty="0">
                <a:solidFill>
                  <a:srgbClr val="2A2A2E"/>
                </a:solidFill>
                <a:latin typeface="Calibri" pitchFamily="34" charset="0"/>
                <a:ea typeface="Calibri" pitchFamily="34" charset="-122"/>
                <a:cs typeface="Calibri" pitchFamily="34" charset="-120"/>
              </a:rPr>
              <a:t> — unsupervised super-resolution &amp; denoising of 4D flow MRI</a:t>
            </a:r>
            <a:endParaRPr lang="en-US" dirty="0"/>
          </a:p>
          <a:p>
            <a:pPr marL="203195" indent="-203195">
              <a:lnSpc>
                <a:spcPct val="105000"/>
              </a:lnSpc>
              <a:spcAft>
                <a:spcPts val="1600"/>
              </a:spcAft>
              <a:buSzPct val="100000"/>
              <a:buChar char="•"/>
            </a:pPr>
            <a:r>
              <a:rPr lang="en-US" b="1" dirty="0">
                <a:solidFill>
                  <a:srgbClr val="2A2A2E"/>
                </a:solidFill>
                <a:latin typeface="Calibri" pitchFamily="34" charset="0"/>
                <a:ea typeface="Calibri" pitchFamily="34" charset="-122"/>
                <a:cs typeface="Calibri" pitchFamily="34" charset="-120"/>
              </a:rPr>
              <a:t>Deep learning for procedure planning</a:t>
            </a:r>
            <a:r>
              <a:rPr lang="en-US" dirty="0">
                <a:solidFill>
                  <a:srgbClr val="2A2A2E"/>
                </a:solidFill>
                <a:latin typeface="Calibri" pitchFamily="34" charset="0"/>
                <a:ea typeface="Calibri" pitchFamily="34" charset="-122"/>
                <a:cs typeface="Calibri" pitchFamily="34" charset="-120"/>
              </a:rPr>
              <a:t> — automated aortic root analysis for TAVI (CT), thoracic aorta analysis for TEVAR</a:t>
            </a:r>
            <a:endParaRPr lang="en-US" dirty="0"/>
          </a:p>
          <a:p>
            <a:pPr marL="203195" indent="-203195">
              <a:lnSpc>
                <a:spcPct val="105000"/>
              </a:lnSpc>
              <a:spcAft>
                <a:spcPts val="1600"/>
              </a:spcAft>
              <a:buSzPct val="100000"/>
              <a:buChar char="•"/>
            </a:pPr>
            <a:r>
              <a:rPr lang="en-US" b="1" dirty="0">
                <a:solidFill>
                  <a:srgbClr val="2A2A2E"/>
                </a:solidFill>
                <a:latin typeface="Calibri" pitchFamily="34" charset="0"/>
                <a:ea typeface="Calibri" pitchFamily="34" charset="-122"/>
                <a:cs typeface="Calibri" pitchFamily="34" charset="-120"/>
              </a:rPr>
              <a:t>Geometric deep learning</a:t>
            </a:r>
            <a:r>
              <a:rPr lang="en-US" dirty="0">
                <a:solidFill>
                  <a:srgbClr val="2A2A2E"/>
                </a:solidFill>
                <a:latin typeface="Calibri" pitchFamily="34" charset="0"/>
                <a:ea typeface="Calibri" pitchFamily="34" charset="-122"/>
                <a:cs typeface="Calibri" pitchFamily="34" charset="-120"/>
              </a:rPr>
              <a:t> — learning hemodynamic fields directly on coronary &amp; aortic meshes (surrogates for CFD)</a:t>
            </a:r>
            <a:endParaRPr lang="en-US" dirty="0"/>
          </a:p>
        </p:txBody>
      </p:sp>
      <p:pic>
        <p:nvPicPr>
          <p:cNvPr id="4" name="Image 0" descr="pick/flow4d_crop.png"/>
          <p:cNvPicPr>
            <a:picLocks noChangeAspect="1"/>
          </p:cNvPicPr>
          <p:nvPr/>
        </p:nvPicPr>
        <p:blipFill>
          <a:blip r:embed="rId3"/>
          <a:stretch>
            <a:fillRect/>
          </a:stretch>
        </p:blipFill>
        <p:spPr>
          <a:xfrm>
            <a:off x="7437120" y="1280161"/>
            <a:ext cx="2072640" cy="3123556"/>
          </a:xfrm>
          <a:prstGeom prst="rect">
            <a:avLst/>
          </a:prstGeom>
        </p:spPr>
      </p:pic>
      <p:pic>
        <p:nvPicPr>
          <p:cNvPr id="5" name="Image 1" descr="pick/tavi.jpg"/>
          <p:cNvPicPr>
            <a:picLocks noChangeAspect="1"/>
          </p:cNvPicPr>
          <p:nvPr/>
        </p:nvPicPr>
        <p:blipFill>
          <a:blip r:embed="rId4"/>
          <a:stretch>
            <a:fillRect/>
          </a:stretch>
        </p:blipFill>
        <p:spPr>
          <a:xfrm>
            <a:off x="9753600" y="1280160"/>
            <a:ext cx="2011680" cy="2011680"/>
          </a:xfrm>
          <a:prstGeom prst="rect">
            <a:avLst/>
          </a:prstGeom>
        </p:spPr>
      </p:pic>
      <p:pic>
        <p:nvPicPr>
          <p:cNvPr id="6" name="Image 2" descr="pick/aorta.png"/>
          <p:cNvPicPr>
            <a:picLocks noChangeAspect="1"/>
          </p:cNvPicPr>
          <p:nvPr/>
        </p:nvPicPr>
        <p:blipFill>
          <a:blip r:embed="rId5"/>
          <a:stretch>
            <a:fillRect/>
          </a:stretch>
        </p:blipFill>
        <p:spPr>
          <a:xfrm>
            <a:off x="9899904" y="3535681"/>
            <a:ext cx="1706880" cy="2399351"/>
          </a:xfrm>
          <a:prstGeom prst="rect">
            <a:avLst/>
          </a:prstGeom>
        </p:spPr>
      </p:pic>
      <p:sp>
        <p:nvSpPr>
          <p:cNvPr id="7" name="Text 2"/>
          <p:cNvSpPr/>
          <p:nvPr/>
        </p:nvSpPr>
        <p:spPr>
          <a:xfrm>
            <a:off x="6949440" y="5913120"/>
            <a:ext cx="4998720" cy="609600"/>
          </a:xfrm>
          <a:prstGeom prst="rect">
            <a:avLst/>
          </a:prstGeom>
          <a:noFill/>
          <a:ln/>
        </p:spPr>
        <p:txBody>
          <a:bodyPr wrap="square" lIns="0" tIns="0" rIns="0" bIns="0" rtlCol="0" anchor="ctr"/>
          <a:lstStyle/>
          <a:p>
            <a:pPr algn="ctr"/>
            <a:r>
              <a:rPr lang="en-US" sz="1333" i="1" dirty="0">
                <a:solidFill>
                  <a:srgbClr val="6B6B72"/>
                </a:solidFill>
                <a:latin typeface="Calibri" pitchFamily="34" charset="0"/>
                <a:ea typeface="Calibri" pitchFamily="34" charset="-122"/>
                <a:cs typeface="Calibri" pitchFamily="34" charset="-120"/>
              </a:rPr>
              <a:t>4D flow MRI · CT-based TAVI planning · patient-specific aortic models</a:t>
            </a:r>
            <a:endParaRPr lang="en-US" sz="133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90144"/>
            <a:ext cx="11216640" cy="670560"/>
          </a:xfrm>
          <a:prstGeom prst="rect">
            <a:avLst/>
          </a:prstGeom>
          <a:noFill/>
          <a:ln/>
        </p:spPr>
        <p:txBody>
          <a:bodyPr wrap="square" lIns="0" tIns="0" rIns="0" bIns="0" rtlCol="0" anchor="ctr"/>
          <a:lstStyle/>
          <a:p>
            <a:r>
              <a:rPr lang="en-US" sz="3067" b="1" dirty="0">
                <a:solidFill>
                  <a:srgbClr val="2A2A2E"/>
                </a:solidFill>
                <a:latin typeface="Cambria" pitchFamily="34" charset="0"/>
                <a:ea typeface="Cambria" pitchFamily="34" charset="-122"/>
                <a:cs typeface="Cambria" pitchFamily="34" charset="-120"/>
              </a:rPr>
              <a:t>Research example: AI for intracoronary OCT (CARA Lab)</a:t>
            </a:r>
            <a:endParaRPr lang="en-US" sz="3067" dirty="0"/>
          </a:p>
        </p:txBody>
      </p:sp>
      <p:sp>
        <p:nvSpPr>
          <p:cNvPr id="3" name="Text 1"/>
          <p:cNvSpPr/>
          <p:nvPr/>
        </p:nvSpPr>
        <p:spPr>
          <a:xfrm>
            <a:off x="609600" y="1341120"/>
            <a:ext cx="6096000" cy="4145280"/>
          </a:xfrm>
          <a:prstGeom prst="rect">
            <a:avLst/>
          </a:prstGeom>
          <a:noFill/>
          <a:ln/>
        </p:spPr>
        <p:txBody>
          <a:bodyPr wrap="square" rtlCol="0" anchor="t"/>
          <a:lstStyle/>
          <a:p>
            <a:pPr marL="203195" indent="-203195">
              <a:lnSpc>
                <a:spcPct val="105000"/>
              </a:lnSpc>
              <a:spcAft>
                <a:spcPts val="1333"/>
              </a:spcAft>
              <a:buSzPct val="100000"/>
              <a:buChar char="•"/>
            </a:pPr>
            <a:r>
              <a:rPr lang="en-US" b="1" dirty="0">
                <a:solidFill>
                  <a:srgbClr val="2A2A2E"/>
                </a:solidFill>
                <a:latin typeface="Calibri" pitchFamily="34" charset="0"/>
                <a:ea typeface="Calibri" pitchFamily="34" charset="-122"/>
                <a:cs typeface="Calibri" pitchFamily="34" charset="-120"/>
              </a:rPr>
              <a:t>OCT: high-resolution 3D imaging (10 µm) of coronary arteries</a:t>
            </a:r>
            <a:r>
              <a:rPr lang="en-US" dirty="0">
                <a:solidFill>
                  <a:srgbClr val="2A2A2E"/>
                </a:solidFill>
                <a:latin typeface="Calibri" pitchFamily="34" charset="0"/>
                <a:ea typeface="Calibri" pitchFamily="34" charset="-122"/>
                <a:cs typeface="Calibri" pitchFamily="34" charset="-120"/>
              </a:rPr>
              <a:t> during percutaneous coronary intervention — rich, but slow to analyze</a:t>
            </a:r>
            <a:endParaRPr lang="en-US" dirty="0"/>
          </a:p>
          <a:p>
            <a:pPr marL="203195" indent="-203195">
              <a:lnSpc>
                <a:spcPct val="105000"/>
              </a:lnSpc>
              <a:spcAft>
                <a:spcPts val="1333"/>
              </a:spcAft>
              <a:buSzPct val="100000"/>
              <a:buChar char="•"/>
            </a:pPr>
            <a:r>
              <a:rPr lang="en-US" b="1" dirty="0">
                <a:solidFill>
                  <a:srgbClr val="2A2A2E"/>
                </a:solidFill>
                <a:latin typeface="Calibri" pitchFamily="34" charset="0"/>
                <a:ea typeface="Calibri" pitchFamily="34" charset="-122"/>
                <a:cs typeface="Calibri" pitchFamily="34" charset="-120"/>
              </a:rPr>
              <a:t>Goal: robust, real-time AI at the catheterization lab</a:t>
            </a:r>
            <a:r>
              <a:rPr lang="en-US" dirty="0">
                <a:solidFill>
                  <a:srgbClr val="2A2A2E"/>
                </a:solidFill>
                <a:latin typeface="Calibri" pitchFamily="34" charset="0"/>
                <a:ea typeface="Calibri" pitchFamily="34" charset="-122"/>
                <a:cs typeface="Calibri" pitchFamily="34" charset="-120"/>
              </a:rPr>
              <a:t> — Amsterdam UMC · Radboudumc · Abbott (ROBUST / ICAI)</a:t>
            </a:r>
            <a:endParaRPr lang="en-US" dirty="0"/>
          </a:p>
          <a:p>
            <a:pPr marL="203195" indent="-203195">
              <a:lnSpc>
                <a:spcPct val="105000"/>
              </a:lnSpc>
              <a:spcAft>
                <a:spcPts val="1333"/>
              </a:spcAft>
              <a:buSzPct val="100000"/>
              <a:buChar char="•"/>
            </a:pPr>
            <a:r>
              <a:rPr lang="en-US" b="1" dirty="0">
                <a:solidFill>
                  <a:srgbClr val="2A2A2E"/>
                </a:solidFill>
                <a:latin typeface="Calibri" pitchFamily="34" charset="0"/>
                <a:ea typeface="Calibri" pitchFamily="34" charset="-122"/>
                <a:cs typeface="Calibri" pitchFamily="34" charset="-120"/>
              </a:rPr>
              <a:t>Vessel &amp; plaque segmentation</a:t>
            </a:r>
            <a:r>
              <a:rPr lang="en-US" dirty="0">
                <a:solidFill>
                  <a:srgbClr val="2A2A2E"/>
                </a:solidFill>
                <a:latin typeface="Calibri" pitchFamily="34" charset="0"/>
                <a:ea typeface="Calibri" pitchFamily="34" charset="-122"/>
                <a:cs typeface="Calibri" pitchFamily="34" charset="-120"/>
              </a:rPr>
              <a:t> — fast inference via knowledge distillation</a:t>
            </a:r>
            <a:endParaRPr lang="en-US" dirty="0"/>
          </a:p>
          <a:p>
            <a:pPr marL="203195" indent="-203195">
              <a:lnSpc>
                <a:spcPct val="105000"/>
              </a:lnSpc>
              <a:spcAft>
                <a:spcPts val="1333"/>
              </a:spcAft>
              <a:buSzPct val="100000"/>
              <a:buChar char="•"/>
            </a:pPr>
            <a:r>
              <a:rPr lang="en-US" b="1" dirty="0">
                <a:solidFill>
                  <a:srgbClr val="2A2A2E"/>
                </a:solidFill>
                <a:latin typeface="Calibri" pitchFamily="34" charset="0"/>
                <a:ea typeface="Calibri" pitchFamily="34" charset="-122"/>
                <a:cs typeface="Calibri" pitchFamily="34" charset="-120"/>
              </a:rPr>
              <a:t>Artifact detection &amp; uncertainty quantification</a:t>
            </a:r>
            <a:r>
              <a:rPr lang="en-US" dirty="0">
                <a:solidFill>
                  <a:srgbClr val="2A2A2E"/>
                </a:solidFill>
                <a:latin typeface="Calibri" pitchFamily="34" charset="0"/>
                <a:ea typeface="Calibri" pitchFamily="34" charset="-122"/>
                <a:cs typeface="Calibri" pitchFamily="34" charset="-120"/>
              </a:rPr>
              <a:t> — when should the cardiologist trust the model?</a:t>
            </a:r>
            <a:endParaRPr lang="en-US" dirty="0"/>
          </a:p>
          <a:p>
            <a:pPr marL="203195" indent="-203195">
              <a:lnSpc>
                <a:spcPct val="105000"/>
              </a:lnSpc>
              <a:spcAft>
                <a:spcPts val="1333"/>
              </a:spcAft>
              <a:buSzPct val="100000"/>
              <a:buChar char="•"/>
            </a:pPr>
            <a:r>
              <a:rPr lang="en-US" b="1" dirty="0">
                <a:solidFill>
                  <a:srgbClr val="2A2A2E"/>
                </a:solidFill>
                <a:latin typeface="Calibri" pitchFamily="34" charset="0"/>
                <a:ea typeface="Calibri" pitchFamily="34" charset="-122"/>
                <a:cs typeface="Calibri" pitchFamily="34" charset="-120"/>
              </a:rPr>
              <a:t>Detecting rupture-prone plaques (TCFA)</a:t>
            </a:r>
            <a:r>
              <a:rPr lang="en-US" dirty="0">
                <a:solidFill>
                  <a:srgbClr val="2A2A2E"/>
                </a:solidFill>
                <a:latin typeface="Calibri" pitchFamily="34" charset="0"/>
                <a:ea typeface="Calibri" pitchFamily="34" charset="-122"/>
                <a:cs typeface="Calibri" pitchFamily="34" charset="-120"/>
              </a:rPr>
              <a:t> and linking them to clinical outcomes (Eur Heart J, 2025)</a:t>
            </a:r>
            <a:endParaRPr lang="en-US" dirty="0"/>
          </a:p>
        </p:txBody>
      </p:sp>
      <p:pic>
        <p:nvPicPr>
          <p:cNvPr id="4" name="Image 0" descr="pick/oct_illustration.png"/>
          <p:cNvPicPr>
            <a:picLocks noChangeAspect="1"/>
          </p:cNvPicPr>
          <p:nvPr/>
        </p:nvPicPr>
        <p:blipFill>
          <a:blip r:embed="rId3"/>
          <a:stretch>
            <a:fillRect/>
          </a:stretch>
        </p:blipFill>
        <p:spPr>
          <a:xfrm>
            <a:off x="7985760" y="1097280"/>
            <a:ext cx="2865120" cy="2865120"/>
          </a:xfrm>
          <a:prstGeom prst="rect">
            <a:avLst/>
          </a:prstGeom>
        </p:spPr>
      </p:pic>
      <p:pic>
        <p:nvPicPr>
          <p:cNvPr id="5" name="Image 1" descr="pick/oct_pair.png"/>
          <p:cNvPicPr>
            <a:picLocks noChangeAspect="1"/>
          </p:cNvPicPr>
          <p:nvPr/>
        </p:nvPicPr>
        <p:blipFill>
          <a:blip r:embed="rId4"/>
          <a:stretch>
            <a:fillRect/>
          </a:stretch>
        </p:blipFill>
        <p:spPr>
          <a:xfrm>
            <a:off x="7254240" y="4023360"/>
            <a:ext cx="4328160" cy="2582141"/>
          </a:xfrm>
          <a:prstGeom prst="rect">
            <a:avLst/>
          </a:prstGeom>
        </p:spPr>
      </p:pic>
      <p:sp>
        <p:nvSpPr>
          <p:cNvPr id="6" name="Text 2"/>
          <p:cNvSpPr/>
          <p:nvPr/>
        </p:nvSpPr>
        <p:spPr>
          <a:xfrm>
            <a:off x="6766560" y="6608064"/>
            <a:ext cx="5303520" cy="243840"/>
          </a:xfrm>
          <a:prstGeom prst="rect">
            <a:avLst/>
          </a:prstGeom>
          <a:noFill/>
          <a:ln/>
        </p:spPr>
        <p:txBody>
          <a:bodyPr wrap="square" lIns="0" tIns="0" rIns="0" bIns="0" rtlCol="0" anchor="ctr"/>
          <a:lstStyle/>
          <a:p>
            <a:pPr algn="ctr"/>
            <a:r>
              <a:rPr lang="en-US" sz="1267" i="1" dirty="0">
                <a:solidFill>
                  <a:srgbClr val="6B6B72"/>
                </a:solidFill>
                <a:latin typeface="Calibri" pitchFamily="34" charset="0"/>
                <a:ea typeface="Calibri" pitchFamily="34" charset="-122"/>
                <a:cs typeface="Calibri" pitchFamily="34" charset="-120"/>
              </a:rPr>
              <a:t>Coronary OCT: raw frame (left) → AI tissue segmentation (right)</a:t>
            </a:r>
            <a:endParaRPr lang="en-US" sz="126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26720"/>
            <a:ext cx="10972800" cy="731520"/>
          </a:xfrm>
          <a:prstGeom prst="rect">
            <a:avLst/>
          </a:prstGeom>
          <a:noFill/>
          <a:ln/>
        </p:spPr>
        <p:txBody>
          <a:bodyPr wrap="square" lIns="0" tIns="0" rIns="0" bIns="0" rtlCol="0" anchor="ctr"/>
          <a:lstStyle/>
          <a:p>
            <a:r>
              <a:rPr lang="en-US" sz="4000" b="1" dirty="0">
                <a:latin typeface="Cambria" pitchFamily="34" charset="0"/>
                <a:ea typeface="Cambria" pitchFamily="34" charset="-122"/>
                <a:cs typeface="Cambria" pitchFamily="34" charset="-120"/>
              </a:rPr>
              <a:t>Many open questions in cardiovascular AI</a:t>
            </a:r>
            <a:endParaRPr lang="en-US" sz="4000" dirty="0"/>
          </a:p>
        </p:txBody>
      </p:sp>
      <p:sp>
        <p:nvSpPr>
          <p:cNvPr id="3" name="Shape 1"/>
          <p:cNvSpPr/>
          <p:nvPr/>
        </p:nvSpPr>
        <p:spPr>
          <a:xfrm>
            <a:off x="670560" y="1524000"/>
            <a:ext cx="10850880" cy="1048512"/>
          </a:xfrm>
          <a:prstGeom prst="roundRect">
            <a:avLst>
              <a:gd name="adj" fmla="val 9302"/>
            </a:avLst>
          </a:prstGeom>
          <a:solidFill>
            <a:srgbClr val="26262D"/>
          </a:solidFill>
          <a:ln/>
        </p:spPr>
        <p:txBody>
          <a:bodyPr/>
          <a:lstStyle/>
          <a:p>
            <a:endParaRPr lang="en-NL" sz="2400"/>
          </a:p>
        </p:txBody>
      </p:sp>
      <p:sp>
        <p:nvSpPr>
          <p:cNvPr id="4" name="Text 2"/>
          <p:cNvSpPr/>
          <p:nvPr/>
        </p:nvSpPr>
        <p:spPr>
          <a:xfrm>
            <a:off x="1036320" y="1621536"/>
            <a:ext cx="10241280" cy="438912"/>
          </a:xfrm>
          <a:prstGeom prst="rect">
            <a:avLst/>
          </a:prstGeom>
          <a:noFill/>
          <a:ln/>
        </p:spPr>
        <p:txBody>
          <a:bodyPr wrap="square" lIns="0" tIns="0" rIns="0" bIns="0" rtlCol="0" anchor="ctr"/>
          <a:lstStyle/>
          <a:p>
            <a:r>
              <a:rPr lang="en-US" sz="1933" b="1" dirty="0">
                <a:solidFill>
                  <a:srgbClr val="FFFFFF"/>
                </a:solidFill>
                <a:latin typeface="Calibri" pitchFamily="34" charset="0"/>
                <a:ea typeface="Calibri" pitchFamily="34" charset="-122"/>
                <a:cs typeface="Calibri" pitchFamily="34" charset="-120"/>
              </a:rPr>
              <a:t>Which biomarkers can we measure without a catheter?</a:t>
            </a:r>
            <a:endParaRPr lang="en-US" sz="1933" dirty="0"/>
          </a:p>
        </p:txBody>
      </p:sp>
      <p:sp>
        <p:nvSpPr>
          <p:cNvPr id="5" name="Text 3"/>
          <p:cNvSpPr/>
          <p:nvPr/>
        </p:nvSpPr>
        <p:spPr>
          <a:xfrm>
            <a:off x="1036320" y="2060448"/>
            <a:ext cx="10241280" cy="390144"/>
          </a:xfrm>
          <a:prstGeom prst="rect">
            <a:avLst/>
          </a:prstGeom>
          <a:noFill/>
          <a:ln/>
        </p:spPr>
        <p:txBody>
          <a:bodyPr wrap="square" lIns="0" tIns="0" rIns="0" bIns="0" rtlCol="0" anchor="ctr"/>
          <a:lstStyle/>
          <a:p>
            <a:r>
              <a:rPr lang="en-US" sz="1600" i="1" dirty="0">
                <a:solidFill>
                  <a:srgbClr val="E8B4B8"/>
                </a:solidFill>
                <a:latin typeface="Calibri" pitchFamily="34" charset="0"/>
                <a:ea typeface="Calibri" pitchFamily="34" charset="-122"/>
                <a:cs typeface="Calibri" pitchFamily="34" charset="-120"/>
              </a:rPr>
              <a:t>→  flow physics, 4D flow MRI, CFD, inverse problems</a:t>
            </a:r>
            <a:endParaRPr lang="en-US" sz="1600" dirty="0"/>
          </a:p>
        </p:txBody>
      </p:sp>
      <p:sp>
        <p:nvSpPr>
          <p:cNvPr id="6" name="Shape 4"/>
          <p:cNvSpPr/>
          <p:nvPr/>
        </p:nvSpPr>
        <p:spPr>
          <a:xfrm>
            <a:off x="670560" y="2743200"/>
            <a:ext cx="10850880" cy="1048512"/>
          </a:xfrm>
          <a:prstGeom prst="roundRect">
            <a:avLst>
              <a:gd name="adj" fmla="val 9302"/>
            </a:avLst>
          </a:prstGeom>
          <a:solidFill>
            <a:srgbClr val="26262D"/>
          </a:solidFill>
          <a:ln/>
        </p:spPr>
        <p:txBody>
          <a:bodyPr/>
          <a:lstStyle/>
          <a:p>
            <a:endParaRPr lang="en-NL" sz="2400"/>
          </a:p>
        </p:txBody>
      </p:sp>
      <p:sp>
        <p:nvSpPr>
          <p:cNvPr id="7" name="Text 5"/>
          <p:cNvSpPr/>
          <p:nvPr/>
        </p:nvSpPr>
        <p:spPr>
          <a:xfrm>
            <a:off x="1036320" y="2840736"/>
            <a:ext cx="10241280" cy="438912"/>
          </a:xfrm>
          <a:prstGeom prst="rect">
            <a:avLst/>
          </a:prstGeom>
          <a:noFill/>
          <a:ln/>
        </p:spPr>
        <p:txBody>
          <a:bodyPr wrap="square" lIns="0" tIns="0" rIns="0" bIns="0" rtlCol="0" anchor="ctr"/>
          <a:lstStyle/>
          <a:p>
            <a:r>
              <a:rPr lang="en-US" sz="1933" b="1" dirty="0">
                <a:solidFill>
                  <a:srgbClr val="FFFFFF"/>
                </a:solidFill>
                <a:latin typeface="Calibri" pitchFamily="34" charset="0"/>
                <a:ea typeface="Calibri" pitchFamily="34" charset="-122"/>
                <a:cs typeface="Calibri" pitchFamily="34" charset="-120"/>
              </a:rPr>
              <a:t>How do we make AI fast &amp; robust enough for the cath lab?</a:t>
            </a:r>
            <a:endParaRPr lang="en-US" sz="1933" dirty="0"/>
          </a:p>
        </p:txBody>
      </p:sp>
      <p:sp>
        <p:nvSpPr>
          <p:cNvPr id="8" name="Text 6"/>
          <p:cNvSpPr/>
          <p:nvPr/>
        </p:nvSpPr>
        <p:spPr>
          <a:xfrm>
            <a:off x="1036320" y="3279648"/>
            <a:ext cx="10241280" cy="390144"/>
          </a:xfrm>
          <a:prstGeom prst="rect">
            <a:avLst/>
          </a:prstGeom>
          <a:noFill/>
          <a:ln/>
        </p:spPr>
        <p:txBody>
          <a:bodyPr wrap="square" lIns="0" tIns="0" rIns="0" bIns="0" rtlCol="0" anchor="ctr"/>
          <a:lstStyle/>
          <a:p>
            <a:r>
              <a:rPr lang="en-US" sz="1600" i="1" dirty="0">
                <a:solidFill>
                  <a:srgbClr val="E8B4B8"/>
                </a:solidFill>
                <a:latin typeface="Calibri" pitchFamily="34" charset="0"/>
                <a:ea typeface="Calibri" pitchFamily="34" charset="-122"/>
                <a:cs typeface="Calibri" pitchFamily="34" charset="-120"/>
              </a:rPr>
              <a:t>→  efficient architectures, knowledge distillation, real-time segmentation</a:t>
            </a:r>
            <a:endParaRPr lang="en-US" sz="1600" dirty="0"/>
          </a:p>
        </p:txBody>
      </p:sp>
      <p:sp>
        <p:nvSpPr>
          <p:cNvPr id="9" name="Shape 7"/>
          <p:cNvSpPr/>
          <p:nvPr/>
        </p:nvSpPr>
        <p:spPr>
          <a:xfrm>
            <a:off x="670560" y="3962400"/>
            <a:ext cx="10850880" cy="1048512"/>
          </a:xfrm>
          <a:prstGeom prst="roundRect">
            <a:avLst>
              <a:gd name="adj" fmla="val 9302"/>
            </a:avLst>
          </a:prstGeom>
          <a:solidFill>
            <a:srgbClr val="26262D"/>
          </a:solidFill>
          <a:ln/>
        </p:spPr>
        <p:txBody>
          <a:bodyPr/>
          <a:lstStyle/>
          <a:p>
            <a:endParaRPr lang="en-NL" sz="2400"/>
          </a:p>
        </p:txBody>
      </p:sp>
      <p:sp>
        <p:nvSpPr>
          <p:cNvPr id="10" name="Text 8"/>
          <p:cNvSpPr/>
          <p:nvPr/>
        </p:nvSpPr>
        <p:spPr>
          <a:xfrm>
            <a:off x="1036320" y="4059936"/>
            <a:ext cx="10241280" cy="438912"/>
          </a:xfrm>
          <a:prstGeom prst="rect">
            <a:avLst/>
          </a:prstGeom>
          <a:noFill/>
          <a:ln/>
        </p:spPr>
        <p:txBody>
          <a:bodyPr wrap="square" lIns="0" tIns="0" rIns="0" bIns="0" rtlCol="0" anchor="ctr"/>
          <a:lstStyle/>
          <a:p>
            <a:r>
              <a:rPr lang="en-US" sz="1933" b="1" dirty="0">
                <a:solidFill>
                  <a:srgbClr val="FFFFFF"/>
                </a:solidFill>
                <a:latin typeface="Calibri" pitchFamily="34" charset="0"/>
                <a:ea typeface="Calibri" pitchFamily="34" charset="-122"/>
                <a:cs typeface="Calibri" pitchFamily="34" charset="-120"/>
              </a:rPr>
              <a:t>When should a clinician trust the model?</a:t>
            </a:r>
            <a:endParaRPr lang="en-US" sz="1933" dirty="0"/>
          </a:p>
        </p:txBody>
      </p:sp>
      <p:sp>
        <p:nvSpPr>
          <p:cNvPr id="11" name="Text 9"/>
          <p:cNvSpPr/>
          <p:nvPr/>
        </p:nvSpPr>
        <p:spPr>
          <a:xfrm>
            <a:off x="1036320" y="4498848"/>
            <a:ext cx="10241280" cy="390144"/>
          </a:xfrm>
          <a:prstGeom prst="rect">
            <a:avLst/>
          </a:prstGeom>
          <a:noFill/>
          <a:ln/>
        </p:spPr>
        <p:txBody>
          <a:bodyPr wrap="square" lIns="0" tIns="0" rIns="0" bIns="0" rtlCol="0" anchor="ctr"/>
          <a:lstStyle/>
          <a:p>
            <a:r>
              <a:rPr lang="en-US" sz="1600" i="1" dirty="0">
                <a:solidFill>
                  <a:srgbClr val="E8B4B8"/>
                </a:solidFill>
                <a:latin typeface="Calibri" pitchFamily="34" charset="0"/>
                <a:ea typeface="Calibri" pitchFamily="34" charset="-122"/>
                <a:cs typeface="Calibri" pitchFamily="34" charset="-120"/>
              </a:rPr>
              <a:t>→  uncertainty quantification, validation, prospective clinical studies</a:t>
            </a:r>
            <a:endParaRPr lang="en-US" sz="1600" dirty="0"/>
          </a:p>
        </p:txBody>
      </p:sp>
      <p:sp>
        <p:nvSpPr>
          <p:cNvPr id="12" name="Shape 10"/>
          <p:cNvSpPr/>
          <p:nvPr/>
        </p:nvSpPr>
        <p:spPr>
          <a:xfrm>
            <a:off x="670560" y="5181600"/>
            <a:ext cx="10850880" cy="1048512"/>
          </a:xfrm>
          <a:prstGeom prst="roundRect">
            <a:avLst>
              <a:gd name="adj" fmla="val 9302"/>
            </a:avLst>
          </a:prstGeom>
          <a:solidFill>
            <a:srgbClr val="26262D"/>
          </a:solidFill>
          <a:ln/>
        </p:spPr>
        <p:txBody>
          <a:bodyPr/>
          <a:lstStyle/>
          <a:p>
            <a:endParaRPr lang="en-NL" sz="2400"/>
          </a:p>
        </p:txBody>
      </p:sp>
      <p:sp>
        <p:nvSpPr>
          <p:cNvPr id="13" name="Text 11"/>
          <p:cNvSpPr/>
          <p:nvPr/>
        </p:nvSpPr>
        <p:spPr>
          <a:xfrm>
            <a:off x="1036320" y="5279136"/>
            <a:ext cx="10241280" cy="438912"/>
          </a:xfrm>
          <a:prstGeom prst="rect">
            <a:avLst/>
          </a:prstGeom>
          <a:noFill/>
          <a:ln/>
        </p:spPr>
        <p:txBody>
          <a:bodyPr wrap="square" lIns="0" tIns="0" rIns="0" bIns="0" rtlCol="0" anchor="ctr"/>
          <a:lstStyle/>
          <a:p>
            <a:r>
              <a:rPr lang="en-US" sz="1933" b="1" dirty="0">
                <a:solidFill>
                  <a:srgbClr val="FFFFFF"/>
                </a:solidFill>
                <a:latin typeface="Calibri" pitchFamily="34" charset="0"/>
                <a:ea typeface="Calibri" pitchFamily="34" charset="-122"/>
                <a:cs typeface="Calibri" pitchFamily="34" charset="-120"/>
              </a:rPr>
              <a:t>Can we recover 3D coronary anatomy + flow from a single X-ray angiogram?</a:t>
            </a:r>
            <a:endParaRPr lang="en-US" sz="1933" dirty="0"/>
          </a:p>
        </p:txBody>
      </p:sp>
      <p:sp>
        <p:nvSpPr>
          <p:cNvPr id="14" name="Text 12"/>
          <p:cNvSpPr/>
          <p:nvPr/>
        </p:nvSpPr>
        <p:spPr>
          <a:xfrm>
            <a:off x="1036320" y="5718048"/>
            <a:ext cx="10241280" cy="390144"/>
          </a:xfrm>
          <a:prstGeom prst="rect">
            <a:avLst/>
          </a:prstGeom>
          <a:noFill/>
          <a:ln/>
        </p:spPr>
        <p:txBody>
          <a:bodyPr wrap="square" lIns="0" tIns="0" rIns="0" bIns="0" rtlCol="0" anchor="ctr"/>
          <a:lstStyle/>
          <a:p>
            <a:r>
              <a:rPr lang="en-US" sz="1600" i="1" dirty="0">
                <a:solidFill>
                  <a:srgbClr val="E8B4B8"/>
                </a:solidFill>
                <a:latin typeface="Calibri" pitchFamily="34" charset="0"/>
                <a:ea typeface="Calibri" pitchFamily="34" charset="-122"/>
                <a:cs typeface="Calibri" pitchFamily="34" charset="-120"/>
              </a:rPr>
              <a:t>→  probabilistic digital twins — my new NWO Veni project (2026)</a:t>
            </a:r>
            <a:endParaRPr lang="en-US" sz="1600" dirty="0"/>
          </a:p>
        </p:txBody>
      </p:sp>
      <p:sp>
        <p:nvSpPr>
          <p:cNvPr id="15" name="Text 13"/>
          <p:cNvSpPr/>
          <p:nvPr/>
        </p:nvSpPr>
        <p:spPr>
          <a:xfrm>
            <a:off x="670560" y="6437376"/>
            <a:ext cx="10850880" cy="365760"/>
          </a:xfrm>
          <a:prstGeom prst="rect">
            <a:avLst/>
          </a:prstGeom>
          <a:noFill/>
          <a:ln/>
        </p:spPr>
        <p:txBody>
          <a:bodyPr wrap="square" lIns="0" tIns="0" rIns="0" bIns="0" rtlCol="0" anchor="ctr"/>
          <a:lstStyle/>
          <a:p>
            <a:r>
              <a:rPr lang="en-US" sz="1600" dirty="0">
                <a:solidFill>
                  <a:srgbClr val="B8AFAF"/>
                </a:solidFill>
                <a:latin typeface="Calibri" pitchFamily="34" charset="0"/>
                <a:ea typeface="Calibri" pitchFamily="34" charset="-122"/>
                <a:cs typeface="Calibri" pitchFamily="34" charset="-120"/>
              </a:rPr>
              <a:t>Interested in these topics?  </a:t>
            </a:r>
            <a:r>
              <a:rPr lang="en-US" sz="1600" b="1" dirty="0">
                <a:solidFill>
                  <a:srgbClr val="FFFFFF"/>
                </a:solidFill>
                <a:latin typeface="Calibri" pitchFamily="34" charset="0"/>
                <a:ea typeface="Calibri" pitchFamily="34" charset="-122"/>
                <a:cs typeface="Calibri" pitchFamily="34" charset="-120"/>
              </a:rPr>
              <a:t>s.saitta@amsterdamumc.nl</a:t>
            </a:r>
            <a:r>
              <a:rPr lang="en-US" sz="1600" dirty="0">
                <a:solidFill>
                  <a:srgbClr val="B8AFAF"/>
                </a:solidFill>
                <a:latin typeface="Calibri" pitchFamily="34" charset="0"/>
                <a:ea typeface="Calibri" pitchFamily="34" charset="-122"/>
                <a:cs typeface="Calibri" pitchFamily="34" charset="-120"/>
              </a:rPr>
              <a:t>   ·   saitta-s.github.io   ·   cara-ai-lab.nl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ep 3">
            <a:extLst>
              <a:ext uri="{FF2B5EF4-FFF2-40B4-BE49-F238E27FC236}">
                <a16:creationId xmlns:a16="http://schemas.microsoft.com/office/drawing/2014/main" id="{AA3E5D42-2CA8-0003-C8B6-2AAC4936DC54}"/>
              </a:ext>
            </a:extLst>
          </p:cNvPr>
          <p:cNvGrpSpPr/>
          <p:nvPr/>
        </p:nvGrpSpPr>
        <p:grpSpPr>
          <a:xfrm>
            <a:off x="2265218" y="1485900"/>
            <a:ext cx="8245748" cy="4032766"/>
            <a:chOff x="3771900" y="354330"/>
            <a:chExt cx="7715250" cy="4114800"/>
          </a:xfrm>
        </p:grpSpPr>
        <p:pic>
          <p:nvPicPr>
            <p:cNvPr id="7" name="Picture 4">
              <a:extLst>
                <a:ext uri="{FF2B5EF4-FFF2-40B4-BE49-F238E27FC236}">
                  <a16:creationId xmlns:a16="http://schemas.microsoft.com/office/drawing/2014/main" id="{72E90708-00E3-4C16-2553-F08EF072447F}"/>
                </a:ext>
              </a:extLst>
            </p:cNvPr>
            <p:cNvPicPr>
              <a:picLocks noChangeAspect="1"/>
            </p:cNvPicPr>
            <p:nvPr/>
          </p:nvPicPr>
          <p:blipFill rotWithShape="1">
            <a:blip r:embed="rId2"/>
            <a:srcRect l="9271" t="47778" r="69635" b="12222"/>
            <a:stretch/>
          </p:blipFill>
          <p:spPr>
            <a:xfrm>
              <a:off x="3771900" y="354330"/>
              <a:ext cx="7715250" cy="4114800"/>
            </a:xfrm>
            <a:prstGeom prst="rect">
              <a:avLst/>
            </a:prstGeom>
          </p:spPr>
        </p:pic>
        <p:sp>
          <p:nvSpPr>
            <p:cNvPr id="8" name="Oval 1">
              <a:extLst>
                <a:ext uri="{FF2B5EF4-FFF2-40B4-BE49-F238E27FC236}">
                  <a16:creationId xmlns:a16="http://schemas.microsoft.com/office/drawing/2014/main" id="{BC76E4E2-0589-C11A-106D-51CCCF537076}"/>
                </a:ext>
              </a:extLst>
            </p:cNvPr>
            <p:cNvSpPr/>
            <p:nvPr/>
          </p:nvSpPr>
          <p:spPr>
            <a:xfrm>
              <a:off x="7765869" y="2651760"/>
              <a:ext cx="169817" cy="16981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 name="Tekstvak 1">
            <a:extLst>
              <a:ext uri="{FF2B5EF4-FFF2-40B4-BE49-F238E27FC236}">
                <a16:creationId xmlns:a16="http://schemas.microsoft.com/office/drawing/2014/main" id="{082FFF19-F23D-F704-8287-652553567EE0}"/>
              </a:ext>
            </a:extLst>
          </p:cNvPr>
          <p:cNvSpPr txBox="1"/>
          <p:nvPr/>
        </p:nvSpPr>
        <p:spPr>
          <a:xfrm>
            <a:off x="1687651" y="5701192"/>
            <a:ext cx="5548827" cy="646331"/>
          </a:xfrm>
          <a:prstGeom prst="rect">
            <a:avLst/>
          </a:prstGeom>
          <a:noFill/>
        </p:spPr>
        <p:txBody>
          <a:bodyPr wrap="none" rtlCol="0">
            <a:spAutoFit/>
          </a:bodyPr>
          <a:lstStyle/>
          <a:p>
            <a:r>
              <a:rPr lang="nl-NL" dirty="0">
                <a:hlinkClick r:id="rId3"/>
              </a:rPr>
              <a:t>https://pure.amsterdamumc.nl/en/persons/ed-van-bavel</a:t>
            </a:r>
            <a:endParaRPr lang="nl-NL" dirty="0"/>
          </a:p>
          <a:p>
            <a:r>
              <a:rPr lang="nl-NL" dirty="0">
                <a:hlinkClick r:id="rId4"/>
              </a:rPr>
              <a:t>https://bme-physics.nl/</a:t>
            </a:r>
            <a:r>
              <a:rPr lang="nl-NL" dirty="0"/>
              <a:t>  </a:t>
            </a:r>
          </a:p>
        </p:txBody>
      </p:sp>
      <p:sp>
        <p:nvSpPr>
          <p:cNvPr id="5" name="Titel 4">
            <a:extLst>
              <a:ext uri="{FF2B5EF4-FFF2-40B4-BE49-F238E27FC236}">
                <a16:creationId xmlns:a16="http://schemas.microsoft.com/office/drawing/2014/main" id="{DA8AF693-3F62-DF88-8881-DBDE6D913B09}"/>
              </a:ext>
            </a:extLst>
          </p:cNvPr>
          <p:cNvSpPr>
            <a:spLocks noGrp="1"/>
          </p:cNvSpPr>
          <p:nvPr>
            <p:ph type="title"/>
          </p:nvPr>
        </p:nvSpPr>
        <p:spPr/>
        <p:txBody>
          <a:bodyPr/>
          <a:lstStyle/>
          <a:p>
            <a:r>
              <a:rPr lang="nl-NL" dirty="0"/>
              <a:t>Ed van Bavel:</a:t>
            </a:r>
          </a:p>
        </p:txBody>
      </p:sp>
    </p:spTree>
    <p:extLst>
      <p:ext uri="{BB962C8B-B14F-4D97-AF65-F5344CB8AC3E}">
        <p14:creationId xmlns:p14="http://schemas.microsoft.com/office/powerpoint/2010/main" val="688280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911stroke.info/brainVesselsCorosionCast.jpg"/>
          <p:cNvPicPr>
            <a:picLocks noChangeAspect="1" noChangeArrowheads="1"/>
          </p:cNvPicPr>
          <p:nvPr/>
        </p:nvPicPr>
        <p:blipFill>
          <a:blip r:embed="rId2" cstate="print"/>
          <a:srcRect/>
          <a:stretch>
            <a:fillRect/>
          </a:stretch>
        </p:blipFill>
        <p:spPr bwMode="auto">
          <a:xfrm>
            <a:off x="952560" y="2745502"/>
            <a:ext cx="4098510" cy="2592288"/>
          </a:xfrm>
          <a:prstGeom prst="rect">
            <a:avLst/>
          </a:prstGeom>
          <a:noFill/>
        </p:spPr>
      </p:pic>
      <p:grpSp>
        <p:nvGrpSpPr>
          <p:cNvPr id="5" name="Group 4"/>
          <p:cNvGrpSpPr/>
          <p:nvPr/>
        </p:nvGrpSpPr>
        <p:grpSpPr>
          <a:xfrm>
            <a:off x="5499734" y="2745503"/>
            <a:ext cx="2592287" cy="2592287"/>
            <a:chOff x="4798694" y="843559"/>
            <a:chExt cx="2592287" cy="2592287"/>
          </a:xfrm>
        </p:grpSpPr>
        <p:pic>
          <p:nvPicPr>
            <p:cNvPr id="6" name="Afbeelding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98694" y="843559"/>
              <a:ext cx="2592287" cy="2592287"/>
            </a:xfrm>
            <a:prstGeom prst="rect">
              <a:avLst/>
            </a:prstGeom>
          </p:spPr>
        </p:pic>
        <p:sp>
          <p:nvSpPr>
            <p:cNvPr id="7" name="Rectangle 6"/>
            <p:cNvSpPr/>
            <p:nvPr/>
          </p:nvSpPr>
          <p:spPr>
            <a:xfrm>
              <a:off x="6012160" y="1995686"/>
              <a:ext cx="72008" cy="11772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8" name="Titel 1"/>
          <p:cNvSpPr txBox="1">
            <a:spLocks/>
          </p:cNvSpPr>
          <p:nvPr/>
        </p:nvSpPr>
        <p:spPr>
          <a:xfrm>
            <a:off x="838200" y="1985565"/>
            <a:ext cx="8123238" cy="857250"/>
          </a:xfrm>
          <a:prstGeom prst="rect">
            <a:avLst/>
          </a:prstGeom>
        </p:spPr>
        <p:txBody>
          <a:bodyPr rtlCol="0">
            <a:normAutofit/>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nl-NL" sz="3300" i="0" u="none" strike="noStrike" kern="1200" cap="none" spc="0" normalizeH="0" baseline="0" noProof="0" dirty="0" err="1">
                <a:ln>
                  <a:noFill/>
                </a:ln>
                <a:solidFill>
                  <a:srgbClr val="003741"/>
                </a:solidFill>
                <a:effectLst/>
                <a:uLnTx/>
                <a:uFillTx/>
                <a:latin typeface="Trebuchet MS Standaard" charset="0"/>
                <a:ea typeface="+mj-ea"/>
                <a:cs typeface="+mj-cs"/>
              </a:rPr>
              <a:t>Microcirculation</a:t>
            </a:r>
            <a:r>
              <a:rPr kumimoji="0" lang="nl-NL" sz="3300" i="0" u="none" strike="noStrike" kern="1200" cap="none" spc="0" normalizeH="0" baseline="0" noProof="0" dirty="0">
                <a:ln>
                  <a:noFill/>
                </a:ln>
                <a:solidFill>
                  <a:srgbClr val="003741"/>
                </a:solidFill>
                <a:effectLst/>
                <a:uLnTx/>
                <a:uFillTx/>
                <a:latin typeface="Trebuchet MS Standaard" charset="0"/>
                <a:ea typeface="+mj-ea"/>
                <a:cs typeface="+mj-cs"/>
              </a:rPr>
              <a:t>:</a:t>
            </a:r>
            <a:r>
              <a:rPr kumimoji="0" lang="nl-NL" sz="3300" i="0" u="none" strike="noStrike" kern="1200" cap="none" spc="0" normalizeH="0" noProof="0" dirty="0">
                <a:ln>
                  <a:noFill/>
                </a:ln>
                <a:solidFill>
                  <a:srgbClr val="003741"/>
                </a:solidFill>
                <a:effectLst/>
                <a:uLnTx/>
                <a:uFillTx/>
                <a:latin typeface="Trebuchet MS Standaard" charset="0"/>
                <a:ea typeface="+mj-ea"/>
                <a:cs typeface="+mj-cs"/>
              </a:rPr>
              <a:t> </a:t>
            </a:r>
            <a:r>
              <a:rPr kumimoji="0" lang="nl-NL" sz="3300" i="0" u="none" strike="noStrike" kern="1200" cap="none" spc="0" normalizeH="0" noProof="0" dirty="0" err="1">
                <a:ln>
                  <a:noFill/>
                </a:ln>
                <a:solidFill>
                  <a:srgbClr val="003741"/>
                </a:solidFill>
                <a:effectLst/>
                <a:uLnTx/>
                <a:uFillTx/>
                <a:latin typeface="Trebuchet MS Standaard" charset="0"/>
                <a:ea typeface="+mj-ea"/>
                <a:cs typeface="+mj-cs"/>
              </a:rPr>
              <a:t>Millions</a:t>
            </a:r>
            <a:r>
              <a:rPr kumimoji="0" lang="nl-NL" sz="3300" i="0" u="none" strike="noStrike" kern="1200" cap="none" spc="0" normalizeH="0" noProof="0" dirty="0">
                <a:ln>
                  <a:noFill/>
                </a:ln>
                <a:solidFill>
                  <a:srgbClr val="003741"/>
                </a:solidFill>
                <a:effectLst/>
                <a:uLnTx/>
                <a:uFillTx/>
                <a:latin typeface="Trebuchet MS Standaard" charset="0"/>
                <a:ea typeface="+mj-ea"/>
                <a:cs typeface="+mj-cs"/>
              </a:rPr>
              <a:t> of </a:t>
            </a:r>
            <a:r>
              <a:rPr kumimoji="0" lang="nl-NL" sz="3300" i="0" u="none" strike="noStrike" kern="1200" cap="none" spc="0" normalizeH="0" noProof="0" dirty="0" err="1">
                <a:ln>
                  <a:noFill/>
                </a:ln>
                <a:solidFill>
                  <a:srgbClr val="003741"/>
                </a:solidFill>
                <a:effectLst/>
                <a:uLnTx/>
                <a:uFillTx/>
                <a:latin typeface="Trebuchet MS Standaard" charset="0"/>
                <a:ea typeface="+mj-ea"/>
                <a:cs typeface="+mj-cs"/>
              </a:rPr>
              <a:t>vessels</a:t>
            </a:r>
            <a:endParaRPr kumimoji="0" lang="nl-NL" sz="3300" i="0" u="none" strike="noStrike" kern="1200" cap="none" spc="0" normalizeH="0" baseline="0" noProof="0" dirty="0">
              <a:ln>
                <a:noFill/>
              </a:ln>
              <a:solidFill>
                <a:srgbClr val="003741"/>
              </a:solidFill>
              <a:effectLst/>
              <a:uLnTx/>
              <a:uFillTx/>
              <a:latin typeface="Trebuchet MS Standaard" charset="0"/>
              <a:ea typeface="+mj-ea"/>
              <a:cs typeface="+mj-cs"/>
            </a:endParaRPr>
          </a:p>
        </p:txBody>
      </p:sp>
      <p:sp>
        <p:nvSpPr>
          <p:cNvPr id="10" name="Title 1"/>
          <p:cNvSpPr>
            <a:spLocks noGrp="1"/>
          </p:cNvSpPr>
          <p:nvPr>
            <p:ph type="title"/>
          </p:nvPr>
        </p:nvSpPr>
        <p:spPr>
          <a:xfrm>
            <a:off x="838200" y="365125"/>
            <a:ext cx="10515600" cy="1325563"/>
          </a:xfrm>
        </p:spPr>
        <p:txBody>
          <a:bodyPr>
            <a:normAutofit/>
          </a:bodyPr>
          <a:lstStyle/>
          <a:p>
            <a:r>
              <a:rPr lang="nl-NL" sz="3600" dirty="0"/>
              <a:t>Research </a:t>
            </a:r>
            <a:r>
              <a:rPr lang="nl-NL" sz="3600" dirty="0" err="1"/>
              <a:t>example</a:t>
            </a:r>
            <a:r>
              <a:rPr lang="nl-NL" sz="3600" dirty="0"/>
              <a:t>: </a:t>
            </a:r>
            <a:r>
              <a:rPr lang="nl-NL" sz="3600" dirty="0" err="1"/>
              <a:t>cerebral</a:t>
            </a:r>
            <a:r>
              <a:rPr lang="nl-NL" sz="3600" dirty="0"/>
              <a:t> </a:t>
            </a:r>
            <a:r>
              <a:rPr lang="nl-NL" sz="3600" dirty="0" err="1"/>
              <a:t>circulation</a:t>
            </a:r>
            <a:r>
              <a:rPr lang="nl-NL" sz="3600" dirty="0"/>
              <a:t>,  </a:t>
            </a:r>
            <a:r>
              <a:rPr lang="nl-NL" sz="3600" dirty="0" err="1"/>
              <a:t>stroke</a:t>
            </a:r>
            <a:r>
              <a:rPr lang="nl-NL" sz="3600" dirty="0"/>
              <a:t> and </a:t>
            </a:r>
            <a:r>
              <a:rPr lang="nl-NL" sz="3600" dirty="0" err="1"/>
              <a:t>stroke</a:t>
            </a:r>
            <a:r>
              <a:rPr lang="nl-NL" sz="3600" dirty="0"/>
              <a:t> treatment</a:t>
            </a:r>
          </a:p>
        </p:txBody>
      </p:sp>
    </p:spTree>
    <p:extLst>
      <p:ext uri="{BB962C8B-B14F-4D97-AF65-F5344CB8AC3E}">
        <p14:creationId xmlns:p14="http://schemas.microsoft.com/office/powerpoint/2010/main" val="1410701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838200" y="365125"/>
            <a:ext cx="10515600" cy="1325563"/>
          </a:xfrm>
        </p:spPr>
        <p:txBody>
          <a:bodyPr>
            <a:normAutofit/>
          </a:bodyPr>
          <a:lstStyle/>
          <a:p>
            <a:r>
              <a:rPr lang="nl-NL" sz="3600" dirty="0"/>
              <a:t>Research </a:t>
            </a:r>
            <a:r>
              <a:rPr lang="nl-NL" sz="3600" dirty="0" err="1"/>
              <a:t>example</a:t>
            </a:r>
            <a:r>
              <a:rPr lang="nl-NL" sz="3600" dirty="0"/>
              <a:t>: </a:t>
            </a:r>
            <a:r>
              <a:rPr lang="nl-NL" sz="3600" dirty="0" err="1"/>
              <a:t>cerebral</a:t>
            </a:r>
            <a:r>
              <a:rPr lang="nl-NL" sz="3600" dirty="0"/>
              <a:t> </a:t>
            </a:r>
            <a:r>
              <a:rPr lang="nl-NL" sz="3600" dirty="0" err="1"/>
              <a:t>circulation</a:t>
            </a:r>
            <a:r>
              <a:rPr lang="nl-NL" sz="3600" dirty="0"/>
              <a:t>,  </a:t>
            </a:r>
            <a:r>
              <a:rPr lang="nl-NL" sz="3600" dirty="0" err="1"/>
              <a:t>stroke</a:t>
            </a:r>
            <a:r>
              <a:rPr lang="nl-NL" sz="3600" dirty="0"/>
              <a:t> and </a:t>
            </a:r>
            <a:r>
              <a:rPr lang="nl-NL" sz="3600" dirty="0" err="1"/>
              <a:t>stroke</a:t>
            </a:r>
            <a:r>
              <a:rPr lang="nl-NL" sz="3600" dirty="0"/>
              <a:t> treatment</a:t>
            </a:r>
          </a:p>
        </p:txBody>
      </p:sp>
      <p:sp>
        <p:nvSpPr>
          <p:cNvPr id="6" name="Titel 1">
            <a:extLst>
              <a:ext uri="{FF2B5EF4-FFF2-40B4-BE49-F238E27FC236}">
                <a16:creationId xmlns:a16="http://schemas.microsoft.com/office/drawing/2014/main" id="{4CD9AC8B-7A98-47E8-A94D-00578BDE17DD}"/>
              </a:ext>
            </a:extLst>
          </p:cNvPr>
          <p:cNvSpPr txBox="1">
            <a:spLocks/>
          </p:cNvSpPr>
          <p:nvPr/>
        </p:nvSpPr>
        <p:spPr>
          <a:xfrm>
            <a:off x="5821773" y="2022468"/>
            <a:ext cx="2781300" cy="85725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nl-NL" dirty="0" err="1">
                <a:solidFill>
                  <a:schemeClr val="tx1">
                    <a:lumMod val="95000"/>
                    <a:lumOff val="5000"/>
                  </a:schemeClr>
                </a:solidFill>
              </a:rPr>
              <a:t>Endovascular</a:t>
            </a:r>
            <a:r>
              <a:rPr lang="nl-NL" dirty="0">
                <a:solidFill>
                  <a:schemeClr val="tx1">
                    <a:lumMod val="95000"/>
                    <a:lumOff val="5000"/>
                  </a:schemeClr>
                </a:solidFill>
              </a:rPr>
              <a:t> </a:t>
            </a:r>
          </a:p>
          <a:p>
            <a:r>
              <a:rPr lang="nl-NL" dirty="0" err="1">
                <a:solidFill>
                  <a:schemeClr val="tx1">
                    <a:lumMod val="95000"/>
                    <a:lumOff val="5000"/>
                  </a:schemeClr>
                </a:solidFill>
              </a:rPr>
              <a:t>Trombectomy</a:t>
            </a:r>
            <a:endParaRPr lang="nl-NL" dirty="0">
              <a:solidFill>
                <a:schemeClr val="tx1">
                  <a:lumMod val="95000"/>
                  <a:lumOff val="5000"/>
                </a:schemeClr>
              </a:solidFill>
            </a:endParaRPr>
          </a:p>
        </p:txBody>
      </p:sp>
      <p:pic>
        <p:nvPicPr>
          <p:cNvPr id="7" name="Picture 2" descr="16219592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2650" t="5105" r="11308" b="17111"/>
          <a:stretch/>
        </p:blipFill>
        <p:spPr>
          <a:xfrm>
            <a:off x="3059419" y="1690688"/>
            <a:ext cx="2382727" cy="4025701"/>
          </a:xfrm>
          <a:prstGeom prst="rect">
            <a:avLst/>
          </a:prstGeom>
          <a:noFill/>
        </p:spPr>
      </p:pic>
      <p:pic>
        <p:nvPicPr>
          <p:cNvPr id="8" name="Picture 3" descr="162196066"/>
          <p:cNvPicPr>
            <a:picLocks noChangeAspect="1" noChangeArrowheads="1"/>
          </p:cNvPicPr>
          <p:nvPr/>
        </p:nvPicPr>
        <p:blipFill>
          <a:blip r:embed="rId3" cstate="print">
            <a:extLst>
              <a:ext uri="{28A0092B-C50C-407E-A947-70E740481C1C}">
                <a14:useLocalDpi xmlns:a14="http://schemas.microsoft.com/office/drawing/2010/main" val="0"/>
              </a:ext>
            </a:extLst>
          </a:blip>
          <a:srcRect l="38309" r="12930" b="19751"/>
          <a:stretch>
            <a:fillRect/>
          </a:stretch>
        </p:blipFill>
        <p:spPr bwMode="auto">
          <a:xfrm>
            <a:off x="8833145" y="1690688"/>
            <a:ext cx="2520655" cy="4148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l="4532"/>
          <a:stretch>
            <a:fillRect/>
          </a:stretch>
        </p:blipFill>
        <p:spPr bwMode="auto">
          <a:xfrm>
            <a:off x="4584672" y="4994734"/>
            <a:ext cx="5111750" cy="188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oto3"/>
          <p:cNvPicPr>
            <a:picLocks noChangeAspect="1" noChangeArrowheads="1"/>
          </p:cNvPicPr>
          <p:nvPr/>
        </p:nvPicPr>
        <p:blipFill>
          <a:blip r:embed="rId5" cstate="print">
            <a:lum bright="18000" contrast="54000"/>
            <a:extLst>
              <a:ext uri="{28A0092B-C50C-407E-A947-70E740481C1C}">
                <a14:useLocalDpi xmlns:a14="http://schemas.microsoft.com/office/drawing/2010/main" val="0"/>
              </a:ext>
            </a:extLst>
          </a:blip>
          <a:srcRect l="9334" t="12447" r="9187"/>
          <a:stretch>
            <a:fillRect/>
          </a:stretch>
        </p:blipFill>
        <p:spPr bwMode="auto">
          <a:xfrm>
            <a:off x="5592784" y="3191743"/>
            <a:ext cx="3132598" cy="252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descr="http://www.minclinic.ru/pics/cns_angio/endovascular%20treatment%20of%20acute%20ischemic%20stroke/endovascular%20treatment%20of%20acute%20ischemic%20stroke%201%20eng.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68151" y="1695262"/>
            <a:ext cx="1711641" cy="2368912"/>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322835" y="6311384"/>
            <a:ext cx="4950779" cy="369332"/>
          </a:xfrm>
          <a:prstGeom prst="rect">
            <a:avLst/>
          </a:prstGeom>
        </p:spPr>
        <p:txBody>
          <a:bodyPr wrap="none">
            <a:spAutoFit/>
          </a:bodyPr>
          <a:lstStyle/>
          <a:p>
            <a:r>
              <a:rPr lang="nl-NL" dirty="0">
                <a:hlinkClick r:id="rId7"/>
              </a:rPr>
              <a:t>https://www.youtube.com/watch?v=cWh1ovlJg24</a:t>
            </a:r>
            <a:r>
              <a:rPr lang="nl-NL" dirty="0"/>
              <a:t> </a:t>
            </a:r>
          </a:p>
        </p:txBody>
      </p:sp>
    </p:spTree>
    <p:extLst>
      <p:ext uri="{BB962C8B-B14F-4D97-AF65-F5344CB8AC3E}">
        <p14:creationId xmlns:p14="http://schemas.microsoft.com/office/powerpoint/2010/main" val="196584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Many</a:t>
            </a:r>
            <a:r>
              <a:rPr lang="nl-NL" dirty="0"/>
              <a:t> </a:t>
            </a:r>
            <a:r>
              <a:rPr lang="nl-NL" dirty="0" err="1"/>
              <a:t>questions</a:t>
            </a:r>
            <a:r>
              <a:rPr lang="nl-NL" dirty="0"/>
              <a:t> in </a:t>
            </a:r>
            <a:r>
              <a:rPr lang="nl-NL" dirty="0" err="1"/>
              <a:t>stroke</a:t>
            </a:r>
            <a:r>
              <a:rPr lang="nl-NL" dirty="0"/>
              <a:t> research</a:t>
            </a:r>
          </a:p>
        </p:txBody>
      </p:sp>
      <p:sp>
        <p:nvSpPr>
          <p:cNvPr id="3" name="Content Placeholder 2"/>
          <p:cNvSpPr>
            <a:spLocks noGrp="1"/>
          </p:cNvSpPr>
          <p:nvPr>
            <p:ph idx="1"/>
          </p:nvPr>
        </p:nvSpPr>
        <p:spPr/>
        <p:txBody>
          <a:bodyPr>
            <a:normAutofit/>
          </a:bodyPr>
          <a:lstStyle/>
          <a:p>
            <a:r>
              <a:rPr lang="nl-NL" dirty="0" err="1"/>
              <a:t>What</a:t>
            </a:r>
            <a:r>
              <a:rPr lang="nl-NL" dirty="0"/>
              <a:t> </a:t>
            </a:r>
            <a:r>
              <a:rPr lang="nl-NL" dirty="0" err="1"/>
              <a:t>happens</a:t>
            </a:r>
            <a:r>
              <a:rPr lang="nl-NL" dirty="0"/>
              <a:t> </a:t>
            </a:r>
            <a:r>
              <a:rPr lang="nl-NL" dirty="0" err="1"/>
              <a:t>after</a:t>
            </a:r>
            <a:r>
              <a:rPr lang="nl-NL" dirty="0"/>
              <a:t> </a:t>
            </a:r>
            <a:r>
              <a:rPr lang="nl-NL" dirty="0" err="1"/>
              <a:t>stroke</a:t>
            </a:r>
            <a:r>
              <a:rPr lang="nl-NL" dirty="0"/>
              <a:t> </a:t>
            </a:r>
            <a:r>
              <a:rPr lang="nl-NL" dirty="0" err="1"/>
              <a:t>with</a:t>
            </a:r>
            <a:r>
              <a:rPr lang="nl-NL" dirty="0"/>
              <a:t> </a:t>
            </a:r>
            <a:r>
              <a:rPr lang="nl-NL" dirty="0" err="1"/>
              <a:t>brain</a:t>
            </a:r>
            <a:r>
              <a:rPr lang="nl-NL" dirty="0"/>
              <a:t> </a:t>
            </a:r>
            <a:r>
              <a:rPr lang="nl-NL" dirty="0" err="1"/>
              <a:t>vessels</a:t>
            </a:r>
            <a:r>
              <a:rPr lang="nl-NL" dirty="0"/>
              <a:t>, neurons? (</a:t>
            </a:r>
            <a:r>
              <a:rPr lang="nl-NL" dirty="0" err="1"/>
              <a:t>biology</a:t>
            </a:r>
            <a:r>
              <a:rPr lang="nl-NL" dirty="0"/>
              <a:t>, </a:t>
            </a:r>
            <a:r>
              <a:rPr lang="nl-NL" dirty="0" err="1"/>
              <a:t>modeling</a:t>
            </a:r>
            <a:r>
              <a:rPr lang="nl-NL" dirty="0"/>
              <a:t> of tissue </a:t>
            </a:r>
            <a:r>
              <a:rPr lang="nl-NL" dirty="0" err="1"/>
              <a:t>progression</a:t>
            </a:r>
            <a:r>
              <a:rPr lang="nl-NL" dirty="0"/>
              <a:t>, 3D </a:t>
            </a:r>
            <a:r>
              <a:rPr lang="nl-NL" dirty="0" err="1"/>
              <a:t>dynamic</a:t>
            </a:r>
            <a:r>
              <a:rPr lang="nl-NL" dirty="0"/>
              <a:t>)</a:t>
            </a:r>
          </a:p>
          <a:p>
            <a:r>
              <a:rPr lang="nl-NL" dirty="0"/>
              <a:t>How </a:t>
            </a:r>
            <a:r>
              <a:rPr lang="nl-NL" dirty="0" err="1"/>
              <a:t>much</a:t>
            </a:r>
            <a:r>
              <a:rPr lang="nl-NL" dirty="0"/>
              <a:t> </a:t>
            </a:r>
            <a:r>
              <a:rPr lang="nl-NL" dirty="0" err="1"/>
              <a:t>blood</a:t>
            </a:r>
            <a:r>
              <a:rPr lang="nl-NL" dirty="0"/>
              <a:t> </a:t>
            </a:r>
            <a:r>
              <a:rPr lang="nl-NL" dirty="0" err="1"/>
              <a:t>still</a:t>
            </a:r>
            <a:r>
              <a:rPr lang="nl-NL" dirty="0"/>
              <a:t> </a:t>
            </a:r>
            <a:r>
              <a:rPr lang="nl-NL" dirty="0" err="1"/>
              <a:t>flows</a:t>
            </a:r>
            <a:r>
              <a:rPr lang="nl-NL" dirty="0"/>
              <a:t> </a:t>
            </a:r>
            <a:r>
              <a:rPr lang="nl-NL" dirty="0" err="1"/>
              <a:t>to</a:t>
            </a:r>
            <a:r>
              <a:rPr lang="nl-NL" dirty="0"/>
              <a:t> </a:t>
            </a:r>
            <a:r>
              <a:rPr lang="nl-NL" dirty="0" err="1"/>
              <a:t>the</a:t>
            </a:r>
            <a:r>
              <a:rPr lang="nl-NL" dirty="0"/>
              <a:t> volume at risk? (</a:t>
            </a:r>
            <a:r>
              <a:rPr lang="nl-NL" dirty="0" err="1"/>
              <a:t>clot</a:t>
            </a:r>
            <a:r>
              <a:rPr lang="nl-NL" dirty="0"/>
              <a:t> </a:t>
            </a:r>
            <a:r>
              <a:rPr lang="nl-NL" dirty="0" err="1"/>
              <a:t>permeability</a:t>
            </a:r>
            <a:r>
              <a:rPr lang="nl-NL" dirty="0"/>
              <a:t>, bypass </a:t>
            </a:r>
            <a:r>
              <a:rPr lang="nl-NL" dirty="0" err="1"/>
              <a:t>vessels</a:t>
            </a:r>
            <a:r>
              <a:rPr lang="nl-NL" dirty="0"/>
              <a:t> =&gt; transport </a:t>
            </a:r>
            <a:r>
              <a:rPr lang="nl-NL" dirty="0" err="1"/>
              <a:t>physics</a:t>
            </a:r>
            <a:r>
              <a:rPr lang="nl-NL" dirty="0"/>
              <a:t> and </a:t>
            </a:r>
            <a:r>
              <a:rPr lang="nl-NL" dirty="0" err="1"/>
              <a:t>their</a:t>
            </a:r>
            <a:r>
              <a:rPr lang="nl-NL" dirty="0"/>
              <a:t> </a:t>
            </a:r>
            <a:r>
              <a:rPr lang="nl-NL" dirty="0" err="1"/>
              <a:t>modeling</a:t>
            </a:r>
            <a:r>
              <a:rPr lang="nl-NL" dirty="0"/>
              <a:t>, 0D, 1D, 3D)</a:t>
            </a:r>
          </a:p>
          <a:p>
            <a:r>
              <a:rPr lang="nl-NL" dirty="0"/>
              <a:t>How </a:t>
            </a:r>
            <a:r>
              <a:rPr lang="nl-NL" dirty="0" err="1"/>
              <a:t>to</a:t>
            </a:r>
            <a:r>
              <a:rPr lang="nl-NL" dirty="0"/>
              <a:t> design </a:t>
            </a:r>
            <a:r>
              <a:rPr lang="nl-NL" dirty="0" err="1"/>
              <a:t>the</a:t>
            </a:r>
            <a:r>
              <a:rPr lang="nl-NL" dirty="0"/>
              <a:t> best </a:t>
            </a:r>
            <a:r>
              <a:rPr lang="nl-NL" dirty="0" err="1"/>
              <a:t>clot</a:t>
            </a:r>
            <a:r>
              <a:rPr lang="nl-NL" dirty="0"/>
              <a:t> </a:t>
            </a:r>
            <a:r>
              <a:rPr lang="nl-NL" dirty="0" err="1"/>
              <a:t>retriever</a:t>
            </a:r>
            <a:r>
              <a:rPr lang="nl-NL" dirty="0"/>
              <a:t>? (</a:t>
            </a:r>
            <a:r>
              <a:rPr lang="nl-NL" dirty="0" err="1"/>
              <a:t>clot</a:t>
            </a:r>
            <a:r>
              <a:rPr lang="nl-NL" dirty="0"/>
              <a:t> </a:t>
            </a:r>
            <a:r>
              <a:rPr lang="nl-NL" dirty="0" err="1"/>
              <a:t>mechanics</a:t>
            </a:r>
            <a:r>
              <a:rPr lang="nl-NL" dirty="0"/>
              <a:t>, </a:t>
            </a:r>
            <a:r>
              <a:rPr lang="nl-NL" dirty="0" err="1"/>
              <a:t>wall</a:t>
            </a:r>
            <a:r>
              <a:rPr lang="nl-NL" dirty="0"/>
              <a:t> </a:t>
            </a:r>
            <a:r>
              <a:rPr lang="nl-NL" dirty="0" err="1"/>
              <a:t>mechanics</a:t>
            </a:r>
            <a:r>
              <a:rPr lang="nl-NL" dirty="0"/>
              <a:t>, engineering=&gt; </a:t>
            </a:r>
            <a:r>
              <a:rPr lang="nl-NL" dirty="0" err="1"/>
              <a:t>finite</a:t>
            </a:r>
            <a:r>
              <a:rPr lang="nl-NL" dirty="0"/>
              <a:t> </a:t>
            </a:r>
            <a:r>
              <a:rPr lang="nl-NL" dirty="0" err="1"/>
              <a:t>elements</a:t>
            </a:r>
            <a:r>
              <a:rPr lang="nl-NL" dirty="0"/>
              <a:t>)</a:t>
            </a:r>
          </a:p>
          <a:p>
            <a:r>
              <a:rPr lang="nl-NL" dirty="0"/>
              <a:t>How </a:t>
            </a:r>
            <a:r>
              <a:rPr lang="nl-NL" dirty="0" err="1"/>
              <a:t>to</a:t>
            </a:r>
            <a:r>
              <a:rPr lang="nl-NL" dirty="0"/>
              <a:t> </a:t>
            </a:r>
            <a:r>
              <a:rPr lang="nl-NL" dirty="0" err="1"/>
              <a:t>better</a:t>
            </a:r>
            <a:r>
              <a:rPr lang="nl-NL" dirty="0"/>
              <a:t> </a:t>
            </a:r>
            <a:r>
              <a:rPr lang="nl-NL" dirty="0" err="1"/>
              <a:t>treat</a:t>
            </a:r>
            <a:r>
              <a:rPr lang="nl-NL" dirty="0"/>
              <a:t> </a:t>
            </a:r>
            <a:r>
              <a:rPr lang="nl-NL" dirty="0" err="1"/>
              <a:t>the</a:t>
            </a:r>
            <a:r>
              <a:rPr lang="nl-NL" dirty="0"/>
              <a:t> </a:t>
            </a:r>
            <a:r>
              <a:rPr lang="nl-NL" dirty="0" err="1"/>
              <a:t>patient</a:t>
            </a:r>
            <a:r>
              <a:rPr lang="nl-NL" dirty="0"/>
              <a:t>? (</a:t>
            </a:r>
            <a:r>
              <a:rPr lang="nl-NL" dirty="0" err="1"/>
              <a:t>randomized</a:t>
            </a:r>
            <a:r>
              <a:rPr lang="nl-NL" dirty="0"/>
              <a:t> </a:t>
            </a:r>
            <a:r>
              <a:rPr lang="nl-NL" dirty="0" err="1"/>
              <a:t>controlled</a:t>
            </a:r>
            <a:r>
              <a:rPr lang="nl-NL" dirty="0"/>
              <a:t> </a:t>
            </a:r>
            <a:r>
              <a:rPr lang="nl-NL" dirty="0" err="1"/>
              <a:t>clinical</a:t>
            </a:r>
            <a:r>
              <a:rPr lang="nl-NL" dirty="0"/>
              <a:t> trials, in </a:t>
            </a:r>
            <a:r>
              <a:rPr lang="nl-NL" dirty="0" err="1"/>
              <a:t>silico</a:t>
            </a:r>
            <a:r>
              <a:rPr lang="nl-NL" dirty="0"/>
              <a:t> </a:t>
            </a:r>
            <a:r>
              <a:rPr lang="nl-NL" dirty="0" err="1"/>
              <a:t>clinical</a:t>
            </a:r>
            <a:r>
              <a:rPr lang="nl-NL" dirty="0"/>
              <a:t> trials)</a:t>
            </a:r>
          </a:p>
        </p:txBody>
      </p:sp>
    </p:spTree>
    <p:extLst>
      <p:ext uri="{BB962C8B-B14F-4D97-AF65-F5344CB8AC3E}">
        <p14:creationId xmlns:p14="http://schemas.microsoft.com/office/powerpoint/2010/main" val="3848740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0DD385-4797-5C94-6CC1-C41BF554023B}"/>
              </a:ext>
            </a:extLst>
          </p:cNvPr>
          <p:cNvSpPr>
            <a:spLocks noGrp="1"/>
          </p:cNvSpPr>
          <p:nvPr>
            <p:ph type="title"/>
          </p:nvPr>
        </p:nvSpPr>
        <p:spPr/>
        <p:txBody>
          <a:bodyPr/>
          <a:lstStyle/>
          <a:p>
            <a:r>
              <a:rPr lang="en-US" dirty="0"/>
              <a:t>FP2P course </a:t>
            </a:r>
            <a:endParaRPr lang="nl-NL" dirty="0"/>
          </a:p>
        </p:txBody>
      </p:sp>
      <p:sp>
        <p:nvSpPr>
          <p:cNvPr id="5" name="Tekstvak 4">
            <a:extLst>
              <a:ext uri="{FF2B5EF4-FFF2-40B4-BE49-F238E27FC236}">
                <a16:creationId xmlns:a16="http://schemas.microsoft.com/office/drawing/2014/main" id="{F5CF34A2-5788-D268-E753-8A40838C9036}"/>
              </a:ext>
            </a:extLst>
          </p:cNvPr>
          <p:cNvSpPr txBox="1"/>
          <p:nvPr/>
        </p:nvSpPr>
        <p:spPr>
          <a:xfrm>
            <a:off x="1589231" y="2185147"/>
            <a:ext cx="1218282" cy="369332"/>
          </a:xfrm>
          <a:prstGeom prst="rect">
            <a:avLst/>
          </a:prstGeom>
          <a:noFill/>
          <a:ln w="19050">
            <a:solidFill>
              <a:schemeClr val="tx1"/>
            </a:solidFill>
          </a:ln>
        </p:spPr>
        <p:txBody>
          <a:bodyPr wrap="none" rtlCol="0">
            <a:spAutoFit/>
          </a:bodyPr>
          <a:lstStyle/>
          <a:p>
            <a:r>
              <a:rPr lang="en-US" dirty="0"/>
              <a:t>September</a:t>
            </a:r>
            <a:endParaRPr lang="nl-NL" dirty="0"/>
          </a:p>
        </p:txBody>
      </p:sp>
      <p:sp>
        <p:nvSpPr>
          <p:cNvPr id="6" name="Tekstvak 5">
            <a:extLst>
              <a:ext uri="{FF2B5EF4-FFF2-40B4-BE49-F238E27FC236}">
                <a16:creationId xmlns:a16="http://schemas.microsoft.com/office/drawing/2014/main" id="{411A36D2-3824-C339-4768-31A712DAAE6D}"/>
              </a:ext>
            </a:extLst>
          </p:cNvPr>
          <p:cNvSpPr txBox="1"/>
          <p:nvPr/>
        </p:nvSpPr>
        <p:spPr>
          <a:xfrm>
            <a:off x="6487800" y="2185147"/>
            <a:ext cx="948658" cy="369332"/>
          </a:xfrm>
          <a:prstGeom prst="rect">
            <a:avLst/>
          </a:prstGeom>
          <a:noFill/>
          <a:ln w="19050">
            <a:solidFill>
              <a:schemeClr val="tx1"/>
            </a:solidFill>
          </a:ln>
        </p:spPr>
        <p:txBody>
          <a:bodyPr wrap="none" rtlCol="0">
            <a:spAutoFit/>
          </a:bodyPr>
          <a:lstStyle/>
          <a:p>
            <a:r>
              <a:rPr lang="en-US" dirty="0"/>
              <a:t>October</a:t>
            </a:r>
            <a:endParaRPr lang="nl-NL" dirty="0"/>
          </a:p>
        </p:txBody>
      </p:sp>
      <p:sp>
        <p:nvSpPr>
          <p:cNvPr id="8" name="Tekstvak 7">
            <a:extLst>
              <a:ext uri="{FF2B5EF4-FFF2-40B4-BE49-F238E27FC236}">
                <a16:creationId xmlns:a16="http://schemas.microsoft.com/office/drawing/2014/main" id="{EDA158DC-A03E-A6D3-B52F-70FDB962B9FE}"/>
              </a:ext>
            </a:extLst>
          </p:cNvPr>
          <p:cNvSpPr txBox="1"/>
          <p:nvPr/>
        </p:nvSpPr>
        <p:spPr>
          <a:xfrm>
            <a:off x="573470" y="2953402"/>
            <a:ext cx="2763642" cy="646331"/>
          </a:xfrm>
          <a:prstGeom prst="rect">
            <a:avLst/>
          </a:prstGeom>
          <a:solidFill>
            <a:schemeClr val="accent1">
              <a:lumMod val="20000"/>
              <a:lumOff val="80000"/>
            </a:schemeClr>
          </a:solidFill>
          <a:ln w="19050">
            <a:solidFill>
              <a:schemeClr val="tx1"/>
            </a:solidFill>
          </a:ln>
        </p:spPr>
        <p:txBody>
          <a:bodyPr wrap="none" rtlCol="0">
            <a:spAutoFit/>
          </a:bodyPr>
          <a:lstStyle/>
          <a:p>
            <a:r>
              <a:rPr lang="en-US" dirty="0"/>
              <a:t>Ivo classes on Mathematica</a:t>
            </a:r>
          </a:p>
          <a:p>
            <a:r>
              <a:rPr lang="en-US" dirty="0"/>
              <a:t>Simone classes on Python </a:t>
            </a:r>
            <a:endParaRPr lang="nl-NL" dirty="0"/>
          </a:p>
        </p:txBody>
      </p:sp>
      <p:sp>
        <p:nvSpPr>
          <p:cNvPr id="9" name="Tekstvak 8">
            <a:extLst>
              <a:ext uri="{FF2B5EF4-FFF2-40B4-BE49-F238E27FC236}">
                <a16:creationId xmlns:a16="http://schemas.microsoft.com/office/drawing/2014/main" id="{03C440A0-2C03-C515-4DEC-D6D1846F8C3E}"/>
              </a:ext>
            </a:extLst>
          </p:cNvPr>
          <p:cNvSpPr txBox="1"/>
          <p:nvPr/>
        </p:nvSpPr>
        <p:spPr>
          <a:xfrm>
            <a:off x="6172201" y="3738281"/>
            <a:ext cx="1579856" cy="369332"/>
          </a:xfrm>
          <a:prstGeom prst="rect">
            <a:avLst/>
          </a:prstGeom>
          <a:solidFill>
            <a:schemeClr val="accent6">
              <a:lumMod val="20000"/>
              <a:lumOff val="80000"/>
            </a:schemeClr>
          </a:solidFill>
          <a:ln w="19050">
            <a:solidFill>
              <a:schemeClr val="tx1"/>
            </a:solidFill>
          </a:ln>
        </p:spPr>
        <p:txBody>
          <a:bodyPr wrap="none" rtlCol="0">
            <a:spAutoFit/>
          </a:bodyPr>
          <a:lstStyle/>
          <a:p>
            <a:r>
              <a:rPr lang="en-US" dirty="0"/>
              <a:t>Group projects</a:t>
            </a:r>
            <a:endParaRPr lang="nl-NL" dirty="0"/>
          </a:p>
        </p:txBody>
      </p:sp>
      <p:sp>
        <p:nvSpPr>
          <p:cNvPr id="10" name="Tekstvak 9">
            <a:extLst>
              <a:ext uri="{FF2B5EF4-FFF2-40B4-BE49-F238E27FC236}">
                <a16:creationId xmlns:a16="http://schemas.microsoft.com/office/drawing/2014/main" id="{D2E7DCC1-065E-34E8-02E7-503F4172A3AE}"/>
              </a:ext>
            </a:extLst>
          </p:cNvPr>
          <p:cNvSpPr txBox="1"/>
          <p:nvPr/>
        </p:nvSpPr>
        <p:spPr>
          <a:xfrm>
            <a:off x="8760758" y="3738281"/>
            <a:ext cx="2430217" cy="369332"/>
          </a:xfrm>
          <a:prstGeom prst="rect">
            <a:avLst/>
          </a:prstGeom>
          <a:solidFill>
            <a:schemeClr val="accent6">
              <a:lumMod val="20000"/>
              <a:lumOff val="80000"/>
            </a:schemeClr>
          </a:solidFill>
          <a:ln w="19050">
            <a:solidFill>
              <a:schemeClr val="tx1"/>
            </a:solidFill>
          </a:ln>
        </p:spPr>
        <p:txBody>
          <a:bodyPr wrap="none" rtlCol="0">
            <a:spAutoFit/>
          </a:bodyPr>
          <a:lstStyle/>
          <a:p>
            <a:r>
              <a:rPr lang="en-US" dirty="0"/>
              <a:t>Presentation and report</a:t>
            </a:r>
            <a:endParaRPr lang="nl-NL" dirty="0"/>
          </a:p>
        </p:txBody>
      </p:sp>
      <p:sp>
        <p:nvSpPr>
          <p:cNvPr id="12" name="Tekstvak 11">
            <a:extLst>
              <a:ext uri="{FF2B5EF4-FFF2-40B4-BE49-F238E27FC236}">
                <a16:creationId xmlns:a16="http://schemas.microsoft.com/office/drawing/2014/main" id="{FBBA0C83-473A-4285-D795-3F2D4AD80789}"/>
              </a:ext>
            </a:extLst>
          </p:cNvPr>
          <p:cNvSpPr txBox="1"/>
          <p:nvPr/>
        </p:nvSpPr>
        <p:spPr>
          <a:xfrm>
            <a:off x="714599" y="4571538"/>
            <a:ext cx="2622513" cy="646331"/>
          </a:xfrm>
          <a:prstGeom prst="rect">
            <a:avLst/>
          </a:prstGeom>
          <a:solidFill>
            <a:schemeClr val="accent4">
              <a:lumMod val="40000"/>
              <a:lumOff val="60000"/>
            </a:schemeClr>
          </a:solidFill>
          <a:ln w="19050">
            <a:solidFill>
              <a:schemeClr val="tx1"/>
            </a:solidFill>
          </a:ln>
        </p:spPr>
        <p:txBody>
          <a:bodyPr wrap="none" rtlCol="0">
            <a:spAutoFit/>
          </a:bodyPr>
          <a:lstStyle/>
          <a:p>
            <a:r>
              <a:rPr lang="en-US" dirty="0"/>
              <a:t>Content classes on </a:t>
            </a:r>
            <a:r>
              <a:rPr lang="en-US" dirty="0" err="1"/>
              <a:t>Ph&amp;Ph</a:t>
            </a:r>
            <a:endParaRPr lang="en-US" dirty="0"/>
          </a:p>
          <a:p>
            <a:r>
              <a:rPr lang="en-US" dirty="0"/>
              <a:t>(Ed and Simone)</a:t>
            </a:r>
            <a:endParaRPr lang="nl-NL" dirty="0"/>
          </a:p>
        </p:txBody>
      </p:sp>
      <p:sp>
        <p:nvSpPr>
          <p:cNvPr id="13" name="Tekstvak 12">
            <a:extLst>
              <a:ext uri="{FF2B5EF4-FFF2-40B4-BE49-F238E27FC236}">
                <a16:creationId xmlns:a16="http://schemas.microsoft.com/office/drawing/2014/main" id="{B1600424-902E-1370-1BE6-B3557D2809FC}"/>
              </a:ext>
            </a:extLst>
          </p:cNvPr>
          <p:cNvSpPr txBox="1"/>
          <p:nvPr/>
        </p:nvSpPr>
        <p:spPr>
          <a:xfrm>
            <a:off x="3691218" y="2953402"/>
            <a:ext cx="1988686" cy="369332"/>
          </a:xfrm>
          <a:prstGeom prst="rect">
            <a:avLst/>
          </a:prstGeom>
          <a:solidFill>
            <a:schemeClr val="accent1">
              <a:lumMod val="20000"/>
              <a:lumOff val="80000"/>
            </a:schemeClr>
          </a:solidFill>
          <a:ln w="19050">
            <a:solidFill>
              <a:schemeClr val="tx1"/>
            </a:solidFill>
          </a:ln>
        </p:spPr>
        <p:txBody>
          <a:bodyPr wrap="none" rtlCol="0">
            <a:spAutoFit/>
          </a:bodyPr>
          <a:lstStyle/>
          <a:p>
            <a:r>
              <a:rPr lang="en-US" dirty="0"/>
              <a:t>Mathematica exam</a:t>
            </a:r>
            <a:endParaRPr lang="nl-NL" dirty="0"/>
          </a:p>
        </p:txBody>
      </p:sp>
      <p:sp>
        <p:nvSpPr>
          <p:cNvPr id="14" name="Tekstvak 13">
            <a:extLst>
              <a:ext uri="{FF2B5EF4-FFF2-40B4-BE49-F238E27FC236}">
                <a16:creationId xmlns:a16="http://schemas.microsoft.com/office/drawing/2014/main" id="{681C6495-C2CA-568A-B5ED-115FC5B8D153}"/>
              </a:ext>
            </a:extLst>
          </p:cNvPr>
          <p:cNvSpPr txBox="1"/>
          <p:nvPr/>
        </p:nvSpPr>
        <p:spPr>
          <a:xfrm>
            <a:off x="3938497" y="4571538"/>
            <a:ext cx="1509452" cy="369332"/>
          </a:xfrm>
          <a:prstGeom prst="rect">
            <a:avLst/>
          </a:prstGeom>
          <a:solidFill>
            <a:schemeClr val="accent4">
              <a:lumMod val="40000"/>
              <a:lumOff val="60000"/>
            </a:schemeClr>
          </a:solidFill>
          <a:ln w="19050">
            <a:solidFill>
              <a:schemeClr val="tx1"/>
            </a:solidFill>
          </a:ln>
        </p:spPr>
        <p:txBody>
          <a:bodyPr wrap="none" rtlCol="0">
            <a:spAutoFit/>
          </a:bodyPr>
          <a:lstStyle/>
          <a:p>
            <a:r>
              <a:rPr lang="en-US" dirty="0"/>
              <a:t>Written  exam</a:t>
            </a:r>
            <a:endParaRPr lang="nl-NL" dirty="0"/>
          </a:p>
        </p:txBody>
      </p:sp>
      <p:cxnSp>
        <p:nvCxnSpPr>
          <p:cNvPr id="16" name="Rechte verbindingslijn 15">
            <a:extLst>
              <a:ext uri="{FF2B5EF4-FFF2-40B4-BE49-F238E27FC236}">
                <a16:creationId xmlns:a16="http://schemas.microsoft.com/office/drawing/2014/main" id="{32825984-5541-BE1A-E295-DF1BC8CB05D7}"/>
              </a:ext>
            </a:extLst>
          </p:cNvPr>
          <p:cNvCxnSpPr/>
          <p:nvPr/>
        </p:nvCxnSpPr>
        <p:spPr>
          <a:xfrm flipV="1">
            <a:off x="5836024" y="1690688"/>
            <a:ext cx="0" cy="420892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5470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03C7A2-0798-8689-3BAA-9167E0B738E8}"/>
              </a:ext>
            </a:extLst>
          </p:cNvPr>
          <p:cNvSpPr>
            <a:spLocks noGrp="1"/>
          </p:cNvSpPr>
          <p:nvPr>
            <p:ph type="title"/>
          </p:nvPr>
        </p:nvSpPr>
        <p:spPr/>
        <p:txBody>
          <a:bodyPr/>
          <a:lstStyle/>
          <a:p>
            <a:r>
              <a:rPr lang="nl-NL" dirty="0" err="1"/>
              <a:t>Final</a:t>
            </a:r>
            <a:r>
              <a:rPr lang="nl-NL" dirty="0"/>
              <a:t> score</a:t>
            </a:r>
          </a:p>
        </p:txBody>
      </p:sp>
      <p:sp>
        <p:nvSpPr>
          <p:cNvPr id="3" name="Tijdelijke aanduiding voor inhoud 2">
            <a:extLst>
              <a:ext uri="{FF2B5EF4-FFF2-40B4-BE49-F238E27FC236}">
                <a16:creationId xmlns:a16="http://schemas.microsoft.com/office/drawing/2014/main" id="{EA3AA647-B8E5-7251-DE14-CCD13A8FEBF0}"/>
              </a:ext>
            </a:extLst>
          </p:cNvPr>
          <p:cNvSpPr>
            <a:spLocks noGrp="1"/>
          </p:cNvSpPr>
          <p:nvPr>
            <p:ph idx="1"/>
          </p:nvPr>
        </p:nvSpPr>
        <p:spPr/>
        <p:txBody>
          <a:bodyPr/>
          <a:lstStyle/>
          <a:p>
            <a:r>
              <a:rPr lang="nl-NL" dirty="0"/>
              <a:t>&gt; 80% of </a:t>
            </a:r>
            <a:r>
              <a:rPr lang="nl-NL" dirty="0" err="1"/>
              <a:t>assignments</a:t>
            </a:r>
            <a:r>
              <a:rPr lang="nl-NL" dirty="0"/>
              <a:t> have </a:t>
            </a:r>
            <a:r>
              <a:rPr lang="nl-NL" dirty="0" err="1"/>
              <a:t>to</a:t>
            </a:r>
            <a:r>
              <a:rPr lang="nl-NL" dirty="0"/>
              <a:t> </a:t>
            </a:r>
            <a:r>
              <a:rPr lang="nl-NL" dirty="0" err="1"/>
              <a:t>be</a:t>
            </a:r>
            <a:r>
              <a:rPr lang="nl-NL" dirty="0"/>
              <a:t> </a:t>
            </a:r>
            <a:r>
              <a:rPr lang="nl-NL" dirty="0" err="1"/>
              <a:t>handed</a:t>
            </a:r>
            <a:r>
              <a:rPr lang="nl-NL" dirty="0"/>
              <a:t> in, on time. </a:t>
            </a:r>
          </a:p>
          <a:p>
            <a:r>
              <a:rPr lang="nl-NL" dirty="0"/>
              <a:t>Active </a:t>
            </a:r>
            <a:r>
              <a:rPr lang="nl-NL" dirty="0" err="1"/>
              <a:t>role</a:t>
            </a:r>
            <a:r>
              <a:rPr lang="nl-NL" dirty="0"/>
              <a:t> in </a:t>
            </a:r>
            <a:r>
              <a:rPr lang="nl-NL" dirty="0" err="1"/>
              <a:t>groups</a:t>
            </a:r>
            <a:r>
              <a:rPr lang="nl-NL" dirty="0"/>
              <a:t> is </a:t>
            </a:r>
            <a:r>
              <a:rPr lang="nl-NL" dirty="0" err="1"/>
              <a:t>required</a:t>
            </a:r>
            <a:endParaRPr lang="nl-NL" dirty="0"/>
          </a:p>
          <a:p>
            <a:r>
              <a:rPr lang="nl-NL" dirty="0"/>
              <a:t>Practical </a:t>
            </a:r>
            <a:r>
              <a:rPr lang="nl-NL" dirty="0" err="1"/>
              <a:t>exam</a:t>
            </a:r>
            <a:r>
              <a:rPr lang="nl-NL" dirty="0"/>
              <a:t> Ivo part </a:t>
            </a:r>
            <a:r>
              <a:rPr lang="nl-NL" dirty="0" err="1"/>
              <a:t>halfway</a:t>
            </a:r>
            <a:r>
              <a:rPr lang="nl-NL" dirty="0"/>
              <a:t>: 30%</a:t>
            </a:r>
          </a:p>
          <a:p>
            <a:r>
              <a:rPr lang="nl-NL" dirty="0" err="1"/>
              <a:t>Written</a:t>
            </a:r>
            <a:r>
              <a:rPr lang="nl-NL" dirty="0"/>
              <a:t> </a:t>
            </a:r>
            <a:r>
              <a:rPr lang="nl-NL" dirty="0" err="1"/>
              <a:t>exam</a:t>
            </a:r>
            <a:r>
              <a:rPr lang="nl-NL" dirty="0"/>
              <a:t> Ed/Simone part </a:t>
            </a:r>
            <a:r>
              <a:rPr lang="nl-NL" dirty="0" err="1"/>
              <a:t>halfway</a:t>
            </a:r>
            <a:r>
              <a:rPr lang="nl-NL" dirty="0"/>
              <a:t>: 30%</a:t>
            </a:r>
          </a:p>
          <a:p>
            <a:r>
              <a:rPr lang="nl-NL" dirty="0" err="1"/>
              <a:t>Final</a:t>
            </a:r>
            <a:r>
              <a:rPr lang="nl-NL" dirty="0"/>
              <a:t> </a:t>
            </a:r>
            <a:r>
              <a:rPr lang="nl-NL" dirty="0" err="1"/>
              <a:t>assignment</a:t>
            </a:r>
            <a:r>
              <a:rPr lang="nl-NL" dirty="0"/>
              <a:t> (</a:t>
            </a:r>
            <a:r>
              <a:rPr lang="nl-NL" dirty="0" err="1"/>
              <a:t>group</a:t>
            </a:r>
            <a:r>
              <a:rPr lang="nl-NL" dirty="0"/>
              <a:t> </a:t>
            </a:r>
            <a:r>
              <a:rPr lang="nl-NL" dirty="0" err="1"/>
              <a:t>work</a:t>
            </a:r>
            <a:r>
              <a:rPr lang="nl-NL" dirty="0"/>
              <a:t>) </a:t>
            </a:r>
            <a:r>
              <a:rPr lang="nl-NL" dirty="0" err="1"/>
              <a:t>presentation</a:t>
            </a:r>
            <a:r>
              <a:rPr lang="nl-NL" dirty="0"/>
              <a:t>: 20%</a:t>
            </a:r>
          </a:p>
          <a:p>
            <a:r>
              <a:rPr lang="nl-NL" dirty="0" err="1"/>
              <a:t>Final</a:t>
            </a:r>
            <a:r>
              <a:rPr lang="nl-NL" dirty="0"/>
              <a:t> </a:t>
            </a:r>
            <a:r>
              <a:rPr lang="nl-NL" dirty="0" err="1"/>
              <a:t>assignment</a:t>
            </a:r>
            <a:r>
              <a:rPr lang="nl-NL" dirty="0"/>
              <a:t> (</a:t>
            </a:r>
            <a:r>
              <a:rPr lang="nl-NL" dirty="0" err="1"/>
              <a:t>group</a:t>
            </a:r>
            <a:r>
              <a:rPr lang="nl-NL" dirty="0"/>
              <a:t> </a:t>
            </a:r>
            <a:r>
              <a:rPr lang="nl-NL" dirty="0" err="1"/>
              <a:t>work</a:t>
            </a:r>
            <a:r>
              <a:rPr lang="nl-NL" dirty="0"/>
              <a:t>) report: 20%</a:t>
            </a:r>
          </a:p>
          <a:p>
            <a:endParaRPr lang="nl-NL" dirty="0"/>
          </a:p>
        </p:txBody>
      </p:sp>
    </p:spTree>
    <p:extLst>
      <p:ext uri="{BB962C8B-B14F-4D97-AF65-F5344CB8AC3E}">
        <p14:creationId xmlns:p14="http://schemas.microsoft.com/office/powerpoint/2010/main" val="3302186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687E67-6BC7-446C-A00D-8C3FAC4CDE69}"/>
              </a:ext>
            </a:extLst>
          </p:cNvPr>
          <p:cNvSpPr>
            <a:spLocks noGrp="1"/>
          </p:cNvSpPr>
          <p:nvPr>
            <p:ph type="title"/>
          </p:nvPr>
        </p:nvSpPr>
        <p:spPr>
          <a:xfrm>
            <a:off x="1981200" y="567714"/>
            <a:ext cx="8229600" cy="1143000"/>
          </a:xfrm>
        </p:spPr>
        <p:txBody>
          <a:bodyPr/>
          <a:lstStyle/>
          <a:p>
            <a:r>
              <a:rPr lang="en-GB" dirty="0">
                <a:latin typeface="Calibri" panose="020F0502020204030204" pitchFamily="34" charset="0"/>
                <a:ea typeface="Calibri" panose="020F0502020204030204" pitchFamily="34" charset="0"/>
                <a:cs typeface="Times New Roman" panose="02020603050405020304" pitchFamily="18" charset="0"/>
              </a:rPr>
              <a:t>Academic honesty</a:t>
            </a:r>
            <a:endParaRPr lang="nl-NL" dirty="0"/>
          </a:p>
        </p:txBody>
      </p:sp>
      <p:sp>
        <p:nvSpPr>
          <p:cNvPr id="3" name="Tijdelijke aanduiding voor inhoud 2">
            <a:extLst>
              <a:ext uri="{FF2B5EF4-FFF2-40B4-BE49-F238E27FC236}">
                <a16:creationId xmlns:a16="http://schemas.microsoft.com/office/drawing/2014/main" id="{65B8C05F-5396-49D3-8BB6-A7A0F642DAF4}"/>
              </a:ext>
            </a:extLst>
          </p:cNvPr>
          <p:cNvSpPr>
            <a:spLocks noGrp="1"/>
          </p:cNvSpPr>
          <p:nvPr>
            <p:ph idx="1"/>
          </p:nvPr>
        </p:nvSpPr>
        <p:spPr>
          <a:xfrm>
            <a:off x="1664678" y="1600202"/>
            <a:ext cx="8804031" cy="4525963"/>
          </a:xfrm>
        </p:spPr>
        <p:txBody>
          <a:bodyPr>
            <a:normAutofit fontScale="92500" lnSpcReduction="10000"/>
          </a:bodyPr>
          <a:lstStyle/>
          <a:p>
            <a:pPr>
              <a:lnSpc>
                <a:spcPct val="115000"/>
              </a:lnSpc>
              <a:spcAft>
                <a:spcPts val="1000"/>
              </a:spcAft>
            </a:pPr>
            <a:r>
              <a:rPr lang="en-GB" sz="2400" dirty="0">
                <a:latin typeface="Calibri" panose="020F0502020204030204" pitchFamily="34" charset="0"/>
                <a:ea typeface="Calibri" panose="020F0502020204030204" pitchFamily="34" charset="0"/>
                <a:cs typeface="Times New Roman" panose="02020603050405020304" pitchFamily="18" charset="0"/>
              </a:rPr>
              <a:t>One particular concern that we, as lecturers, have is how to prevent fraud or plagiarism. This is an important issue, because we have to guarantee the integrity of the degree you will be getting through our programme. For this, </a:t>
            </a:r>
            <a:r>
              <a:rPr lang="en-GB"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we appeal to and rely on your academic honesty</a:t>
            </a:r>
            <a:r>
              <a:rPr lang="en-GB" sz="2400" dirty="0">
                <a:latin typeface="Calibri" panose="020F0502020204030204" pitchFamily="34" charset="0"/>
                <a:ea typeface="Calibri" panose="020F0502020204030204" pitchFamily="34" charset="0"/>
                <a:cs typeface="Times New Roman" panose="02020603050405020304" pitchFamily="18" charset="0"/>
              </a:rPr>
              <a:t>. Typically, an </a:t>
            </a:r>
            <a:r>
              <a:rPr lang="en-US" sz="2400" dirty="0">
                <a:latin typeface="Calibri" panose="020F0502020204030204" pitchFamily="34" charset="0"/>
                <a:ea typeface="Calibri" panose="020F0502020204030204" pitchFamily="34" charset="0"/>
                <a:cs typeface="Times New Roman" panose="02020603050405020304" pitchFamily="18" charset="0"/>
              </a:rPr>
              <a:t>open book </a:t>
            </a:r>
            <a:r>
              <a:rPr lang="en-GB" sz="2400" dirty="0">
                <a:latin typeface="Calibri" panose="020F0502020204030204" pitchFamily="34" charset="0"/>
                <a:ea typeface="Calibri" panose="020F0502020204030204" pitchFamily="34" charset="0"/>
                <a:cs typeface="Times New Roman" panose="02020603050405020304" pitchFamily="18" charset="0"/>
              </a:rPr>
              <a:t>exam/report will contain the following text:</a:t>
            </a:r>
            <a:endParaRPr lang="nl-NL" sz="24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dirty="0">
                <a:latin typeface="Calibri" panose="020F0502020204030204" pitchFamily="34" charset="0"/>
                <a:ea typeface="Calibri" panose="020F0502020204030204" pitchFamily="34" charset="0"/>
                <a:cs typeface="Times New Roman" panose="02020603050405020304" pitchFamily="18" charset="0"/>
              </a:rPr>
              <a:t>“During the exam, </a:t>
            </a:r>
            <a:r>
              <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the only communication allowed is with the lecturer</a:t>
            </a:r>
            <a:r>
              <a:rPr lang="en-US" sz="2400" dirty="0">
                <a:latin typeface="Calibri" panose="020F0502020204030204" pitchFamily="34" charset="0"/>
                <a:ea typeface="Calibri" panose="020F0502020204030204" pitchFamily="34" charset="0"/>
                <a:cs typeface="Times New Roman" panose="02020603050405020304" pitchFamily="18" charset="0"/>
              </a:rPr>
              <a:t>, who is available to offer clarification of the exam questions. As part of the assessment the examiner can contact you later for further discussion on the submitted report. </a:t>
            </a:r>
            <a:r>
              <a:rPr lang="en-US"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We expect academic honesty from you</a:t>
            </a:r>
            <a:r>
              <a:rPr lang="en-US" sz="2400" dirty="0">
                <a:latin typeface="Calibri" panose="020F0502020204030204" pitchFamily="34" charset="0"/>
                <a:ea typeface="Calibri" panose="020F0502020204030204" pitchFamily="34" charset="0"/>
                <a:cs typeface="Times New Roman" panose="02020603050405020304" pitchFamily="18" charset="0"/>
              </a:rPr>
              <a:t>, and that all work handed in is your own. As a proof of that commitment, please insert below this paragraph a scan or photo of your signature.”</a:t>
            </a:r>
            <a:endParaRPr lang="nl-NL" sz="2400" dirty="0">
              <a:latin typeface="Calibri" panose="020F0502020204030204" pitchFamily="34" charset="0"/>
              <a:ea typeface="Calibri" panose="020F0502020204030204" pitchFamily="34" charset="0"/>
              <a:cs typeface="Times New Roman" panose="02020603050405020304" pitchFamily="18" charset="0"/>
            </a:endParaRPr>
          </a:p>
          <a:p>
            <a:endParaRPr lang="nl-NL" sz="2400" dirty="0"/>
          </a:p>
        </p:txBody>
      </p:sp>
    </p:spTree>
    <p:extLst>
      <p:ext uri="{BB962C8B-B14F-4D97-AF65-F5344CB8AC3E}">
        <p14:creationId xmlns:p14="http://schemas.microsoft.com/office/powerpoint/2010/main" val="3198278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C58422-EE2D-210E-1067-DDF5071ED5CD}"/>
              </a:ext>
            </a:extLst>
          </p:cNvPr>
          <p:cNvSpPr>
            <a:spLocks noGrp="1"/>
          </p:cNvSpPr>
          <p:nvPr>
            <p:ph type="title"/>
          </p:nvPr>
        </p:nvSpPr>
        <p:spPr>
          <a:xfrm>
            <a:off x="1981200" y="575432"/>
            <a:ext cx="8229600" cy="1143000"/>
          </a:xfrm>
        </p:spPr>
        <p:txBody>
          <a:bodyPr/>
          <a:lstStyle/>
          <a:p>
            <a:r>
              <a:rPr lang="nl-NL" dirty="0" err="1"/>
              <a:t>Usage</a:t>
            </a:r>
            <a:r>
              <a:rPr lang="nl-NL" dirty="0"/>
              <a:t> of AI tools in </a:t>
            </a:r>
            <a:r>
              <a:rPr lang="nl-NL" dirty="0" err="1"/>
              <a:t>education</a:t>
            </a:r>
            <a:endParaRPr lang="nl-NL" dirty="0"/>
          </a:p>
        </p:txBody>
      </p:sp>
      <p:sp>
        <p:nvSpPr>
          <p:cNvPr id="3" name="Tijdelijke aanduiding voor inhoud 2">
            <a:extLst>
              <a:ext uri="{FF2B5EF4-FFF2-40B4-BE49-F238E27FC236}">
                <a16:creationId xmlns:a16="http://schemas.microsoft.com/office/drawing/2014/main" id="{B0CC3401-08A3-DD52-08BB-C8C6870244C8}"/>
              </a:ext>
            </a:extLst>
          </p:cNvPr>
          <p:cNvSpPr>
            <a:spLocks noGrp="1"/>
          </p:cNvSpPr>
          <p:nvPr>
            <p:ph idx="1"/>
          </p:nvPr>
        </p:nvSpPr>
        <p:spPr/>
        <p:txBody>
          <a:bodyPr>
            <a:normAutofit/>
          </a:bodyPr>
          <a:lstStyle/>
          <a:p>
            <a:r>
              <a:rPr lang="en-US" dirty="0"/>
              <a:t>Be transparent about your use of AI tools in your research or writing, and clearly identify any outputs generated with the help of AI.</a:t>
            </a:r>
          </a:p>
          <a:p>
            <a:r>
              <a:rPr lang="en-US" dirty="0">
                <a:hlinkClick r:id="rId2"/>
              </a:rPr>
              <a:t>https://canvas.uva.nl/courses/6070/pages/responsible-use-of-ai-tools</a:t>
            </a:r>
            <a:r>
              <a:rPr lang="en-US" dirty="0"/>
              <a:t> </a:t>
            </a:r>
          </a:p>
          <a:p>
            <a:endParaRPr lang="nl-NL" dirty="0"/>
          </a:p>
          <a:p>
            <a:endParaRPr lang="nl-NL" dirty="0"/>
          </a:p>
          <a:p>
            <a:endParaRPr lang="nl-NL" dirty="0"/>
          </a:p>
        </p:txBody>
      </p:sp>
    </p:spTree>
    <p:extLst>
      <p:ext uri="{BB962C8B-B14F-4D97-AF65-F5344CB8AC3E}">
        <p14:creationId xmlns:p14="http://schemas.microsoft.com/office/powerpoint/2010/main" val="2988745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CE34F-8936-FE46-48E7-84B5968617D5}"/>
              </a:ext>
            </a:extLst>
          </p:cNvPr>
          <p:cNvSpPr>
            <a:spLocks noGrp="1"/>
          </p:cNvSpPr>
          <p:nvPr>
            <p:ph type="title"/>
          </p:nvPr>
        </p:nvSpPr>
        <p:spPr>
          <a:xfrm>
            <a:off x="1981200" y="515277"/>
            <a:ext cx="8229600" cy="1143000"/>
          </a:xfrm>
        </p:spPr>
        <p:txBody>
          <a:bodyPr/>
          <a:lstStyle/>
          <a:p>
            <a:r>
              <a:rPr lang="nl-NL" dirty="0"/>
              <a:t>Rules </a:t>
            </a:r>
            <a:r>
              <a:rPr lang="nl-NL" dirty="0" err="1"/>
              <a:t>for</a:t>
            </a:r>
            <a:r>
              <a:rPr lang="nl-NL" dirty="0"/>
              <a:t> </a:t>
            </a:r>
            <a:r>
              <a:rPr lang="nl-NL" dirty="0" err="1"/>
              <a:t>the</a:t>
            </a:r>
            <a:r>
              <a:rPr lang="nl-NL" dirty="0"/>
              <a:t> </a:t>
            </a:r>
            <a:r>
              <a:rPr lang="nl-NL" dirty="0" err="1"/>
              <a:t>usage</a:t>
            </a:r>
            <a:r>
              <a:rPr lang="nl-NL" dirty="0"/>
              <a:t> of AI </a:t>
            </a:r>
          </a:p>
        </p:txBody>
      </p:sp>
      <p:sp>
        <p:nvSpPr>
          <p:cNvPr id="3" name="Tijdelijke aanduiding voor inhoud 2">
            <a:extLst>
              <a:ext uri="{FF2B5EF4-FFF2-40B4-BE49-F238E27FC236}">
                <a16:creationId xmlns:a16="http://schemas.microsoft.com/office/drawing/2014/main" id="{4392CB7D-1752-E800-7000-73F2487EBD70}"/>
              </a:ext>
            </a:extLst>
          </p:cNvPr>
          <p:cNvSpPr>
            <a:spLocks noGrp="1"/>
          </p:cNvSpPr>
          <p:nvPr>
            <p:ph idx="1"/>
          </p:nvPr>
        </p:nvSpPr>
        <p:spPr>
          <a:xfrm>
            <a:off x="1981200" y="1600201"/>
            <a:ext cx="8566484" cy="4983160"/>
          </a:xfrm>
        </p:spPr>
        <p:txBody>
          <a:bodyPr>
            <a:normAutofit lnSpcReduction="10000"/>
          </a:bodyPr>
          <a:lstStyle/>
          <a:p>
            <a:pPr marL="0" indent="0">
              <a:buNone/>
            </a:pPr>
            <a:r>
              <a:rPr lang="en-US" b="0" i="0" dirty="0">
                <a:solidFill>
                  <a:srgbClr val="242424"/>
                </a:solidFill>
                <a:effectLst/>
                <a:latin typeface="Segoe UI" panose="020B0502040204020203" pitchFamily="34" charset="0"/>
              </a:rPr>
              <a:t>"The normal plagiarism rules apply to the Assignments. That means that you must submit your own work, and if you copy code from someone else (including code you found online or using generative AI such as Bing or MS Copilot, ChatGPT or </a:t>
            </a:r>
            <a:r>
              <a:rPr lang="en-US" b="0" i="0" dirty="0" err="1">
                <a:solidFill>
                  <a:srgbClr val="242424"/>
                </a:solidFill>
                <a:effectLst/>
                <a:latin typeface="Segoe UI" panose="020B0502040204020203" pitchFamily="34" charset="0"/>
              </a:rPr>
              <a:t>Github</a:t>
            </a:r>
            <a:r>
              <a:rPr lang="en-US" b="0" i="0" dirty="0">
                <a:solidFill>
                  <a:srgbClr val="242424"/>
                </a:solidFill>
                <a:effectLst/>
                <a:latin typeface="Segoe UI" panose="020B0502040204020203" pitchFamily="34" charset="0"/>
              </a:rPr>
              <a:t> Copilot) without adapting it substantially yourself, you need to give credit for it, so that we can properly judge the parts that you did for yourself and not give credit to you for work done by others. It is however fine to work together and discuss possible solutions with others but copying other people's work verbatim (or with only minor adaptation) and without credit is absolutely forbidden, and suspected cases will be reported to the Examination Board."</a:t>
            </a:r>
            <a:endParaRPr lang="nl-NL" dirty="0"/>
          </a:p>
        </p:txBody>
      </p:sp>
    </p:spTree>
    <p:extLst>
      <p:ext uri="{BB962C8B-B14F-4D97-AF65-F5344CB8AC3E}">
        <p14:creationId xmlns:p14="http://schemas.microsoft.com/office/powerpoint/2010/main" val="699097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Content classes Ed / Simone</a:t>
            </a:r>
          </a:p>
        </p:txBody>
      </p:sp>
      <p:sp>
        <p:nvSpPr>
          <p:cNvPr id="3" name="Content Placeholder 2"/>
          <p:cNvSpPr>
            <a:spLocks noGrp="1"/>
          </p:cNvSpPr>
          <p:nvPr>
            <p:ph idx="1"/>
          </p:nvPr>
        </p:nvSpPr>
        <p:spPr/>
        <p:txBody>
          <a:bodyPr>
            <a:normAutofit fontScale="92500" lnSpcReduction="20000"/>
          </a:bodyPr>
          <a:lstStyle/>
          <a:p>
            <a:r>
              <a:rPr lang="nl-NL" dirty="0" err="1"/>
              <a:t>Introduction</a:t>
            </a:r>
            <a:r>
              <a:rPr lang="nl-NL" dirty="0"/>
              <a:t> of a range of </a:t>
            </a:r>
            <a:r>
              <a:rPr lang="nl-NL" dirty="0" err="1"/>
              <a:t>physical</a:t>
            </a:r>
            <a:r>
              <a:rPr lang="nl-NL" dirty="0"/>
              <a:t> relations and </a:t>
            </a:r>
            <a:r>
              <a:rPr lang="nl-NL" dirty="0" err="1"/>
              <a:t>their</a:t>
            </a:r>
            <a:r>
              <a:rPr lang="nl-NL" dirty="0"/>
              <a:t> </a:t>
            </a:r>
            <a:r>
              <a:rPr lang="nl-NL" dirty="0" err="1"/>
              <a:t>relevance</a:t>
            </a:r>
            <a:r>
              <a:rPr lang="nl-NL" dirty="0"/>
              <a:t> </a:t>
            </a:r>
            <a:r>
              <a:rPr lang="nl-NL" dirty="0" err="1"/>
              <a:t>for</a:t>
            </a:r>
            <a:r>
              <a:rPr lang="nl-NL" dirty="0"/>
              <a:t> </a:t>
            </a:r>
            <a:r>
              <a:rPr lang="nl-NL" dirty="0" err="1"/>
              <a:t>physiology</a:t>
            </a:r>
            <a:endParaRPr lang="nl-NL" dirty="0"/>
          </a:p>
          <a:p>
            <a:r>
              <a:rPr lang="nl-NL" dirty="0" err="1"/>
              <a:t>Cardiovascular</a:t>
            </a:r>
            <a:r>
              <a:rPr lang="nl-NL" dirty="0"/>
              <a:t> system</a:t>
            </a:r>
          </a:p>
          <a:p>
            <a:r>
              <a:rPr lang="nl-NL" dirty="0"/>
              <a:t>Learning goal </a:t>
            </a:r>
            <a:r>
              <a:rPr lang="nl-NL" dirty="0" err="1"/>
              <a:t>this</a:t>
            </a:r>
            <a:r>
              <a:rPr lang="nl-NL" dirty="0"/>
              <a:t> part: </a:t>
            </a:r>
            <a:r>
              <a:rPr lang="nl-NL" dirty="0" err="1"/>
              <a:t>learn</a:t>
            </a:r>
            <a:r>
              <a:rPr lang="nl-NL" dirty="0"/>
              <a:t> </a:t>
            </a:r>
            <a:r>
              <a:rPr lang="nl-NL" dirty="0" err="1"/>
              <a:t>to</a:t>
            </a:r>
            <a:r>
              <a:rPr lang="nl-NL" dirty="0"/>
              <a:t> </a:t>
            </a:r>
            <a:r>
              <a:rPr lang="nl-NL" dirty="0" err="1"/>
              <a:t>apply</a:t>
            </a:r>
            <a:r>
              <a:rPr lang="nl-NL" dirty="0"/>
              <a:t> </a:t>
            </a:r>
            <a:r>
              <a:rPr lang="nl-NL" dirty="0" err="1"/>
              <a:t>physical</a:t>
            </a:r>
            <a:r>
              <a:rPr lang="nl-NL" dirty="0"/>
              <a:t> relations </a:t>
            </a:r>
            <a:r>
              <a:rPr lang="nl-NL" dirty="0" err="1"/>
              <a:t>for</a:t>
            </a:r>
            <a:r>
              <a:rPr lang="nl-NL" dirty="0"/>
              <a:t> </a:t>
            </a:r>
            <a:r>
              <a:rPr lang="nl-NL" dirty="0" err="1"/>
              <a:t>analyzing</a:t>
            </a:r>
            <a:r>
              <a:rPr lang="nl-NL" dirty="0"/>
              <a:t> (new) </a:t>
            </a:r>
            <a:r>
              <a:rPr lang="nl-NL" dirty="0" err="1"/>
              <a:t>physiological</a:t>
            </a:r>
            <a:r>
              <a:rPr lang="nl-NL" dirty="0"/>
              <a:t> systems. </a:t>
            </a:r>
          </a:p>
          <a:p>
            <a:r>
              <a:rPr lang="nl-NL" dirty="0"/>
              <a:t>Understand / </a:t>
            </a:r>
            <a:r>
              <a:rPr lang="nl-NL" dirty="0" err="1"/>
              <a:t>apply</a:t>
            </a:r>
            <a:r>
              <a:rPr lang="nl-NL" dirty="0"/>
              <a:t> / </a:t>
            </a:r>
            <a:r>
              <a:rPr lang="nl-NL" dirty="0" err="1"/>
              <a:t>analyze</a:t>
            </a:r>
            <a:r>
              <a:rPr lang="nl-NL" dirty="0"/>
              <a:t> / </a:t>
            </a:r>
            <a:r>
              <a:rPr lang="nl-NL" dirty="0" err="1"/>
              <a:t>create</a:t>
            </a:r>
            <a:r>
              <a:rPr lang="nl-NL" dirty="0"/>
              <a:t>; NOT MEMORIZE</a:t>
            </a:r>
          </a:p>
          <a:p>
            <a:r>
              <a:rPr lang="nl-NL" dirty="0"/>
              <a:t>Six classes of </a:t>
            </a:r>
            <a:r>
              <a:rPr lang="nl-NL" dirty="0" err="1"/>
              <a:t>four</a:t>
            </a:r>
            <a:r>
              <a:rPr lang="nl-NL" dirty="0"/>
              <a:t> </a:t>
            </a:r>
            <a:r>
              <a:rPr lang="nl-NL" dirty="0" err="1"/>
              <a:t>hours</a:t>
            </a:r>
            <a:r>
              <a:rPr lang="nl-NL" dirty="0"/>
              <a:t> </a:t>
            </a:r>
            <a:r>
              <a:rPr lang="nl-NL" dirty="0" err="1"/>
              <a:t>each</a:t>
            </a:r>
            <a:endParaRPr lang="nl-NL" dirty="0"/>
          </a:p>
          <a:p>
            <a:r>
              <a:rPr lang="nl-NL" dirty="0"/>
              <a:t>Group </a:t>
            </a:r>
            <a:r>
              <a:rPr lang="nl-NL" dirty="0" err="1"/>
              <a:t>assignments</a:t>
            </a:r>
            <a:r>
              <a:rPr lang="nl-NL" dirty="0"/>
              <a:t> in class and </a:t>
            </a:r>
            <a:r>
              <a:rPr lang="nl-NL" dirty="0" err="1"/>
              <a:t>after</a:t>
            </a:r>
            <a:r>
              <a:rPr lang="nl-NL" dirty="0"/>
              <a:t> class, </a:t>
            </a:r>
            <a:r>
              <a:rPr lang="nl-NL" dirty="0" err="1"/>
              <a:t>straightforward-challenging-too</a:t>
            </a:r>
            <a:r>
              <a:rPr lang="nl-NL" dirty="0"/>
              <a:t> </a:t>
            </a:r>
            <a:r>
              <a:rPr lang="nl-NL" dirty="0" err="1"/>
              <a:t>challenging</a:t>
            </a:r>
            <a:r>
              <a:rPr lang="nl-NL" dirty="0"/>
              <a:t>.</a:t>
            </a:r>
          </a:p>
          <a:p>
            <a:r>
              <a:rPr lang="nl-NL" dirty="0"/>
              <a:t>Mathematical </a:t>
            </a:r>
            <a:r>
              <a:rPr lang="nl-NL" dirty="0" err="1"/>
              <a:t>assignments</a:t>
            </a:r>
            <a:r>
              <a:rPr lang="nl-NL" dirty="0"/>
              <a:t> but no / </a:t>
            </a:r>
            <a:r>
              <a:rPr lang="nl-NL" dirty="0" err="1"/>
              <a:t>only</a:t>
            </a:r>
            <a:r>
              <a:rPr lang="nl-NL" dirty="0"/>
              <a:t> few </a:t>
            </a:r>
            <a:r>
              <a:rPr lang="nl-NL" dirty="0" err="1"/>
              <a:t>coding</a:t>
            </a:r>
            <a:r>
              <a:rPr lang="nl-NL" dirty="0"/>
              <a:t> </a:t>
            </a:r>
            <a:r>
              <a:rPr lang="nl-NL" dirty="0" err="1"/>
              <a:t>assignments</a:t>
            </a:r>
            <a:r>
              <a:rPr lang="nl-NL" dirty="0"/>
              <a:t> here</a:t>
            </a:r>
          </a:p>
          <a:p>
            <a:r>
              <a:rPr lang="nl-NL" dirty="0" err="1"/>
              <a:t>October</a:t>
            </a:r>
            <a:r>
              <a:rPr lang="nl-NL" dirty="0"/>
              <a:t> </a:t>
            </a:r>
            <a:r>
              <a:rPr lang="nl-NL" dirty="0" err="1"/>
              <a:t>group</a:t>
            </a:r>
            <a:r>
              <a:rPr lang="nl-NL" dirty="0"/>
              <a:t> </a:t>
            </a:r>
            <a:r>
              <a:rPr lang="nl-NL" dirty="0" err="1"/>
              <a:t>assignments</a:t>
            </a:r>
            <a:r>
              <a:rPr lang="nl-NL" dirty="0"/>
              <a:t> </a:t>
            </a:r>
            <a:r>
              <a:rPr lang="nl-NL" dirty="0" err="1"/>
              <a:t>will</a:t>
            </a:r>
            <a:r>
              <a:rPr lang="nl-NL" dirty="0"/>
              <a:t> </a:t>
            </a:r>
            <a:r>
              <a:rPr lang="nl-NL" dirty="0" err="1"/>
              <a:t>be</a:t>
            </a:r>
            <a:r>
              <a:rPr lang="nl-NL" dirty="0"/>
              <a:t> python </a:t>
            </a:r>
            <a:r>
              <a:rPr lang="nl-NL" dirty="0" err="1"/>
              <a:t>based</a:t>
            </a:r>
            <a:endParaRPr lang="nl-NL" dirty="0"/>
          </a:p>
          <a:p>
            <a:endParaRPr lang="nl-NL" dirty="0"/>
          </a:p>
        </p:txBody>
      </p:sp>
    </p:spTree>
    <p:extLst>
      <p:ext uri="{BB962C8B-B14F-4D97-AF65-F5344CB8AC3E}">
        <p14:creationId xmlns:p14="http://schemas.microsoft.com/office/powerpoint/2010/main" val="154194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D5FC90ED-B72D-92E5-D6F1-30C63754DC45}"/>
              </a:ext>
            </a:extLst>
          </p:cNvPr>
          <p:cNvPicPr>
            <a:picLocks noChangeAspect="1"/>
          </p:cNvPicPr>
          <p:nvPr/>
        </p:nvPicPr>
        <p:blipFill>
          <a:blip r:embed="rId2"/>
          <a:stretch>
            <a:fillRect/>
          </a:stretch>
        </p:blipFill>
        <p:spPr>
          <a:xfrm>
            <a:off x="139265" y="77180"/>
            <a:ext cx="11989947" cy="6593783"/>
          </a:xfrm>
          <a:prstGeom prst="rect">
            <a:avLst/>
          </a:prstGeom>
        </p:spPr>
      </p:pic>
    </p:spTree>
    <p:extLst>
      <p:ext uri="{BB962C8B-B14F-4D97-AF65-F5344CB8AC3E}">
        <p14:creationId xmlns:p14="http://schemas.microsoft.com/office/powerpoint/2010/main" val="1199357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Content classes Ed / Simone</a:t>
            </a:r>
          </a:p>
        </p:txBody>
      </p:sp>
      <p:sp>
        <p:nvSpPr>
          <p:cNvPr id="5" name="Tijdelijke aanduiding voor inhoud 4">
            <a:extLst>
              <a:ext uri="{FF2B5EF4-FFF2-40B4-BE49-F238E27FC236}">
                <a16:creationId xmlns:a16="http://schemas.microsoft.com/office/drawing/2014/main" id="{83B14C5C-31E9-A9A3-6155-FA96516BBFB3}"/>
              </a:ext>
            </a:extLst>
          </p:cNvPr>
          <p:cNvSpPr>
            <a:spLocks noGrp="1"/>
          </p:cNvSpPr>
          <p:nvPr>
            <p:ph idx="1"/>
          </p:nvPr>
        </p:nvSpPr>
        <p:spPr/>
        <p:txBody>
          <a:bodyPr/>
          <a:lstStyle/>
          <a:p>
            <a:r>
              <a:rPr lang="en-US" dirty="0"/>
              <a:t>Description of each class will be on Canvas</a:t>
            </a:r>
          </a:p>
          <a:p>
            <a:pPr lvl="1"/>
            <a:r>
              <a:rPr lang="en-US" dirty="0"/>
              <a:t>Keywords</a:t>
            </a:r>
          </a:p>
          <a:p>
            <a:pPr lvl="1"/>
            <a:r>
              <a:rPr lang="en-US" dirty="0"/>
              <a:t>Learning goals</a:t>
            </a:r>
          </a:p>
          <a:p>
            <a:pPr lvl="1"/>
            <a:r>
              <a:rPr lang="en-US" dirty="0"/>
              <a:t>Study material</a:t>
            </a:r>
          </a:p>
          <a:p>
            <a:pPr lvl="2"/>
            <a:r>
              <a:rPr lang="en-US" dirty="0"/>
              <a:t>Mostly </a:t>
            </a:r>
            <a:r>
              <a:rPr lang="en-US" dirty="0" err="1"/>
              <a:t>powerpoints</a:t>
            </a:r>
            <a:r>
              <a:rPr lang="en-US" dirty="0"/>
              <a:t> WITH NOTES</a:t>
            </a:r>
          </a:p>
          <a:p>
            <a:pPr lvl="2"/>
            <a:r>
              <a:rPr lang="en-US" dirty="0"/>
              <a:t>Some additional suggestions</a:t>
            </a:r>
          </a:p>
          <a:p>
            <a:pPr lvl="2"/>
            <a:r>
              <a:rPr lang="en-US" dirty="0"/>
              <a:t>You may want to consult:</a:t>
            </a:r>
          </a:p>
          <a:p>
            <a:pPr lvl="1"/>
            <a:r>
              <a:rPr lang="en-US" dirty="0"/>
              <a:t>Group assignments</a:t>
            </a:r>
          </a:p>
          <a:p>
            <a:pPr lvl="2"/>
            <a:endParaRPr lang="en-US" dirty="0"/>
          </a:p>
          <a:p>
            <a:pPr lvl="2"/>
            <a:endParaRPr lang="nl-NL" dirty="0"/>
          </a:p>
        </p:txBody>
      </p:sp>
      <p:pic>
        <p:nvPicPr>
          <p:cNvPr id="4" name="Afbeelding 3">
            <a:extLst>
              <a:ext uri="{FF2B5EF4-FFF2-40B4-BE49-F238E27FC236}">
                <a16:creationId xmlns:a16="http://schemas.microsoft.com/office/drawing/2014/main" id="{35D9DC9A-59B0-0273-53D1-4D8259FCD5CC}"/>
              </a:ext>
            </a:extLst>
          </p:cNvPr>
          <p:cNvPicPr>
            <a:picLocks noChangeAspect="1"/>
          </p:cNvPicPr>
          <p:nvPr/>
        </p:nvPicPr>
        <p:blipFill>
          <a:blip r:embed="rId2"/>
          <a:stretch>
            <a:fillRect/>
          </a:stretch>
        </p:blipFill>
        <p:spPr>
          <a:xfrm>
            <a:off x="7943776" y="552322"/>
            <a:ext cx="3410024" cy="4740765"/>
          </a:xfrm>
          <a:prstGeom prst="rect">
            <a:avLst/>
          </a:prstGeom>
        </p:spPr>
      </p:pic>
      <p:pic>
        <p:nvPicPr>
          <p:cNvPr id="8" name="Afbeelding 7">
            <a:extLst>
              <a:ext uri="{FF2B5EF4-FFF2-40B4-BE49-F238E27FC236}">
                <a16:creationId xmlns:a16="http://schemas.microsoft.com/office/drawing/2014/main" id="{7869D392-5C1B-BA17-9A3A-F6A229B89D42}"/>
              </a:ext>
            </a:extLst>
          </p:cNvPr>
          <p:cNvPicPr>
            <a:picLocks noChangeAspect="1"/>
          </p:cNvPicPr>
          <p:nvPr/>
        </p:nvPicPr>
        <p:blipFill>
          <a:blip r:embed="rId3"/>
          <a:stretch>
            <a:fillRect/>
          </a:stretch>
        </p:blipFill>
        <p:spPr>
          <a:xfrm>
            <a:off x="4835886" y="4089173"/>
            <a:ext cx="1600721" cy="1333254"/>
          </a:xfrm>
          <a:prstGeom prst="rect">
            <a:avLst/>
          </a:prstGeom>
        </p:spPr>
      </p:pic>
      <p:sp>
        <p:nvSpPr>
          <p:cNvPr id="10" name="Tekstvak 9">
            <a:extLst>
              <a:ext uri="{FF2B5EF4-FFF2-40B4-BE49-F238E27FC236}">
                <a16:creationId xmlns:a16="http://schemas.microsoft.com/office/drawing/2014/main" id="{DF851BF4-CB44-65C9-EFA1-97C085AEE3D1}"/>
              </a:ext>
            </a:extLst>
          </p:cNvPr>
          <p:cNvSpPr txBox="1"/>
          <p:nvPr/>
        </p:nvSpPr>
        <p:spPr>
          <a:xfrm>
            <a:off x="813651" y="5557364"/>
            <a:ext cx="6097022" cy="369332"/>
          </a:xfrm>
          <a:prstGeom prst="rect">
            <a:avLst/>
          </a:prstGeom>
          <a:noFill/>
        </p:spPr>
        <p:txBody>
          <a:bodyPr wrap="square">
            <a:spAutoFit/>
          </a:bodyPr>
          <a:lstStyle/>
          <a:p>
            <a:r>
              <a:rPr lang="nl-NL" dirty="0">
                <a:hlinkClick r:id="rId4"/>
              </a:rPr>
              <a:t>https://www.bol.com/nl/nl/f/medical-physiology/38743877/</a:t>
            </a:r>
            <a:r>
              <a:rPr lang="nl-NL" dirty="0"/>
              <a:t> </a:t>
            </a:r>
          </a:p>
        </p:txBody>
      </p:sp>
    </p:spTree>
    <p:extLst>
      <p:ext uri="{BB962C8B-B14F-4D97-AF65-F5344CB8AC3E}">
        <p14:creationId xmlns:p14="http://schemas.microsoft.com/office/powerpoint/2010/main" val="4152179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Content classes Ed / Simone</a:t>
            </a:r>
          </a:p>
        </p:txBody>
      </p:sp>
      <p:sp>
        <p:nvSpPr>
          <p:cNvPr id="6" name="Tijdelijke aanduiding voor inhoud 5">
            <a:extLst>
              <a:ext uri="{FF2B5EF4-FFF2-40B4-BE49-F238E27FC236}">
                <a16:creationId xmlns:a16="http://schemas.microsoft.com/office/drawing/2014/main" id="{8B1D2252-A85D-D676-378A-78F075A9E5D8}"/>
              </a:ext>
            </a:extLst>
          </p:cNvPr>
          <p:cNvSpPr>
            <a:spLocks noGrp="1"/>
          </p:cNvSpPr>
          <p:nvPr>
            <p:ph idx="1"/>
          </p:nvPr>
        </p:nvSpPr>
        <p:spPr/>
        <p:txBody>
          <a:bodyPr>
            <a:normAutofit fontScale="77500" lnSpcReduction="20000"/>
          </a:bodyPr>
          <a:lstStyle/>
          <a:p>
            <a:pPr marL="0" indent="0">
              <a:buNone/>
            </a:pPr>
            <a:r>
              <a:rPr lang="en-US" dirty="0"/>
              <a:t>On Canvas for each of six classes:</a:t>
            </a:r>
          </a:p>
          <a:p>
            <a:r>
              <a:rPr lang="en-US" dirty="0"/>
              <a:t>Description of class</a:t>
            </a:r>
          </a:p>
          <a:p>
            <a:r>
              <a:rPr lang="en-US" dirty="0"/>
              <a:t>Slides and notes therein</a:t>
            </a:r>
          </a:p>
          <a:p>
            <a:r>
              <a:rPr lang="en-US" dirty="0"/>
              <a:t>Any additional documents of interest</a:t>
            </a:r>
          </a:p>
          <a:p>
            <a:r>
              <a:rPr lang="en-US" dirty="0"/>
              <a:t>Model answers to group assignments (after the deadline)</a:t>
            </a:r>
          </a:p>
          <a:p>
            <a:endParaRPr lang="en-US" dirty="0"/>
          </a:p>
          <a:p>
            <a:pPr marL="0" indent="0">
              <a:buNone/>
            </a:pPr>
            <a:r>
              <a:rPr lang="en-US" dirty="0"/>
              <a:t>Bring the group assignments to class yourselves!  We won’t distribute them</a:t>
            </a:r>
          </a:p>
          <a:p>
            <a:endParaRPr lang="en-US" dirty="0"/>
          </a:p>
          <a:p>
            <a:pPr marL="0" indent="0">
              <a:buNone/>
            </a:pPr>
            <a:r>
              <a:rPr lang="en-US" dirty="0"/>
              <a:t>Feedback on your assignment answers</a:t>
            </a:r>
          </a:p>
          <a:p>
            <a:r>
              <a:rPr lang="en-US" dirty="0"/>
              <a:t>Mostly in class</a:t>
            </a:r>
          </a:p>
          <a:p>
            <a:r>
              <a:rPr lang="en-US" dirty="0"/>
              <a:t>For work done at home: general feedback, not per group but comments on Canvas and/or discussion at start of next class. </a:t>
            </a:r>
          </a:p>
          <a:p>
            <a:endParaRPr lang="nl-NL" dirty="0"/>
          </a:p>
        </p:txBody>
      </p:sp>
    </p:spTree>
    <p:extLst>
      <p:ext uri="{BB962C8B-B14F-4D97-AF65-F5344CB8AC3E}">
        <p14:creationId xmlns:p14="http://schemas.microsoft.com/office/powerpoint/2010/main" val="2226035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Content classes Ed / Simone</a:t>
            </a:r>
          </a:p>
        </p:txBody>
      </p:sp>
      <p:sp>
        <p:nvSpPr>
          <p:cNvPr id="3" name="Content Placeholder 2"/>
          <p:cNvSpPr>
            <a:spLocks noGrp="1"/>
          </p:cNvSpPr>
          <p:nvPr>
            <p:ph idx="1"/>
          </p:nvPr>
        </p:nvSpPr>
        <p:spPr/>
        <p:txBody>
          <a:bodyPr>
            <a:normAutofit fontScale="92500" lnSpcReduction="10000"/>
          </a:bodyPr>
          <a:lstStyle/>
          <a:p>
            <a:r>
              <a:rPr lang="en-US" dirty="0"/>
              <a:t>Groups: Work in groups of four.</a:t>
            </a:r>
          </a:p>
          <a:p>
            <a:r>
              <a:rPr lang="en-US" dirty="0"/>
              <a:t>Keep the same group throughout the 6 content classes.</a:t>
            </a:r>
          </a:p>
          <a:p>
            <a:r>
              <a:rPr lang="en-US" dirty="0"/>
              <a:t>Assignments are done in class and (for class 1-5) after class</a:t>
            </a:r>
          </a:p>
          <a:p>
            <a:r>
              <a:rPr lang="en-US" dirty="0"/>
              <a:t>Each student hands in the answers to the assignment in Canvas </a:t>
            </a:r>
            <a:r>
              <a:rPr lang="en-US" b="1" u="sng" dirty="0"/>
              <a:t>before the deadline</a:t>
            </a:r>
            <a:r>
              <a:rPr lang="en-US" dirty="0"/>
              <a:t> (typically start of next class but see Canvas assignments</a:t>
            </a:r>
            <a:r>
              <a:rPr lang="en-US" b="1" u="sng" dirty="0"/>
              <a:t>)</a:t>
            </a:r>
            <a:r>
              <a:rPr lang="en-US" dirty="0"/>
              <a:t>. </a:t>
            </a:r>
          </a:p>
          <a:p>
            <a:pPr lvl="1"/>
            <a:r>
              <a:rPr lang="en-US" dirty="0"/>
              <a:t>A single pdf (the same for all group members if you worked on it together)</a:t>
            </a:r>
          </a:p>
          <a:p>
            <a:pPr lvl="1"/>
            <a:r>
              <a:rPr lang="en-US" dirty="0"/>
              <a:t>Indicate name / student number / group number</a:t>
            </a:r>
          </a:p>
          <a:p>
            <a:pPr lvl="1"/>
            <a:r>
              <a:rPr lang="en-US" dirty="0"/>
              <a:t>Use decent handwriting if you scan in </a:t>
            </a:r>
          </a:p>
          <a:p>
            <a:pPr lvl="1"/>
            <a:r>
              <a:rPr lang="en-US" dirty="0"/>
              <a:t>Each student actively contributes to at least 5 of the 6 sets of assignments</a:t>
            </a:r>
          </a:p>
          <a:p>
            <a:r>
              <a:rPr lang="en-US" dirty="0"/>
              <a:t>Make assignments together, don’t distribute tasks</a:t>
            </a:r>
          </a:p>
          <a:p>
            <a:r>
              <a:rPr lang="en-US" dirty="0"/>
              <a:t>Ensure all group members are participating</a:t>
            </a:r>
          </a:p>
          <a:p>
            <a:pPr lvl="1"/>
            <a:endParaRPr lang="nl-NL" dirty="0"/>
          </a:p>
        </p:txBody>
      </p:sp>
    </p:spTree>
    <p:extLst>
      <p:ext uri="{BB962C8B-B14F-4D97-AF65-F5344CB8AC3E}">
        <p14:creationId xmlns:p14="http://schemas.microsoft.com/office/powerpoint/2010/main" val="1480149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B870D5-CB4E-9809-C124-D4E89516846A}"/>
              </a:ext>
            </a:extLst>
          </p:cNvPr>
          <p:cNvSpPr>
            <a:spLocks noGrp="1"/>
          </p:cNvSpPr>
          <p:nvPr>
            <p:ph type="title"/>
          </p:nvPr>
        </p:nvSpPr>
        <p:spPr/>
        <p:txBody>
          <a:bodyPr/>
          <a:lstStyle/>
          <a:p>
            <a:endParaRPr lang="nl-NL"/>
          </a:p>
        </p:txBody>
      </p:sp>
      <p:sp>
        <p:nvSpPr>
          <p:cNvPr id="3" name="Tijdelijke aanduiding voor inhoud 2">
            <a:extLst>
              <a:ext uri="{FF2B5EF4-FFF2-40B4-BE49-F238E27FC236}">
                <a16:creationId xmlns:a16="http://schemas.microsoft.com/office/drawing/2014/main" id="{E22D9663-E240-6ACE-CEB9-05DAF097E7FC}"/>
              </a:ext>
            </a:extLst>
          </p:cNvPr>
          <p:cNvSpPr>
            <a:spLocks noGrp="1"/>
          </p:cNvSpPr>
          <p:nvPr>
            <p:ph idx="1"/>
          </p:nvPr>
        </p:nvSpPr>
        <p:spPr/>
        <p:txBody>
          <a:bodyPr/>
          <a:lstStyle/>
          <a:p>
            <a:pPr marL="0" indent="0">
              <a:buNone/>
            </a:pPr>
            <a:r>
              <a:rPr lang="nl-NL" dirty="0" err="1"/>
              <a:t>Groups</a:t>
            </a:r>
            <a:r>
              <a:rPr lang="nl-NL" dirty="0"/>
              <a:t>…</a:t>
            </a:r>
          </a:p>
        </p:txBody>
      </p:sp>
    </p:spTree>
    <p:extLst>
      <p:ext uri="{BB962C8B-B14F-4D97-AF65-F5344CB8AC3E}">
        <p14:creationId xmlns:p14="http://schemas.microsoft.com/office/powerpoint/2010/main" val="3808513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From</a:t>
            </a:r>
            <a:r>
              <a:rPr lang="nl-NL" dirty="0"/>
              <a:t> </a:t>
            </a:r>
            <a:r>
              <a:rPr lang="nl-NL" dirty="0" err="1"/>
              <a:t>Physics</a:t>
            </a:r>
            <a:r>
              <a:rPr lang="nl-NL" dirty="0"/>
              <a:t> </a:t>
            </a:r>
            <a:r>
              <a:rPr lang="nl-NL" dirty="0" err="1"/>
              <a:t>to</a:t>
            </a:r>
            <a:r>
              <a:rPr lang="nl-NL" dirty="0"/>
              <a:t> </a:t>
            </a:r>
            <a:r>
              <a:rPr lang="nl-NL" dirty="0" err="1"/>
              <a:t>Physiology</a:t>
            </a:r>
            <a:endParaRPr lang="en-US" dirty="0"/>
          </a:p>
        </p:txBody>
      </p:sp>
      <p:sp>
        <p:nvSpPr>
          <p:cNvPr id="3" name="Tijdelijke aanduiding voor inhoud 2"/>
          <p:cNvSpPr>
            <a:spLocks noGrp="1"/>
          </p:cNvSpPr>
          <p:nvPr>
            <p:ph idx="1"/>
          </p:nvPr>
        </p:nvSpPr>
        <p:spPr/>
        <p:txBody>
          <a:bodyPr/>
          <a:lstStyle/>
          <a:p>
            <a:pPr marL="0" indent="0">
              <a:buNone/>
            </a:pPr>
            <a:r>
              <a:rPr lang="nl-NL" dirty="0" err="1"/>
              <a:t>Physics</a:t>
            </a:r>
            <a:r>
              <a:rPr lang="nl-NL" dirty="0"/>
              <a:t>: </a:t>
            </a:r>
            <a:r>
              <a:rPr lang="nl-NL" dirty="0" err="1"/>
              <a:t>the</a:t>
            </a:r>
            <a:r>
              <a:rPr lang="nl-NL" dirty="0"/>
              <a:t> </a:t>
            </a:r>
            <a:r>
              <a:rPr lang="nl-NL" dirty="0" err="1"/>
              <a:t>science</a:t>
            </a:r>
            <a:r>
              <a:rPr lang="nl-NL" dirty="0"/>
              <a:t> of matter and energy</a:t>
            </a:r>
          </a:p>
          <a:p>
            <a:pPr lvl="1"/>
            <a:r>
              <a:rPr lang="nl-NL" dirty="0"/>
              <a:t>The </a:t>
            </a:r>
            <a:r>
              <a:rPr lang="nl-NL" dirty="0" err="1"/>
              <a:t>fundamental</a:t>
            </a:r>
            <a:r>
              <a:rPr lang="nl-NL" dirty="0"/>
              <a:t> </a:t>
            </a:r>
            <a:r>
              <a:rPr lang="nl-NL" dirty="0" err="1"/>
              <a:t>science</a:t>
            </a:r>
            <a:endParaRPr lang="nl-NL" dirty="0"/>
          </a:p>
          <a:p>
            <a:pPr lvl="1"/>
            <a:r>
              <a:rPr lang="nl-NL" dirty="0"/>
              <a:t>(</a:t>
            </a:r>
            <a:r>
              <a:rPr lang="nl-NL" dirty="0" err="1"/>
              <a:t>Classical</a:t>
            </a:r>
            <a:r>
              <a:rPr lang="nl-NL" dirty="0"/>
              <a:t>) </a:t>
            </a:r>
            <a:r>
              <a:rPr lang="nl-NL" dirty="0" err="1"/>
              <a:t>mechanics</a:t>
            </a:r>
            <a:r>
              <a:rPr lang="nl-NL" dirty="0"/>
              <a:t>: motion and </a:t>
            </a:r>
            <a:r>
              <a:rPr lang="nl-NL" dirty="0" err="1"/>
              <a:t>forces</a:t>
            </a:r>
            <a:r>
              <a:rPr lang="nl-NL" dirty="0"/>
              <a:t> </a:t>
            </a:r>
          </a:p>
          <a:p>
            <a:pPr lvl="1"/>
            <a:r>
              <a:rPr lang="nl-NL" dirty="0"/>
              <a:t>a bit </a:t>
            </a:r>
            <a:r>
              <a:rPr lang="nl-NL" dirty="0" err="1"/>
              <a:t>thermodynamics</a:t>
            </a:r>
            <a:r>
              <a:rPr lang="nl-NL" dirty="0"/>
              <a:t>, </a:t>
            </a:r>
          </a:p>
          <a:p>
            <a:pPr lvl="1"/>
            <a:r>
              <a:rPr lang="nl-NL" dirty="0"/>
              <a:t>a bit </a:t>
            </a:r>
            <a:r>
              <a:rPr lang="nl-NL" dirty="0" err="1"/>
              <a:t>electromagnetic</a:t>
            </a:r>
            <a:r>
              <a:rPr lang="nl-NL" dirty="0"/>
              <a:t> fields.</a:t>
            </a:r>
          </a:p>
          <a:p>
            <a:pPr marL="457200" lvl="1" indent="0">
              <a:buNone/>
            </a:pPr>
            <a:endParaRPr lang="en-US" dirty="0"/>
          </a:p>
        </p:txBody>
      </p:sp>
      <p:sp>
        <p:nvSpPr>
          <p:cNvPr id="4" name="Tekstvak 3"/>
          <p:cNvSpPr txBox="1"/>
          <p:nvPr/>
        </p:nvSpPr>
        <p:spPr>
          <a:xfrm>
            <a:off x="120696" y="6550290"/>
            <a:ext cx="3568606" cy="246221"/>
          </a:xfrm>
          <a:prstGeom prst="rect">
            <a:avLst/>
          </a:prstGeom>
          <a:noFill/>
        </p:spPr>
        <p:txBody>
          <a:bodyPr wrap="none" rtlCol="0">
            <a:spAutoFit/>
          </a:bodyPr>
          <a:lstStyle/>
          <a:p>
            <a:r>
              <a:rPr lang="en-US" sz="1000" dirty="0"/>
              <a:t>https://www.physoc.org/explore-physiology/what-is-physiology/</a:t>
            </a:r>
          </a:p>
        </p:txBody>
      </p:sp>
    </p:spTree>
    <p:extLst>
      <p:ext uri="{BB962C8B-B14F-4D97-AF65-F5344CB8AC3E}">
        <p14:creationId xmlns:p14="http://schemas.microsoft.com/office/powerpoint/2010/main" val="126006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From</a:t>
            </a:r>
            <a:r>
              <a:rPr lang="nl-NL" dirty="0"/>
              <a:t> </a:t>
            </a:r>
            <a:r>
              <a:rPr lang="nl-NL" dirty="0" err="1"/>
              <a:t>Physics</a:t>
            </a:r>
            <a:r>
              <a:rPr lang="nl-NL" dirty="0"/>
              <a:t> </a:t>
            </a:r>
            <a:r>
              <a:rPr lang="nl-NL" dirty="0" err="1"/>
              <a:t>to</a:t>
            </a:r>
            <a:r>
              <a:rPr lang="nl-NL" dirty="0"/>
              <a:t> </a:t>
            </a:r>
            <a:r>
              <a:rPr lang="nl-NL" dirty="0" err="1"/>
              <a:t>Physiology</a:t>
            </a:r>
            <a:endParaRPr lang="en-US" dirty="0"/>
          </a:p>
        </p:txBody>
      </p:sp>
      <p:sp>
        <p:nvSpPr>
          <p:cNvPr id="3" name="Tijdelijke aanduiding voor inhoud 2"/>
          <p:cNvSpPr>
            <a:spLocks noGrp="1"/>
          </p:cNvSpPr>
          <p:nvPr>
            <p:ph idx="1"/>
          </p:nvPr>
        </p:nvSpPr>
        <p:spPr/>
        <p:txBody>
          <a:bodyPr/>
          <a:lstStyle/>
          <a:p>
            <a:pPr marL="0" indent="0">
              <a:buNone/>
            </a:pPr>
            <a:r>
              <a:rPr lang="nl-NL" dirty="0" err="1"/>
              <a:t>Physiology</a:t>
            </a:r>
            <a:r>
              <a:rPr lang="nl-NL" dirty="0"/>
              <a:t>: </a:t>
            </a:r>
            <a:r>
              <a:rPr lang="nl-NL" dirty="0" err="1"/>
              <a:t>the</a:t>
            </a:r>
            <a:r>
              <a:rPr lang="nl-NL" dirty="0"/>
              <a:t> </a:t>
            </a:r>
            <a:r>
              <a:rPr lang="nl-NL" dirty="0" err="1"/>
              <a:t>science</a:t>
            </a:r>
            <a:r>
              <a:rPr lang="nl-NL" dirty="0"/>
              <a:t> of </a:t>
            </a:r>
            <a:r>
              <a:rPr lang="nl-NL" dirty="0" err="1"/>
              <a:t>function</a:t>
            </a:r>
            <a:r>
              <a:rPr lang="nl-NL" dirty="0"/>
              <a:t> of living </a:t>
            </a:r>
            <a:r>
              <a:rPr lang="nl-NL" dirty="0" err="1"/>
              <a:t>things</a:t>
            </a:r>
            <a:endParaRPr lang="nl-NL" dirty="0"/>
          </a:p>
          <a:p>
            <a:pPr lvl="1"/>
            <a:r>
              <a:rPr lang="nl-NL" dirty="0" err="1"/>
              <a:t>Multiscale</a:t>
            </a:r>
            <a:endParaRPr lang="nl-NL" dirty="0"/>
          </a:p>
          <a:p>
            <a:pPr lvl="1"/>
            <a:r>
              <a:rPr lang="nl-NL" dirty="0" err="1"/>
              <a:t>Dynamic</a:t>
            </a:r>
            <a:endParaRPr lang="nl-NL" dirty="0"/>
          </a:p>
          <a:p>
            <a:pPr lvl="1"/>
            <a:r>
              <a:rPr lang="nl-NL" dirty="0" err="1"/>
              <a:t>Integrative</a:t>
            </a:r>
            <a:endParaRPr lang="nl-NL" dirty="0"/>
          </a:p>
          <a:p>
            <a:pPr lvl="1"/>
            <a:r>
              <a:rPr lang="nl-NL" dirty="0" err="1"/>
              <a:t>Experimental</a:t>
            </a:r>
            <a:r>
              <a:rPr lang="nl-NL" dirty="0"/>
              <a:t> </a:t>
            </a:r>
            <a:r>
              <a:rPr lang="nl-NL" dirty="0" err="1"/>
              <a:t>science</a:t>
            </a:r>
            <a:endParaRPr lang="nl-NL" dirty="0"/>
          </a:p>
          <a:p>
            <a:pPr lvl="1"/>
            <a:endParaRPr lang="en-US" dirty="0"/>
          </a:p>
        </p:txBody>
      </p:sp>
      <p:pic>
        <p:nvPicPr>
          <p:cNvPr id="1026" name="Picture 2" descr="https://static.physoc.org/app/uploads/2019/03/22194346/Physiology-is-the-science-of-life.resize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8958" y="3549112"/>
            <a:ext cx="6943133" cy="2762788"/>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3"/>
          <p:cNvSpPr txBox="1"/>
          <p:nvPr/>
        </p:nvSpPr>
        <p:spPr>
          <a:xfrm>
            <a:off x="120696" y="6550290"/>
            <a:ext cx="3568606" cy="246221"/>
          </a:xfrm>
          <a:prstGeom prst="rect">
            <a:avLst/>
          </a:prstGeom>
          <a:noFill/>
        </p:spPr>
        <p:txBody>
          <a:bodyPr wrap="none" rtlCol="0">
            <a:spAutoFit/>
          </a:bodyPr>
          <a:lstStyle/>
          <a:p>
            <a:r>
              <a:rPr lang="en-US" sz="1000" dirty="0"/>
              <a:t>https://www.physoc.org/explore-physiology/what-is-physiology/</a:t>
            </a:r>
          </a:p>
        </p:txBody>
      </p:sp>
    </p:spTree>
    <p:extLst>
      <p:ext uri="{BB962C8B-B14F-4D97-AF65-F5344CB8AC3E}">
        <p14:creationId xmlns:p14="http://schemas.microsoft.com/office/powerpoint/2010/main" val="2713268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From</a:t>
            </a:r>
            <a:r>
              <a:rPr lang="nl-NL" dirty="0"/>
              <a:t> </a:t>
            </a:r>
            <a:r>
              <a:rPr lang="nl-NL" dirty="0" err="1"/>
              <a:t>Physics</a:t>
            </a:r>
            <a:r>
              <a:rPr lang="nl-NL" dirty="0"/>
              <a:t> </a:t>
            </a:r>
            <a:r>
              <a:rPr lang="nl-NL" dirty="0" err="1"/>
              <a:t>to</a:t>
            </a:r>
            <a:r>
              <a:rPr lang="nl-NL" dirty="0"/>
              <a:t> </a:t>
            </a:r>
            <a:r>
              <a:rPr lang="nl-NL" dirty="0" err="1"/>
              <a:t>Physiology</a:t>
            </a:r>
            <a:endParaRPr lang="en-US" dirty="0"/>
          </a:p>
        </p:txBody>
      </p:sp>
      <p:sp>
        <p:nvSpPr>
          <p:cNvPr id="3" name="Tijdelijke aanduiding voor inhoud 2"/>
          <p:cNvSpPr>
            <a:spLocks noGrp="1"/>
          </p:cNvSpPr>
          <p:nvPr>
            <p:ph idx="1"/>
          </p:nvPr>
        </p:nvSpPr>
        <p:spPr/>
        <p:txBody>
          <a:bodyPr/>
          <a:lstStyle/>
          <a:p>
            <a:pPr marL="0" indent="0">
              <a:buNone/>
            </a:pPr>
            <a:r>
              <a:rPr lang="nl-NL" dirty="0" err="1"/>
              <a:t>Anatomy</a:t>
            </a:r>
            <a:r>
              <a:rPr lang="nl-NL" dirty="0"/>
              <a:t>: </a:t>
            </a:r>
            <a:r>
              <a:rPr lang="nl-NL" dirty="0" err="1"/>
              <a:t>the</a:t>
            </a:r>
            <a:r>
              <a:rPr lang="nl-NL" dirty="0"/>
              <a:t> </a:t>
            </a:r>
            <a:r>
              <a:rPr lang="nl-NL" dirty="0" err="1"/>
              <a:t>science</a:t>
            </a:r>
            <a:r>
              <a:rPr lang="nl-NL" dirty="0"/>
              <a:t> of </a:t>
            </a:r>
            <a:r>
              <a:rPr lang="nl-NL" dirty="0" err="1"/>
              <a:t>structure</a:t>
            </a:r>
            <a:r>
              <a:rPr lang="nl-NL" dirty="0"/>
              <a:t> of living </a:t>
            </a:r>
            <a:r>
              <a:rPr lang="nl-NL" dirty="0" err="1"/>
              <a:t>things</a:t>
            </a:r>
            <a:endParaRPr lang="nl-NL" dirty="0"/>
          </a:p>
          <a:p>
            <a:pPr lvl="1"/>
            <a:r>
              <a:rPr lang="nl-NL" dirty="0" err="1"/>
              <a:t>Multiscale</a:t>
            </a:r>
            <a:endParaRPr lang="nl-NL" dirty="0"/>
          </a:p>
          <a:p>
            <a:pPr lvl="1"/>
            <a:r>
              <a:rPr lang="nl-NL" dirty="0" err="1"/>
              <a:t>Static</a:t>
            </a:r>
            <a:r>
              <a:rPr lang="nl-NL" dirty="0"/>
              <a:t> / </a:t>
            </a:r>
            <a:r>
              <a:rPr lang="nl-NL" dirty="0" err="1"/>
              <a:t>Dynamic</a:t>
            </a:r>
            <a:r>
              <a:rPr lang="nl-NL" dirty="0"/>
              <a:t> at long time </a:t>
            </a:r>
            <a:r>
              <a:rPr lang="nl-NL" dirty="0" err="1"/>
              <a:t>scale</a:t>
            </a:r>
            <a:endParaRPr lang="nl-NL" dirty="0"/>
          </a:p>
          <a:p>
            <a:pPr lvl="1"/>
            <a:r>
              <a:rPr lang="nl-NL" dirty="0" err="1"/>
              <a:t>Experimental</a:t>
            </a:r>
            <a:r>
              <a:rPr lang="nl-NL" dirty="0"/>
              <a:t> </a:t>
            </a:r>
            <a:r>
              <a:rPr lang="nl-NL" dirty="0" err="1"/>
              <a:t>science</a:t>
            </a:r>
            <a:endParaRPr lang="nl-NL" dirty="0"/>
          </a:p>
          <a:p>
            <a:pPr lvl="1"/>
            <a:endParaRPr lang="en-US" dirty="0"/>
          </a:p>
        </p:txBody>
      </p:sp>
      <p:pic>
        <p:nvPicPr>
          <p:cNvPr id="1026" name="Picture 2" descr="https://static.physoc.org/app/uploads/2019/03/22194346/Physiology-is-the-science-of-life.resized.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4732" r="27350" b="27658"/>
          <a:stretch/>
        </p:blipFill>
        <p:spPr bwMode="auto">
          <a:xfrm>
            <a:off x="7100409" y="3555249"/>
            <a:ext cx="2632736" cy="1998657"/>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3"/>
          <p:cNvSpPr txBox="1"/>
          <p:nvPr/>
        </p:nvSpPr>
        <p:spPr>
          <a:xfrm>
            <a:off x="120696" y="6550290"/>
            <a:ext cx="3568606" cy="246221"/>
          </a:xfrm>
          <a:prstGeom prst="rect">
            <a:avLst/>
          </a:prstGeom>
          <a:noFill/>
        </p:spPr>
        <p:txBody>
          <a:bodyPr wrap="none" rtlCol="0">
            <a:spAutoFit/>
          </a:bodyPr>
          <a:lstStyle/>
          <a:p>
            <a:r>
              <a:rPr lang="en-US" sz="1000" dirty="0"/>
              <a:t>https://www.physoc.org/explore-physiology/what-is-physiology/</a:t>
            </a:r>
          </a:p>
        </p:txBody>
      </p:sp>
    </p:spTree>
    <p:extLst>
      <p:ext uri="{BB962C8B-B14F-4D97-AF65-F5344CB8AC3E}">
        <p14:creationId xmlns:p14="http://schemas.microsoft.com/office/powerpoint/2010/main" val="1537718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60F3BF14-EA60-F5A3-5C9B-A9D10600A023}"/>
              </a:ext>
            </a:extLst>
          </p:cNvPr>
          <p:cNvPicPr>
            <a:picLocks noChangeAspect="1"/>
          </p:cNvPicPr>
          <p:nvPr/>
        </p:nvPicPr>
        <p:blipFill>
          <a:blip r:embed="rId2"/>
          <a:stretch>
            <a:fillRect/>
          </a:stretch>
        </p:blipFill>
        <p:spPr>
          <a:xfrm>
            <a:off x="563643" y="369686"/>
            <a:ext cx="7116168" cy="819264"/>
          </a:xfrm>
          <a:prstGeom prst="rect">
            <a:avLst/>
          </a:prstGeom>
        </p:spPr>
      </p:pic>
      <p:pic>
        <p:nvPicPr>
          <p:cNvPr id="9" name="Afbeelding 8">
            <a:extLst>
              <a:ext uri="{FF2B5EF4-FFF2-40B4-BE49-F238E27FC236}">
                <a16:creationId xmlns:a16="http://schemas.microsoft.com/office/drawing/2014/main" id="{2EF9578B-D602-BB0B-F871-7ADA9C647754}"/>
              </a:ext>
            </a:extLst>
          </p:cNvPr>
          <p:cNvPicPr>
            <a:picLocks noChangeAspect="1"/>
          </p:cNvPicPr>
          <p:nvPr/>
        </p:nvPicPr>
        <p:blipFill>
          <a:blip r:embed="rId3"/>
          <a:stretch>
            <a:fillRect/>
          </a:stretch>
        </p:blipFill>
        <p:spPr>
          <a:xfrm>
            <a:off x="1101648" y="1628524"/>
            <a:ext cx="3172268" cy="1800476"/>
          </a:xfrm>
          <a:prstGeom prst="rect">
            <a:avLst/>
          </a:prstGeom>
        </p:spPr>
      </p:pic>
      <p:pic>
        <p:nvPicPr>
          <p:cNvPr id="11" name="Afbeelding 10">
            <a:extLst>
              <a:ext uri="{FF2B5EF4-FFF2-40B4-BE49-F238E27FC236}">
                <a16:creationId xmlns:a16="http://schemas.microsoft.com/office/drawing/2014/main" id="{FAA1E6F9-9D4C-C865-ADE9-C533E9DECB47}"/>
              </a:ext>
            </a:extLst>
          </p:cNvPr>
          <p:cNvPicPr>
            <a:picLocks noChangeAspect="1"/>
          </p:cNvPicPr>
          <p:nvPr/>
        </p:nvPicPr>
        <p:blipFill>
          <a:blip r:embed="rId4"/>
          <a:stretch>
            <a:fillRect/>
          </a:stretch>
        </p:blipFill>
        <p:spPr>
          <a:xfrm>
            <a:off x="7704039" y="369686"/>
            <a:ext cx="3452920" cy="5999941"/>
          </a:xfrm>
          <a:prstGeom prst="rect">
            <a:avLst/>
          </a:prstGeom>
        </p:spPr>
      </p:pic>
    </p:spTree>
    <p:extLst>
      <p:ext uri="{BB962C8B-B14F-4D97-AF65-F5344CB8AC3E}">
        <p14:creationId xmlns:p14="http://schemas.microsoft.com/office/powerpoint/2010/main" val="2865112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From</a:t>
            </a:r>
            <a:r>
              <a:rPr lang="nl-NL" dirty="0"/>
              <a:t> </a:t>
            </a:r>
            <a:r>
              <a:rPr lang="nl-NL" dirty="0" err="1"/>
              <a:t>Physics</a:t>
            </a:r>
            <a:r>
              <a:rPr lang="nl-NL" dirty="0"/>
              <a:t> </a:t>
            </a:r>
            <a:r>
              <a:rPr lang="nl-NL" dirty="0" err="1"/>
              <a:t>to</a:t>
            </a:r>
            <a:r>
              <a:rPr lang="nl-NL" dirty="0"/>
              <a:t> </a:t>
            </a:r>
            <a:r>
              <a:rPr lang="nl-NL" dirty="0" err="1"/>
              <a:t>Physiology</a:t>
            </a:r>
            <a:endParaRPr lang="en-US" dirty="0"/>
          </a:p>
        </p:txBody>
      </p:sp>
      <p:sp>
        <p:nvSpPr>
          <p:cNvPr id="4" name="Tekstvak 3"/>
          <p:cNvSpPr txBox="1"/>
          <p:nvPr/>
        </p:nvSpPr>
        <p:spPr>
          <a:xfrm>
            <a:off x="4678326" y="2530549"/>
            <a:ext cx="2611292" cy="523220"/>
          </a:xfrm>
          <a:prstGeom prst="rect">
            <a:avLst/>
          </a:prstGeom>
          <a:noFill/>
          <a:ln w="12700">
            <a:solidFill>
              <a:schemeClr val="tx1"/>
            </a:solidFill>
          </a:ln>
        </p:spPr>
        <p:txBody>
          <a:bodyPr wrap="none" rtlCol="0">
            <a:spAutoFit/>
          </a:bodyPr>
          <a:lstStyle/>
          <a:p>
            <a:r>
              <a:rPr lang="nl-NL" sz="2800" dirty="0" err="1"/>
              <a:t>Forces</a:t>
            </a:r>
            <a:r>
              <a:rPr lang="nl-NL" sz="2800" dirty="0"/>
              <a:t> and </a:t>
            </a:r>
            <a:r>
              <a:rPr lang="nl-NL" sz="2800" dirty="0" err="1"/>
              <a:t>flows</a:t>
            </a:r>
            <a:endParaRPr lang="en-US" sz="2800" dirty="0"/>
          </a:p>
        </p:txBody>
      </p:sp>
      <p:sp>
        <p:nvSpPr>
          <p:cNvPr id="5" name="Tekstvak 4"/>
          <p:cNvSpPr txBox="1"/>
          <p:nvPr/>
        </p:nvSpPr>
        <p:spPr>
          <a:xfrm>
            <a:off x="1924493" y="4793306"/>
            <a:ext cx="1544077" cy="523220"/>
          </a:xfrm>
          <a:prstGeom prst="rect">
            <a:avLst/>
          </a:prstGeom>
          <a:noFill/>
          <a:ln w="12700">
            <a:solidFill>
              <a:schemeClr val="tx1"/>
            </a:solidFill>
          </a:ln>
        </p:spPr>
        <p:txBody>
          <a:bodyPr wrap="none" rtlCol="0">
            <a:spAutoFit/>
          </a:bodyPr>
          <a:lstStyle/>
          <a:p>
            <a:r>
              <a:rPr lang="nl-NL" sz="2800" dirty="0" err="1"/>
              <a:t>Structure</a:t>
            </a:r>
            <a:endParaRPr lang="en-US" sz="2800" dirty="0"/>
          </a:p>
        </p:txBody>
      </p:sp>
      <p:sp>
        <p:nvSpPr>
          <p:cNvPr id="6" name="Tekstvak 5"/>
          <p:cNvSpPr txBox="1"/>
          <p:nvPr/>
        </p:nvSpPr>
        <p:spPr>
          <a:xfrm>
            <a:off x="8091378" y="4793306"/>
            <a:ext cx="1460656" cy="523220"/>
          </a:xfrm>
          <a:prstGeom prst="rect">
            <a:avLst/>
          </a:prstGeom>
          <a:noFill/>
          <a:ln w="12700">
            <a:solidFill>
              <a:schemeClr val="tx1"/>
            </a:solidFill>
          </a:ln>
        </p:spPr>
        <p:txBody>
          <a:bodyPr wrap="none" rtlCol="0">
            <a:spAutoFit/>
          </a:bodyPr>
          <a:lstStyle/>
          <a:p>
            <a:r>
              <a:rPr lang="nl-NL" sz="2800" dirty="0" err="1"/>
              <a:t>Function</a:t>
            </a:r>
            <a:endParaRPr lang="en-US" sz="2800" dirty="0"/>
          </a:p>
        </p:txBody>
      </p:sp>
      <p:cxnSp>
        <p:nvCxnSpPr>
          <p:cNvPr id="8" name="Rechte verbindingslijn met pijl 7"/>
          <p:cNvCxnSpPr/>
          <p:nvPr/>
        </p:nvCxnSpPr>
        <p:spPr>
          <a:xfrm flipV="1">
            <a:off x="3030279" y="3264195"/>
            <a:ext cx="1988288" cy="129717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Rechte verbindingslijn met pijl 11"/>
          <p:cNvCxnSpPr/>
          <p:nvPr/>
        </p:nvCxnSpPr>
        <p:spPr>
          <a:xfrm flipV="1">
            <a:off x="2392326" y="3264195"/>
            <a:ext cx="1988288" cy="1297172"/>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Rechte verbindingslijn met pijl 12"/>
          <p:cNvCxnSpPr/>
          <p:nvPr/>
        </p:nvCxnSpPr>
        <p:spPr>
          <a:xfrm>
            <a:off x="7183179" y="3330546"/>
            <a:ext cx="1988288" cy="129717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Rechte verbindingslijn met pijl 13"/>
          <p:cNvCxnSpPr/>
          <p:nvPr/>
        </p:nvCxnSpPr>
        <p:spPr>
          <a:xfrm>
            <a:off x="6545226" y="3330546"/>
            <a:ext cx="1988288" cy="1297172"/>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p:cNvCxnSpPr/>
          <p:nvPr/>
        </p:nvCxnSpPr>
        <p:spPr>
          <a:xfrm flipV="1">
            <a:off x="3705447" y="5316526"/>
            <a:ext cx="4152900" cy="9397"/>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p:cNvCxnSpPr/>
          <p:nvPr/>
        </p:nvCxnSpPr>
        <p:spPr>
          <a:xfrm rot="10800000" flipV="1">
            <a:off x="3705447" y="4924851"/>
            <a:ext cx="4152900" cy="9397"/>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 name="Groep 9">
            <a:extLst>
              <a:ext uri="{FF2B5EF4-FFF2-40B4-BE49-F238E27FC236}">
                <a16:creationId xmlns:a16="http://schemas.microsoft.com/office/drawing/2014/main" id="{FB36E672-823D-F63B-D936-7F0F500E925C}"/>
              </a:ext>
            </a:extLst>
          </p:cNvPr>
          <p:cNvGrpSpPr/>
          <p:nvPr/>
        </p:nvGrpSpPr>
        <p:grpSpPr>
          <a:xfrm>
            <a:off x="5018567" y="4526779"/>
            <a:ext cx="2181879" cy="1225956"/>
            <a:chOff x="5018567" y="4526779"/>
            <a:chExt cx="2181879" cy="1225956"/>
          </a:xfrm>
        </p:grpSpPr>
        <p:sp>
          <p:nvSpPr>
            <p:cNvPr id="18" name="Tekstvak 17"/>
            <p:cNvSpPr txBox="1"/>
            <p:nvPr/>
          </p:nvSpPr>
          <p:spPr>
            <a:xfrm>
              <a:off x="5041406" y="4526779"/>
              <a:ext cx="1578381" cy="369332"/>
            </a:xfrm>
            <a:prstGeom prst="rect">
              <a:avLst/>
            </a:prstGeom>
            <a:noFill/>
          </p:spPr>
          <p:txBody>
            <a:bodyPr wrap="none" rtlCol="0">
              <a:spAutoFit/>
            </a:bodyPr>
            <a:lstStyle/>
            <a:p>
              <a:r>
                <a:rPr lang="nl-NL" i="1" dirty="0" err="1">
                  <a:solidFill>
                    <a:srgbClr val="C00000"/>
                  </a:solidFill>
                </a:rPr>
                <a:t>Muscle</a:t>
              </a:r>
              <a:r>
                <a:rPr lang="nl-NL" i="1" dirty="0">
                  <a:solidFill>
                    <a:srgbClr val="C00000"/>
                  </a:solidFill>
                </a:rPr>
                <a:t> </a:t>
              </a:r>
              <a:r>
                <a:rPr lang="nl-NL" i="1" dirty="0" err="1">
                  <a:solidFill>
                    <a:srgbClr val="C00000"/>
                  </a:solidFill>
                </a:rPr>
                <a:t>growth</a:t>
              </a:r>
              <a:endParaRPr lang="en-US" i="1" dirty="0">
                <a:solidFill>
                  <a:srgbClr val="C00000"/>
                </a:solidFill>
              </a:endParaRPr>
            </a:p>
          </p:txBody>
        </p:sp>
        <p:sp>
          <p:nvSpPr>
            <p:cNvPr id="19" name="Tekstvak 18"/>
            <p:cNvSpPr txBox="1"/>
            <p:nvPr/>
          </p:nvSpPr>
          <p:spPr>
            <a:xfrm>
              <a:off x="5018567" y="5383403"/>
              <a:ext cx="2181879" cy="369332"/>
            </a:xfrm>
            <a:prstGeom prst="rect">
              <a:avLst/>
            </a:prstGeom>
            <a:noFill/>
          </p:spPr>
          <p:txBody>
            <a:bodyPr wrap="none" rtlCol="0">
              <a:spAutoFit/>
            </a:bodyPr>
            <a:lstStyle/>
            <a:p>
              <a:r>
                <a:rPr lang="nl-NL" i="1" dirty="0" err="1">
                  <a:solidFill>
                    <a:srgbClr val="C00000"/>
                  </a:solidFill>
                </a:rPr>
                <a:t>Length</a:t>
              </a:r>
              <a:r>
                <a:rPr lang="nl-NL" i="1" dirty="0">
                  <a:solidFill>
                    <a:srgbClr val="C00000"/>
                  </a:solidFill>
                </a:rPr>
                <a:t>-Force </a:t>
              </a:r>
              <a:r>
                <a:rPr lang="nl-NL" i="1" dirty="0" err="1">
                  <a:solidFill>
                    <a:srgbClr val="C00000"/>
                  </a:solidFill>
                </a:rPr>
                <a:t>relation</a:t>
              </a:r>
              <a:endParaRPr lang="en-US" i="1" dirty="0">
                <a:solidFill>
                  <a:srgbClr val="C00000"/>
                </a:solidFill>
              </a:endParaRPr>
            </a:p>
          </p:txBody>
        </p:sp>
      </p:grpSp>
      <p:grpSp>
        <p:nvGrpSpPr>
          <p:cNvPr id="7" name="Groep 6">
            <a:extLst>
              <a:ext uri="{FF2B5EF4-FFF2-40B4-BE49-F238E27FC236}">
                <a16:creationId xmlns:a16="http://schemas.microsoft.com/office/drawing/2014/main" id="{5BC01A8A-386E-873D-72D3-2DBF2BB3E483}"/>
              </a:ext>
            </a:extLst>
          </p:cNvPr>
          <p:cNvGrpSpPr/>
          <p:nvPr/>
        </p:nvGrpSpPr>
        <p:grpSpPr>
          <a:xfrm>
            <a:off x="6300629" y="3484129"/>
            <a:ext cx="3005618" cy="776060"/>
            <a:chOff x="6300629" y="3484129"/>
            <a:chExt cx="3005618" cy="776060"/>
          </a:xfrm>
        </p:grpSpPr>
        <p:sp>
          <p:nvSpPr>
            <p:cNvPr id="20" name="Tekstvak 19"/>
            <p:cNvSpPr txBox="1"/>
            <p:nvPr/>
          </p:nvSpPr>
          <p:spPr>
            <a:xfrm rot="1935141">
              <a:off x="7341542" y="3484129"/>
              <a:ext cx="1964705" cy="369332"/>
            </a:xfrm>
            <a:prstGeom prst="rect">
              <a:avLst/>
            </a:prstGeom>
            <a:noFill/>
          </p:spPr>
          <p:txBody>
            <a:bodyPr wrap="none" rtlCol="0">
              <a:spAutoFit/>
            </a:bodyPr>
            <a:lstStyle/>
            <a:p>
              <a:r>
                <a:rPr lang="nl-NL" i="1" dirty="0" err="1">
                  <a:solidFill>
                    <a:srgbClr val="C00000"/>
                  </a:solidFill>
                </a:rPr>
                <a:t>Shortening</a:t>
              </a:r>
              <a:r>
                <a:rPr lang="nl-NL" i="1" dirty="0">
                  <a:solidFill>
                    <a:srgbClr val="C00000"/>
                  </a:solidFill>
                </a:rPr>
                <a:t> </a:t>
              </a:r>
              <a:r>
                <a:rPr lang="nl-NL" i="1" dirty="0" err="1">
                  <a:solidFill>
                    <a:srgbClr val="C00000"/>
                  </a:solidFill>
                </a:rPr>
                <a:t>velocity</a:t>
              </a:r>
              <a:endParaRPr lang="en-US" i="1" dirty="0">
                <a:solidFill>
                  <a:srgbClr val="C00000"/>
                </a:solidFill>
              </a:endParaRPr>
            </a:p>
          </p:txBody>
        </p:sp>
        <p:sp>
          <p:nvSpPr>
            <p:cNvPr id="21" name="Tekstvak 20"/>
            <p:cNvSpPr txBox="1"/>
            <p:nvPr/>
          </p:nvSpPr>
          <p:spPr>
            <a:xfrm rot="1935141">
              <a:off x="6300629" y="3890857"/>
              <a:ext cx="1765099" cy="369332"/>
            </a:xfrm>
            <a:prstGeom prst="rect">
              <a:avLst/>
            </a:prstGeom>
            <a:noFill/>
          </p:spPr>
          <p:txBody>
            <a:bodyPr wrap="none" rtlCol="0">
              <a:spAutoFit/>
            </a:bodyPr>
            <a:lstStyle/>
            <a:p>
              <a:r>
                <a:rPr lang="nl-NL" i="1" dirty="0">
                  <a:solidFill>
                    <a:srgbClr val="C00000"/>
                  </a:solidFill>
                </a:rPr>
                <a:t>Force </a:t>
              </a:r>
              <a:r>
                <a:rPr lang="nl-NL" i="1" dirty="0" err="1">
                  <a:solidFill>
                    <a:srgbClr val="C00000"/>
                  </a:solidFill>
                </a:rPr>
                <a:t>generation</a:t>
              </a:r>
              <a:endParaRPr lang="en-US" i="1" dirty="0">
                <a:solidFill>
                  <a:srgbClr val="C00000"/>
                </a:solidFill>
              </a:endParaRPr>
            </a:p>
          </p:txBody>
        </p:sp>
      </p:grpSp>
      <p:grpSp>
        <p:nvGrpSpPr>
          <p:cNvPr id="9" name="Groep 8">
            <a:extLst>
              <a:ext uri="{FF2B5EF4-FFF2-40B4-BE49-F238E27FC236}">
                <a16:creationId xmlns:a16="http://schemas.microsoft.com/office/drawing/2014/main" id="{4D47B9CD-ADF3-A174-59E4-620CBE7FDDEF}"/>
              </a:ext>
            </a:extLst>
          </p:cNvPr>
          <p:cNvGrpSpPr/>
          <p:nvPr/>
        </p:nvGrpSpPr>
        <p:grpSpPr>
          <a:xfrm>
            <a:off x="2457212" y="3505010"/>
            <a:ext cx="2824898" cy="703089"/>
            <a:chOff x="2457212" y="3505010"/>
            <a:chExt cx="2824898" cy="703089"/>
          </a:xfrm>
        </p:grpSpPr>
        <p:sp>
          <p:nvSpPr>
            <p:cNvPr id="22" name="Tekstvak 21"/>
            <p:cNvSpPr txBox="1"/>
            <p:nvPr/>
          </p:nvSpPr>
          <p:spPr>
            <a:xfrm rot="19646447">
              <a:off x="3141268" y="3838767"/>
              <a:ext cx="2140842" cy="369332"/>
            </a:xfrm>
            <a:prstGeom prst="rect">
              <a:avLst/>
            </a:prstGeom>
            <a:noFill/>
          </p:spPr>
          <p:txBody>
            <a:bodyPr wrap="none" rtlCol="0">
              <a:spAutoFit/>
            </a:bodyPr>
            <a:lstStyle/>
            <a:p>
              <a:r>
                <a:rPr lang="nl-NL" i="1" dirty="0" err="1">
                  <a:solidFill>
                    <a:srgbClr val="C00000"/>
                  </a:solidFill>
                </a:rPr>
                <a:t>Maximal</a:t>
              </a:r>
              <a:r>
                <a:rPr lang="nl-NL" i="1" dirty="0">
                  <a:solidFill>
                    <a:srgbClr val="C00000"/>
                  </a:solidFill>
                </a:rPr>
                <a:t> </a:t>
              </a:r>
              <a:r>
                <a:rPr lang="nl-NL" i="1" dirty="0" err="1">
                  <a:solidFill>
                    <a:srgbClr val="C00000"/>
                  </a:solidFill>
                </a:rPr>
                <a:t>active</a:t>
              </a:r>
              <a:r>
                <a:rPr lang="nl-NL" i="1" dirty="0">
                  <a:solidFill>
                    <a:srgbClr val="C00000"/>
                  </a:solidFill>
                </a:rPr>
                <a:t> force</a:t>
              </a:r>
              <a:endParaRPr lang="en-US" i="1" dirty="0">
                <a:solidFill>
                  <a:srgbClr val="C00000"/>
                </a:solidFill>
              </a:endParaRPr>
            </a:p>
          </p:txBody>
        </p:sp>
        <p:sp>
          <p:nvSpPr>
            <p:cNvPr id="23" name="Tekstvak 22"/>
            <p:cNvSpPr txBox="1"/>
            <p:nvPr/>
          </p:nvSpPr>
          <p:spPr>
            <a:xfrm rot="19646447">
              <a:off x="2457212" y="3505010"/>
              <a:ext cx="1578381" cy="369332"/>
            </a:xfrm>
            <a:prstGeom prst="rect">
              <a:avLst/>
            </a:prstGeom>
            <a:noFill/>
          </p:spPr>
          <p:txBody>
            <a:bodyPr wrap="none" rtlCol="0">
              <a:spAutoFit/>
            </a:bodyPr>
            <a:lstStyle/>
            <a:p>
              <a:r>
                <a:rPr lang="nl-NL" i="1" dirty="0" err="1">
                  <a:solidFill>
                    <a:srgbClr val="C00000"/>
                  </a:solidFill>
                </a:rPr>
                <a:t>Muscle</a:t>
              </a:r>
              <a:r>
                <a:rPr lang="nl-NL" i="1" dirty="0">
                  <a:solidFill>
                    <a:srgbClr val="C00000"/>
                  </a:solidFill>
                </a:rPr>
                <a:t> </a:t>
              </a:r>
              <a:r>
                <a:rPr lang="nl-NL" i="1" dirty="0" err="1">
                  <a:solidFill>
                    <a:srgbClr val="C00000"/>
                  </a:solidFill>
                </a:rPr>
                <a:t>growth</a:t>
              </a:r>
              <a:endParaRPr lang="en-US" i="1" dirty="0">
                <a:solidFill>
                  <a:srgbClr val="C00000"/>
                </a:solidFill>
              </a:endParaRPr>
            </a:p>
          </p:txBody>
        </p:sp>
      </p:grpSp>
      <p:grpSp>
        <p:nvGrpSpPr>
          <p:cNvPr id="3" name="Groep 2">
            <a:extLst>
              <a:ext uri="{FF2B5EF4-FFF2-40B4-BE49-F238E27FC236}">
                <a16:creationId xmlns:a16="http://schemas.microsoft.com/office/drawing/2014/main" id="{7C65CD55-A385-CD2F-CF44-65ECA06CADCE}"/>
              </a:ext>
            </a:extLst>
          </p:cNvPr>
          <p:cNvGrpSpPr/>
          <p:nvPr/>
        </p:nvGrpSpPr>
        <p:grpSpPr>
          <a:xfrm>
            <a:off x="4410432" y="491331"/>
            <a:ext cx="6365518" cy="1718502"/>
            <a:chOff x="4410432" y="491331"/>
            <a:chExt cx="6365518" cy="1718502"/>
          </a:xfrm>
        </p:grpSpPr>
        <p:sp>
          <p:nvSpPr>
            <p:cNvPr id="24" name="Tekstvak 23"/>
            <p:cNvSpPr txBox="1"/>
            <p:nvPr/>
          </p:nvSpPr>
          <p:spPr>
            <a:xfrm>
              <a:off x="4410432" y="1748168"/>
              <a:ext cx="3754746" cy="461665"/>
            </a:xfrm>
            <a:prstGeom prst="rect">
              <a:avLst/>
            </a:prstGeom>
            <a:noFill/>
          </p:spPr>
          <p:txBody>
            <a:bodyPr wrap="none" rtlCol="0">
              <a:spAutoFit/>
            </a:bodyPr>
            <a:lstStyle/>
            <a:p>
              <a:r>
                <a:rPr lang="nl-NL" sz="2400" i="1" dirty="0" err="1">
                  <a:solidFill>
                    <a:srgbClr val="C00000"/>
                  </a:solidFill>
                </a:rPr>
                <a:t>Example</a:t>
              </a:r>
              <a:r>
                <a:rPr lang="nl-NL" sz="2400" i="1" dirty="0">
                  <a:solidFill>
                    <a:srgbClr val="C00000"/>
                  </a:solidFill>
                </a:rPr>
                <a:t>: </a:t>
              </a:r>
              <a:r>
                <a:rPr lang="nl-NL" sz="2400" i="1" dirty="0" err="1">
                  <a:solidFill>
                    <a:srgbClr val="C00000"/>
                  </a:solidFill>
                </a:rPr>
                <a:t>muscle</a:t>
              </a:r>
              <a:r>
                <a:rPr lang="nl-NL" sz="2400" i="1" dirty="0">
                  <a:solidFill>
                    <a:srgbClr val="C00000"/>
                  </a:solidFill>
                </a:rPr>
                <a:t> </a:t>
              </a:r>
              <a:r>
                <a:rPr lang="nl-NL" sz="2400" i="1" dirty="0" err="1">
                  <a:solidFill>
                    <a:srgbClr val="C00000"/>
                  </a:solidFill>
                </a:rPr>
                <a:t>contraction</a:t>
              </a:r>
              <a:endParaRPr lang="en-US" sz="2400" i="1" dirty="0">
                <a:solidFill>
                  <a:srgbClr val="C00000"/>
                </a:solidFill>
              </a:endParaRPr>
            </a:p>
          </p:txBody>
        </p:sp>
        <p:pic>
          <p:nvPicPr>
            <p:cNvPr id="2050" name="Picture 2" descr="7 muscular-force (1) | PPT"/>
            <p:cNvPicPr>
              <a:picLocks noChangeAspect="1" noChangeArrowheads="1"/>
            </p:cNvPicPr>
            <p:nvPr/>
          </p:nvPicPr>
          <p:blipFill rotWithShape="1">
            <a:blip r:embed="rId2">
              <a:extLst>
                <a:ext uri="{28A0092B-C50C-407E-A947-70E740481C1C}">
                  <a14:useLocalDpi xmlns:a14="http://schemas.microsoft.com/office/drawing/2010/main" val="0"/>
                </a:ext>
              </a:extLst>
            </a:blip>
            <a:srcRect t="14106" r="47835" b="38949"/>
            <a:stretch/>
          </p:blipFill>
          <p:spPr bwMode="auto">
            <a:xfrm>
              <a:off x="8323894" y="491331"/>
              <a:ext cx="2452056" cy="16550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46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From</a:t>
            </a:r>
            <a:r>
              <a:rPr lang="nl-NL" dirty="0"/>
              <a:t> </a:t>
            </a:r>
            <a:r>
              <a:rPr lang="nl-NL" dirty="0" err="1"/>
              <a:t>Physics</a:t>
            </a:r>
            <a:r>
              <a:rPr lang="nl-NL" dirty="0"/>
              <a:t> </a:t>
            </a:r>
            <a:r>
              <a:rPr lang="nl-NL" dirty="0" err="1"/>
              <a:t>to</a:t>
            </a:r>
            <a:r>
              <a:rPr lang="nl-NL" dirty="0"/>
              <a:t> </a:t>
            </a:r>
            <a:r>
              <a:rPr lang="nl-NL" dirty="0" err="1"/>
              <a:t>Physiology</a:t>
            </a:r>
            <a:endParaRPr lang="en-US" dirty="0"/>
          </a:p>
        </p:txBody>
      </p:sp>
      <p:sp>
        <p:nvSpPr>
          <p:cNvPr id="4" name="Tekstvak 3"/>
          <p:cNvSpPr txBox="1"/>
          <p:nvPr/>
        </p:nvSpPr>
        <p:spPr>
          <a:xfrm>
            <a:off x="4678326" y="2530549"/>
            <a:ext cx="2611292" cy="523220"/>
          </a:xfrm>
          <a:prstGeom prst="rect">
            <a:avLst/>
          </a:prstGeom>
          <a:noFill/>
          <a:ln w="12700">
            <a:solidFill>
              <a:schemeClr val="tx1"/>
            </a:solidFill>
          </a:ln>
        </p:spPr>
        <p:txBody>
          <a:bodyPr wrap="none" rtlCol="0">
            <a:spAutoFit/>
          </a:bodyPr>
          <a:lstStyle/>
          <a:p>
            <a:r>
              <a:rPr lang="nl-NL" sz="2800" dirty="0" err="1"/>
              <a:t>Forces</a:t>
            </a:r>
            <a:r>
              <a:rPr lang="nl-NL" sz="2800" dirty="0"/>
              <a:t> and </a:t>
            </a:r>
            <a:r>
              <a:rPr lang="nl-NL" sz="2800" dirty="0" err="1"/>
              <a:t>flows</a:t>
            </a:r>
            <a:endParaRPr lang="en-US" sz="2800" dirty="0"/>
          </a:p>
        </p:txBody>
      </p:sp>
      <p:sp>
        <p:nvSpPr>
          <p:cNvPr id="5" name="Tekstvak 4"/>
          <p:cNvSpPr txBox="1"/>
          <p:nvPr/>
        </p:nvSpPr>
        <p:spPr>
          <a:xfrm>
            <a:off x="1924493" y="4793306"/>
            <a:ext cx="1544077" cy="523220"/>
          </a:xfrm>
          <a:prstGeom prst="rect">
            <a:avLst/>
          </a:prstGeom>
          <a:noFill/>
          <a:ln w="12700">
            <a:solidFill>
              <a:schemeClr val="tx1"/>
            </a:solidFill>
          </a:ln>
        </p:spPr>
        <p:txBody>
          <a:bodyPr wrap="none" rtlCol="0">
            <a:spAutoFit/>
          </a:bodyPr>
          <a:lstStyle/>
          <a:p>
            <a:r>
              <a:rPr lang="nl-NL" sz="2800" dirty="0" err="1"/>
              <a:t>Structure</a:t>
            </a:r>
            <a:endParaRPr lang="en-US" sz="2800" dirty="0"/>
          </a:p>
        </p:txBody>
      </p:sp>
      <p:sp>
        <p:nvSpPr>
          <p:cNvPr id="6" name="Tekstvak 5"/>
          <p:cNvSpPr txBox="1"/>
          <p:nvPr/>
        </p:nvSpPr>
        <p:spPr>
          <a:xfrm>
            <a:off x="8091378" y="4793306"/>
            <a:ext cx="1460656" cy="523220"/>
          </a:xfrm>
          <a:prstGeom prst="rect">
            <a:avLst/>
          </a:prstGeom>
          <a:noFill/>
          <a:ln w="12700">
            <a:solidFill>
              <a:schemeClr val="tx1"/>
            </a:solidFill>
          </a:ln>
        </p:spPr>
        <p:txBody>
          <a:bodyPr wrap="none" rtlCol="0">
            <a:spAutoFit/>
          </a:bodyPr>
          <a:lstStyle/>
          <a:p>
            <a:r>
              <a:rPr lang="nl-NL" sz="2800" dirty="0" err="1"/>
              <a:t>Function</a:t>
            </a:r>
            <a:endParaRPr lang="en-US" sz="2800" dirty="0"/>
          </a:p>
        </p:txBody>
      </p:sp>
      <p:cxnSp>
        <p:nvCxnSpPr>
          <p:cNvPr id="8" name="Rechte verbindingslijn met pijl 7"/>
          <p:cNvCxnSpPr/>
          <p:nvPr/>
        </p:nvCxnSpPr>
        <p:spPr>
          <a:xfrm flipV="1">
            <a:off x="3030279" y="3264195"/>
            <a:ext cx="1988288" cy="129717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Rechte verbindingslijn met pijl 11"/>
          <p:cNvCxnSpPr/>
          <p:nvPr/>
        </p:nvCxnSpPr>
        <p:spPr>
          <a:xfrm flipV="1">
            <a:off x="2392326" y="3264195"/>
            <a:ext cx="1988288" cy="1297172"/>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Rechte verbindingslijn met pijl 12"/>
          <p:cNvCxnSpPr/>
          <p:nvPr/>
        </p:nvCxnSpPr>
        <p:spPr>
          <a:xfrm>
            <a:off x="7183179" y="3330546"/>
            <a:ext cx="1988288" cy="129717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Rechte verbindingslijn met pijl 13"/>
          <p:cNvCxnSpPr/>
          <p:nvPr/>
        </p:nvCxnSpPr>
        <p:spPr>
          <a:xfrm>
            <a:off x="6545226" y="3330546"/>
            <a:ext cx="1988288" cy="1297172"/>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p:cNvCxnSpPr/>
          <p:nvPr/>
        </p:nvCxnSpPr>
        <p:spPr>
          <a:xfrm flipV="1">
            <a:off x="3705447" y="5316526"/>
            <a:ext cx="4152900" cy="9397"/>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p:cNvCxnSpPr/>
          <p:nvPr/>
        </p:nvCxnSpPr>
        <p:spPr>
          <a:xfrm rot="10800000" flipV="1">
            <a:off x="3705447" y="4924851"/>
            <a:ext cx="4152900" cy="9397"/>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Tekstvak 17"/>
          <p:cNvSpPr txBox="1"/>
          <p:nvPr/>
        </p:nvSpPr>
        <p:spPr>
          <a:xfrm>
            <a:off x="5041406" y="4526779"/>
            <a:ext cx="2075889" cy="369332"/>
          </a:xfrm>
          <a:prstGeom prst="rect">
            <a:avLst/>
          </a:prstGeom>
          <a:noFill/>
        </p:spPr>
        <p:txBody>
          <a:bodyPr wrap="none" rtlCol="0">
            <a:spAutoFit/>
          </a:bodyPr>
          <a:lstStyle/>
          <a:p>
            <a:r>
              <a:rPr lang="nl-NL" i="1" dirty="0" err="1">
                <a:solidFill>
                  <a:srgbClr val="C00000"/>
                </a:solidFill>
              </a:rPr>
              <a:t>Cardiac</a:t>
            </a:r>
            <a:r>
              <a:rPr lang="nl-NL" i="1" dirty="0">
                <a:solidFill>
                  <a:srgbClr val="C00000"/>
                </a:solidFill>
              </a:rPr>
              <a:t> </a:t>
            </a:r>
            <a:r>
              <a:rPr lang="nl-NL" i="1" dirty="0" err="1">
                <a:solidFill>
                  <a:srgbClr val="C00000"/>
                </a:solidFill>
              </a:rPr>
              <a:t>hypertrophy</a:t>
            </a:r>
            <a:endParaRPr lang="en-US" i="1" dirty="0">
              <a:solidFill>
                <a:srgbClr val="C00000"/>
              </a:solidFill>
            </a:endParaRPr>
          </a:p>
        </p:txBody>
      </p:sp>
      <p:sp>
        <p:nvSpPr>
          <p:cNvPr id="19" name="Tekstvak 18"/>
          <p:cNvSpPr txBox="1"/>
          <p:nvPr/>
        </p:nvSpPr>
        <p:spPr>
          <a:xfrm>
            <a:off x="3081895" y="5383403"/>
            <a:ext cx="5804153" cy="369332"/>
          </a:xfrm>
          <a:prstGeom prst="rect">
            <a:avLst/>
          </a:prstGeom>
          <a:noFill/>
        </p:spPr>
        <p:txBody>
          <a:bodyPr wrap="none" rtlCol="0">
            <a:spAutoFit/>
          </a:bodyPr>
          <a:lstStyle/>
          <a:p>
            <a:r>
              <a:rPr lang="nl-NL" i="1" dirty="0" err="1">
                <a:solidFill>
                  <a:srgbClr val="C00000"/>
                </a:solidFill>
              </a:rPr>
              <a:t>Passive</a:t>
            </a:r>
            <a:r>
              <a:rPr lang="nl-NL" i="1" dirty="0">
                <a:solidFill>
                  <a:srgbClr val="C00000"/>
                </a:solidFill>
              </a:rPr>
              <a:t> and </a:t>
            </a:r>
            <a:r>
              <a:rPr lang="nl-NL" i="1" dirty="0" err="1">
                <a:solidFill>
                  <a:srgbClr val="C00000"/>
                </a:solidFill>
              </a:rPr>
              <a:t>active</a:t>
            </a:r>
            <a:r>
              <a:rPr lang="nl-NL" i="1" dirty="0">
                <a:solidFill>
                  <a:srgbClr val="C00000"/>
                </a:solidFill>
              </a:rPr>
              <a:t> </a:t>
            </a:r>
            <a:r>
              <a:rPr lang="nl-NL" i="1" dirty="0" err="1">
                <a:solidFill>
                  <a:srgbClr val="C00000"/>
                </a:solidFill>
              </a:rPr>
              <a:t>pressure</a:t>
            </a:r>
            <a:r>
              <a:rPr lang="nl-NL" i="1" dirty="0">
                <a:solidFill>
                  <a:srgbClr val="C00000"/>
                </a:solidFill>
              </a:rPr>
              <a:t>-volume </a:t>
            </a:r>
            <a:r>
              <a:rPr lang="nl-NL" i="1" dirty="0" err="1">
                <a:solidFill>
                  <a:srgbClr val="C00000"/>
                </a:solidFill>
              </a:rPr>
              <a:t>relation</a:t>
            </a:r>
            <a:r>
              <a:rPr lang="nl-NL" i="1" dirty="0">
                <a:solidFill>
                  <a:srgbClr val="C00000"/>
                </a:solidFill>
              </a:rPr>
              <a:t> of </a:t>
            </a:r>
            <a:r>
              <a:rPr lang="nl-NL" i="1" dirty="0" err="1">
                <a:solidFill>
                  <a:srgbClr val="C00000"/>
                </a:solidFill>
              </a:rPr>
              <a:t>left</a:t>
            </a:r>
            <a:r>
              <a:rPr lang="nl-NL" i="1" dirty="0">
                <a:solidFill>
                  <a:srgbClr val="C00000"/>
                </a:solidFill>
              </a:rPr>
              <a:t> </a:t>
            </a:r>
            <a:r>
              <a:rPr lang="nl-NL" i="1" dirty="0" err="1">
                <a:solidFill>
                  <a:srgbClr val="C00000"/>
                </a:solidFill>
              </a:rPr>
              <a:t>venrtricle</a:t>
            </a:r>
            <a:endParaRPr lang="en-US" i="1" dirty="0">
              <a:solidFill>
                <a:srgbClr val="C00000"/>
              </a:solidFill>
            </a:endParaRPr>
          </a:p>
        </p:txBody>
      </p:sp>
      <p:sp>
        <p:nvSpPr>
          <p:cNvPr id="20" name="Tekstvak 19"/>
          <p:cNvSpPr txBox="1"/>
          <p:nvPr/>
        </p:nvSpPr>
        <p:spPr>
          <a:xfrm rot="1935141">
            <a:off x="7154826" y="3484129"/>
            <a:ext cx="2338141" cy="369332"/>
          </a:xfrm>
          <a:prstGeom prst="rect">
            <a:avLst/>
          </a:prstGeom>
          <a:noFill/>
        </p:spPr>
        <p:txBody>
          <a:bodyPr wrap="none" rtlCol="0">
            <a:spAutoFit/>
          </a:bodyPr>
          <a:lstStyle/>
          <a:p>
            <a:r>
              <a:rPr lang="nl-NL" i="1" dirty="0" err="1">
                <a:solidFill>
                  <a:srgbClr val="C00000"/>
                </a:solidFill>
              </a:rPr>
              <a:t>Filling</a:t>
            </a:r>
            <a:r>
              <a:rPr lang="nl-NL" i="1" dirty="0">
                <a:solidFill>
                  <a:srgbClr val="C00000"/>
                </a:solidFill>
              </a:rPr>
              <a:t> in </a:t>
            </a:r>
            <a:r>
              <a:rPr lang="nl-NL" i="1" dirty="0" err="1">
                <a:solidFill>
                  <a:srgbClr val="C00000"/>
                </a:solidFill>
              </a:rPr>
              <a:t>the</a:t>
            </a:r>
            <a:r>
              <a:rPr lang="nl-NL" i="1" dirty="0">
                <a:solidFill>
                  <a:srgbClr val="C00000"/>
                </a:solidFill>
              </a:rPr>
              <a:t> rest </a:t>
            </a:r>
            <a:r>
              <a:rPr lang="nl-NL" i="1" dirty="0" err="1">
                <a:solidFill>
                  <a:srgbClr val="C00000"/>
                </a:solidFill>
              </a:rPr>
              <a:t>phase</a:t>
            </a:r>
            <a:endParaRPr lang="en-US" i="1" dirty="0">
              <a:solidFill>
                <a:srgbClr val="C00000"/>
              </a:solidFill>
            </a:endParaRPr>
          </a:p>
        </p:txBody>
      </p:sp>
      <p:sp>
        <p:nvSpPr>
          <p:cNvPr id="21" name="Tekstvak 20"/>
          <p:cNvSpPr txBox="1"/>
          <p:nvPr/>
        </p:nvSpPr>
        <p:spPr>
          <a:xfrm rot="1935141">
            <a:off x="6288190" y="3752358"/>
            <a:ext cx="1789977" cy="646331"/>
          </a:xfrm>
          <a:prstGeom prst="rect">
            <a:avLst/>
          </a:prstGeom>
          <a:noFill/>
        </p:spPr>
        <p:txBody>
          <a:bodyPr wrap="none" rtlCol="0">
            <a:spAutoFit/>
          </a:bodyPr>
          <a:lstStyle/>
          <a:p>
            <a:r>
              <a:rPr lang="nl-NL" i="1" dirty="0">
                <a:solidFill>
                  <a:srgbClr val="C00000"/>
                </a:solidFill>
              </a:rPr>
              <a:t>Arterial </a:t>
            </a:r>
            <a:r>
              <a:rPr lang="nl-NL" i="1" dirty="0" err="1">
                <a:solidFill>
                  <a:srgbClr val="C00000"/>
                </a:solidFill>
              </a:rPr>
              <a:t>pressure</a:t>
            </a:r>
            <a:r>
              <a:rPr lang="nl-NL" i="1" dirty="0">
                <a:solidFill>
                  <a:srgbClr val="C00000"/>
                </a:solidFill>
              </a:rPr>
              <a:t>,</a:t>
            </a:r>
          </a:p>
          <a:p>
            <a:r>
              <a:rPr lang="nl-NL" i="1" dirty="0" err="1">
                <a:solidFill>
                  <a:srgbClr val="C00000"/>
                </a:solidFill>
              </a:rPr>
              <a:t>Cardiac</a:t>
            </a:r>
            <a:r>
              <a:rPr lang="nl-NL" i="1" dirty="0">
                <a:solidFill>
                  <a:srgbClr val="C00000"/>
                </a:solidFill>
              </a:rPr>
              <a:t> output</a:t>
            </a:r>
            <a:endParaRPr lang="en-US" i="1" dirty="0">
              <a:solidFill>
                <a:srgbClr val="C00000"/>
              </a:solidFill>
            </a:endParaRPr>
          </a:p>
        </p:txBody>
      </p:sp>
      <p:sp>
        <p:nvSpPr>
          <p:cNvPr id="22" name="Tekstvak 21"/>
          <p:cNvSpPr txBox="1"/>
          <p:nvPr/>
        </p:nvSpPr>
        <p:spPr>
          <a:xfrm rot="19646447">
            <a:off x="3391500" y="3761413"/>
            <a:ext cx="1789977" cy="646331"/>
          </a:xfrm>
          <a:prstGeom prst="rect">
            <a:avLst/>
          </a:prstGeom>
          <a:noFill/>
        </p:spPr>
        <p:txBody>
          <a:bodyPr wrap="none" rtlCol="0">
            <a:spAutoFit/>
          </a:bodyPr>
          <a:lstStyle/>
          <a:p>
            <a:r>
              <a:rPr lang="nl-NL" i="1" dirty="0">
                <a:solidFill>
                  <a:srgbClr val="C00000"/>
                </a:solidFill>
              </a:rPr>
              <a:t>Arterial </a:t>
            </a:r>
            <a:r>
              <a:rPr lang="nl-NL" i="1" dirty="0" err="1">
                <a:solidFill>
                  <a:srgbClr val="C00000"/>
                </a:solidFill>
              </a:rPr>
              <a:t>pressure</a:t>
            </a:r>
            <a:r>
              <a:rPr lang="nl-NL" i="1" dirty="0">
                <a:solidFill>
                  <a:srgbClr val="C00000"/>
                </a:solidFill>
              </a:rPr>
              <a:t>,</a:t>
            </a:r>
          </a:p>
          <a:p>
            <a:r>
              <a:rPr lang="nl-NL" i="1" dirty="0" err="1">
                <a:solidFill>
                  <a:srgbClr val="C00000"/>
                </a:solidFill>
              </a:rPr>
              <a:t>Cardiac</a:t>
            </a:r>
            <a:r>
              <a:rPr lang="nl-NL" i="1" dirty="0">
                <a:solidFill>
                  <a:srgbClr val="C00000"/>
                </a:solidFill>
              </a:rPr>
              <a:t> output</a:t>
            </a:r>
            <a:endParaRPr lang="en-US" i="1" dirty="0">
              <a:solidFill>
                <a:srgbClr val="C00000"/>
              </a:solidFill>
            </a:endParaRPr>
          </a:p>
        </p:txBody>
      </p:sp>
      <p:sp>
        <p:nvSpPr>
          <p:cNvPr id="23" name="Tekstvak 22"/>
          <p:cNvSpPr txBox="1"/>
          <p:nvPr/>
        </p:nvSpPr>
        <p:spPr>
          <a:xfrm rot="19646447">
            <a:off x="2208461" y="3505010"/>
            <a:ext cx="2075889" cy="369332"/>
          </a:xfrm>
          <a:prstGeom prst="rect">
            <a:avLst/>
          </a:prstGeom>
          <a:noFill/>
        </p:spPr>
        <p:txBody>
          <a:bodyPr wrap="none" rtlCol="0">
            <a:spAutoFit/>
          </a:bodyPr>
          <a:lstStyle/>
          <a:p>
            <a:r>
              <a:rPr lang="nl-NL" i="1" dirty="0" err="1">
                <a:solidFill>
                  <a:srgbClr val="C00000"/>
                </a:solidFill>
              </a:rPr>
              <a:t>Cardiac</a:t>
            </a:r>
            <a:r>
              <a:rPr lang="nl-NL" i="1" dirty="0">
                <a:solidFill>
                  <a:srgbClr val="C00000"/>
                </a:solidFill>
              </a:rPr>
              <a:t> </a:t>
            </a:r>
            <a:r>
              <a:rPr lang="nl-NL" i="1" dirty="0" err="1">
                <a:solidFill>
                  <a:srgbClr val="C00000"/>
                </a:solidFill>
              </a:rPr>
              <a:t>hypertrophy</a:t>
            </a:r>
            <a:endParaRPr lang="en-US" i="1" dirty="0">
              <a:solidFill>
                <a:srgbClr val="C00000"/>
              </a:solidFill>
            </a:endParaRPr>
          </a:p>
        </p:txBody>
      </p:sp>
      <p:sp>
        <p:nvSpPr>
          <p:cNvPr id="24" name="Tekstvak 23"/>
          <p:cNvSpPr txBox="1"/>
          <p:nvPr/>
        </p:nvSpPr>
        <p:spPr>
          <a:xfrm>
            <a:off x="4410432" y="1748168"/>
            <a:ext cx="3906198" cy="461665"/>
          </a:xfrm>
          <a:prstGeom prst="rect">
            <a:avLst/>
          </a:prstGeom>
          <a:noFill/>
        </p:spPr>
        <p:txBody>
          <a:bodyPr wrap="none" rtlCol="0">
            <a:spAutoFit/>
          </a:bodyPr>
          <a:lstStyle/>
          <a:p>
            <a:r>
              <a:rPr lang="nl-NL" sz="2400" i="1" dirty="0" err="1">
                <a:solidFill>
                  <a:srgbClr val="C00000"/>
                </a:solidFill>
              </a:rPr>
              <a:t>Example</a:t>
            </a:r>
            <a:r>
              <a:rPr lang="nl-NL" sz="2400" i="1" dirty="0">
                <a:solidFill>
                  <a:srgbClr val="C00000"/>
                </a:solidFill>
              </a:rPr>
              <a:t>: </a:t>
            </a:r>
            <a:r>
              <a:rPr lang="nl-NL" sz="2400" i="1" dirty="0" err="1">
                <a:solidFill>
                  <a:srgbClr val="C00000"/>
                </a:solidFill>
              </a:rPr>
              <a:t>the</a:t>
            </a:r>
            <a:r>
              <a:rPr lang="nl-NL" sz="2400" i="1" dirty="0">
                <a:solidFill>
                  <a:srgbClr val="C00000"/>
                </a:solidFill>
              </a:rPr>
              <a:t> </a:t>
            </a:r>
            <a:r>
              <a:rPr lang="nl-NL" sz="2400" i="1" dirty="0" err="1">
                <a:solidFill>
                  <a:srgbClr val="C00000"/>
                </a:solidFill>
              </a:rPr>
              <a:t>heart</a:t>
            </a:r>
            <a:r>
              <a:rPr lang="nl-NL" sz="2400" i="1" dirty="0">
                <a:solidFill>
                  <a:srgbClr val="C00000"/>
                </a:solidFill>
              </a:rPr>
              <a:t> as a pump</a:t>
            </a:r>
            <a:endParaRPr lang="en-US" sz="2400" i="1" dirty="0">
              <a:solidFill>
                <a:srgbClr val="C00000"/>
              </a:solidFill>
            </a:endParaRPr>
          </a:p>
        </p:txBody>
      </p:sp>
      <p:pic>
        <p:nvPicPr>
          <p:cNvPr id="5122" name="Picture 2" descr="https://upload.wikimedia.org/wikipedia/commons/1/1c/Cardiac_Pressure_Volume_Loop.jpg"/>
          <p:cNvPicPr>
            <a:picLocks noChangeAspect="1" noChangeArrowheads="1"/>
          </p:cNvPicPr>
          <p:nvPr/>
        </p:nvPicPr>
        <p:blipFill rotWithShape="1">
          <a:blip r:embed="rId2">
            <a:extLst>
              <a:ext uri="{28A0092B-C50C-407E-A947-70E740481C1C}">
                <a14:useLocalDpi xmlns:a14="http://schemas.microsoft.com/office/drawing/2010/main" val="0"/>
              </a:ext>
            </a:extLst>
          </a:blip>
          <a:srcRect l="37793" r="27462"/>
          <a:stretch/>
        </p:blipFill>
        <p:spPr bwMode="auto">
          <a:xfrm>
            <a:off x="9552034" y="524816"/>
            <a:ext cx="2032000" cy="1952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712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From</a:t>
            </a:r>
            <a:r>
              <a:rPr lang="nl-NL" dirty="0"/>
              <a:t> </a:t>
            </a:r>
            <a:r>
              <a:rPr lang="nl-NL" dirty="0" err="1"/>
              <a:t>Physics</a:t>
            </a:r>
            <a:r>
              <a:rPr lang="nl-NL" dirty="0"/>
              <a:t> </a:t>
            </a:r>
            <a:r>
              <a:rPr lang="nl-NL" dirty="0" err="1"/>
              <a:t>to</a:t>
            </a:r>
            <a:r>
              <a:rPr lang="nl-NL" dirty="0"/>
              <a:t> </a:t>
            </a:r>
            <a:r>
              <a:rPr lang="nl-NL" dirty="0" err="1"/>
              <a:t>Physiology</a:t>
            </a:r>
            <a:endParaRPr lang="en-US" dirty="0"/>
          </a:p>
        </p:txBody>
      </p:sp>
      <p:sp>
        <p:nvSpPr>
          <p:cNvPr id="4" name="Tekstvak 3"/>
          <p:cNvSpPr txBox="1"/>
          <p:nvPr/>
        </p:nvSpPr>
        <p:spPr>
          <a:xfrm>
            <a:off x="4678326" y="2530549"/>
            <a:ext cx="1674849" cy="523220"/>
          </a:xfrm>
          <a:prstGeom prst="rect">
            <a:avLst/>
          </a:prstGeom>
          <a:noFill/>
          <a:ln w="12700">
            <a:solidFill>
              <a:schemeClr val="tx1"/>
            </a:solidFill>
          </a:ln>
        </p:spPr>
        <p:txBody>
          <a:bodyPr wrap="square" rtlCol="0">
            <a:spAutoFit/>
          </a:bodyPr>
          <a:lstStyle/>
          <a:p>
            <a:r>
              <a:rPr lang="nl-NL" sz="2800" dirty="0" err="1"/>
              <a:t>Physics</a:t>
            </a:r>
            <a:endParaRPr lang="en-US" sz="2800" dirty="0"/>
          </a:p>
        </p:txBody>
      </p:sp>
      <p:sp>
        <p:nvSpPr>
          <p:cNvPr id="5" name="Tekstvak 4"/>
          <p:cNvSpPr txBox="1"/>
          <p:nvPr/>
        </p:nvSpPr>
        <p:spPr>
          <a:xfrm>
            <a:off x="1924493" y="4793306"/>
            <a:ext cx="1544077" cy="523220"/>
          </a:xfrm>
          <a:prstGeom prst="rect">
            <a:avLst/>
          </a:prstGeom>
          <a:noFill/>
          <a:ln w="12700">
            <a:solidFill>
              <a:schemeClr val="tx1"/>
            </a:solidFill>
          </a:ln>
        </p:spPr>
        <p:txBody>
          <a:bodyPr wrap="none" rtlCol="0">
            <a:spAutoFit/>
          </a:bodyPr>
          <a:lstStyle/>
          <a:p>
            <a:r>
              <a:rPr lang="nl-NL" sz="2800" dirty="0" err="1"/>
              <a:t>Structure</a:t>
            </a:r>
            <a:endParaRPr lang="en-US" sz="2800" dirty="0"/>
          </a:p>
        </p:txBody>
      </p:sp>
      <p:sp>
        <p:nvSpPr>
          <p:cNvPr id="6" name="Tekstvak 5"/>
          <p:cNvSpPr txBox="1"/>
          <p:nvPr/>
        </p:nvSpPr>
        <p:spPr>
          <a:xfrm>
            <a:off x="8091378" y="4793306"/>
            <a:ext cx="1460656" cy="523220"/>
          </a:xfrm>
          <a:prstGeom prst="rect">
            <a:avLst/>
          </a:prstGeom>
          <a:noFill/>
          <a:ln w="12700">
            <a:solidFill>
              <a:schemeClr val="tx1"/>
            </a:solidFill>
          </a:ln>
        </p:spPr>
        <p:txBody>
          <a:bodyPr wrap="none" rtlCol="0">
            <a:spAutoFit/>
          </a:bodyPr>
          <a:lstStyle/>
          <a:p>
            <a:r>
              <a:rPr lang="nl-NL" sz="2800" dirty="0" err="1"/>
              <a:t>Function</a:t>
            </a:r>
            <a:endParaRPr lang="en-US" sz="2800" dirty="0"/>
          </a:p>
        </p:txBody>
      </p:sp>
      <p:cxnSp>
        <p:nvCxnSpPr>
          <p:cNvPr id="8" name="Rechte verbindingslijn met pijl 7"/>
          <p:cNvCxnSpPr/>
          <p:nvPr/>
        </p:nvCxnSpPr>
        <p:spPr>
          <a:xfrm flipV="1">
            <a:off x="3030279" y="3264195"/>
            <a:ext cx="1988288" cy="129717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Rechte verbindingslijn met pijl 11"/>
          <p:cNvCxnSpPr/>
          <p:nvPr/>
        </p:nvCxnSpPr>
        <p:spPr>
          <a:xfrm flipV="1">
            <a:off x="2392326" y="3264195"/>
            <a:ext cx="1988288" cy="1297172"/>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Rechte verbindingslijn met pijl 12"/>
          <p:cNvCxnSpPr/>
          <p:nvPr/>
        </p:nvCxnSpPr>
        <p:spPr>
          <a:xfrm>
            <a:off x="7183179" y="3330546"/>
            <a:ext cx="1988288" cy="1297172"/>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Rechte verbindingslijn met pijl 13"/>
          <p:cNvCxnSpPr/>
          <p:nvPr/>
        </p:nvCxnSpPr>
        <p:spPr>
          <a:xfrm>
            <a:off x="6545226" y="3330546"/>
            <a:ext cx="1988288" cy="1297172"/>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p:cNvCxnSpPr/>
          <p:nvPr/>
        </p:nvCxnSpPr>
        <p:spPr>
          <a:xfrm flipV="1">
            <a:off x="3705447" y="5316526"/>
            <a:ext cx="4152900" cy="9397"/>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p:cNvCxnSpPr/>
          <p:nvPr/>
        </p:nvCxnSpPr>
        <p:spPr>
          <a:xfrm rot="10800000" flipV="1">
            <a:off x="3705447" y="4924851"/>
            <a:ext cx="4152900" cy="9397"/>
          </a:xfrm>
          <a:prstGeom prst="straightConnector1">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Tekstvak 23"/>
          <p:cNvSpPr txBox="1"/>
          <p:nvPr/>
        </p:nvSpPr>
        <p:spPr>
          <a:xfrm>
            <a:off x="4410432" y="1748168"/>
            <a:ext cx="2299669" cy="461665"/>
          </a:xfrm>
          <a:prstGeom prst="rect">
            <a:avLst/>
          </a:prstGeom>
          <a:noFill/>
        </p:spPr>
        <p:txBody>
          <a:bodyPr wrap="none" rtlCol="0">
            <a:spAutoFit/>
          </a:bodyPr>
          <a:lstStyle/>
          <a:p>
            <a:r>
              <a:rPr lang="nl-NL" sz="2400" i="1" dirty="0" err="1">
                <a:solidFill>
                  <a:srgbClr val="C00000"/>
                </a:solidFill>
              </a:rPr>
              <a:t>Example</a:t>
            </a:r>
            <a:r>
              <a:rPr lang="nl-NL" sz="2400" i="1" dirty="0">
                <a:solidFill>
                  <a:srgbClr val="C00000"/>
                </a:solidFill>
              </a:rPr>
              <a:t>: </a:t>
            </a:r>
            <a:r>
              <a:rPr lang="nl-NL" sz="2400" i="1" dirty="0" err="1">
                <a:solidFill>
                  <a:srgbClr val="C00000"/>
                </a:solidFill>
              </a:rPr>
              <a:t>the</a:t>
            </a:r>
            <a:r>
              <a:rPr lang="nl-NL" sz="2400" i="1" dirty="0">
                <a:solidFill>
                  <a:srgbClr val="C00000"/>
                </a:solidFill>
              </a:rPr>
              <a:t> </a:t>
            </a:r>
            <a:r>
              <a:rPr lang="nl-NL" sz="2400" i="1" dirty="0" err="1">
                <a:solidFill>
                  <a:srgbClr val="C00000"/>
                </a:solidFill>
              </a:rPr>
              <a:t>eye</a:t>
            </a:r>
            <a:endParaRPr lang="en-US" sz="2400" i="1" dirty="0">
              <a:solidFill>
                <a:srgbClr val="C00000"/>
              </a:solidFill>
            </a:endParaRPr>
          </a:p>
        </p:txBody>
      </p:sp>
      <p:pic>
        <p:nvPicPr>
          <p:cNvPr id="1026" name="Picture 2" descr="Eye Anatomy | Retina Specialists Orlando | Central Florida ...">
            <a:extLst>
              <a:ext uri="{FF2B5EF4-FFF2-40B4-BE49-F238E27FC236}">
                <a16:creationId xmlns:a16="http://schemas.microsoft.com/office/drawing/2014/main" id="{6CD13ADB-3434-219A-1D0A-9A004A75C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216" y="281775"/>
            <a:ext cx="2843359" cy="2751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800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Systems and </a:t>
            </a:r>
            <a:r>
              <a:rPr lang="nl-NL" dirty="0" err="1"/>
              <a:t>models</a:t>
            </a:r>
            <a:endParaRPr lang="en-US" dirty="0"/>
          </a:p>
        </p:txBody>
      </p:sp>
      <p:sp>
        <p:nvSpPr>
          <p:cNvPr id="3" name="Tijdelijke aanduiding voor inhoud 2"/>
          <p:cNvSpPr>
            <a:spLocks noGrp="1"/>
          </p:cNvSpPr>
          <p:nvPr>
            <p:ph idx="1"/>
          </p:nvPr>
        </p:nvSpPr>
        <p:spPr/>
        <p:txBody>
          <a:bodyPr>
            <a:normAutofit fontScale="85000" lnSpcReduction="20000"/>
          </a:bodyPr>
          <a:lstStyle/>
          <a:p>
            <a:pPr marL="0" indent="0">
              <a:buNone/>
            </a:pPr>
            <a:r>
              <a:rPr lang="nl-NL" dirty="0"/>
              <a:t>System: a </a:t>
            </a:r>
            <a:r>
              <a:rPr lang="nl-NL" dirty="0" err="1"/>
              <a:t>group</a:t>
            </a:r>
            <a:r>
              <a:rPr lang="nl-NL" dirty="0"/>
              <a:t> of </a:t>
            </a:r>
            <a:r>
              <a:rPr lang="nl-NL" dirty="0" err="1"/>
              <a:t>elements</a:t>
            </a:r>
            <a:r>
              <a:rPr lang="nl-NL" dirty="0"/>
              <a:t> (sub-systems) </a:t>
            </a:r>
            <a:r>
              <a:rPr lang="nl-NL" dirty="0" err="1"/>
              <a:t>with</a:t>
            </a:r>
            <a:r>
              <a:rPr lang="nl-NL" dirty="0"/>
              <a:t> </a:t>
            </a:r>
            <a:r>
              <a:rPr lang="nl-NL" dirty="0" err="1"/>
              <a:t>their</a:t>
            </a:r>
            <a:r>
              <a:rPr lang="nl-NL" dirty="0"/>
              <a:t> relations and relations </a:t>
            </a:r>
            <a:r>
              <a:rPr lang="nl-NL" dirty="0" err="1"/>
              <a:t>with</a:t>
            </a:r>
            <a:r>
              <a:rPr lang="nl-NL" dirty="0"/>
              <a:t> the </a:t>
            </a:r>
            <a:r>
              <a:rPr lang="nl-NL" dirty="0" err="1"/>
              <a:t>outside</a:t>
            </a:r>
            <a:r>
              <a:rPr lang="nl-NL" dirty="0"/>
              <a:t> </a:t>
            </a:r>
            <a:r>
              <a:rPr lang="nl-NL" dirty="0" err="1"/>
              <a:t>world</a:t>
            </a:r>
            <a:r>
              <a:rPr lang="nl-NL" dirty="0"/>
              <a:t> </a:t>
            </a:r>
            <a:r>
              <a:rPr lang="nl-NL" dirty="0" err="1"/>
              <a:t>that</a:t>
            </a:r>
            <a:r>
              <a:rPr lang="nl-NL" dirty="0"/>
              <a:t> </a:t>
            </a:r>
            <a:r>
              <a:rPr lang="nl-NL" dirty="0" err="1"/>
              <a:t>constitute</a:t>
            </a:r>
            <a:r>
              <a:rPr lang="nl-NL" dirty="0"/>
              <a:t> a complex and </a:t>
            </a:r>
            <a:r>
              <a:rPr lang="nl-NL" dirty="0" err="1"/>
              <a:t>integrated</a:t>
            </a:r>
            <a:r>
              <a:rPr lang="nl-NL" dirty="0"/>
              <a:t> </a:t>
            </a:r>
            <a:r>
              <a:rPr lang="nl-NL" dirty="0" err="1"/>
              <a:t>whole</a:t>
            </a:r>
            <a:r>
              <a:rPr lang="nl-NL" dirty="0"/>
              <a:t> </a:t>
            </a:r>
          </a:p>
          <a:p>
            <a:r>
              <a:rPr lang="nl-NL" dirty="0" err="1"/>
              <a:t>E.g</a:t>
            </a:r>
            <a:r>
              <a:rPr lang="nl-NL" dirty="0"/>
              <a:t> the </a:t>
            </a:r>
            <a:r>
              <a:rPr lang="nl-NL" dirty="0" err="1"/>
              <a:t>Cardiovascular</a:t>
            </a:r>
            <a:r>
              <a:rPr lang="nl-NL" dirty="0"/>
              <a:t> System </a:t>
            </a:r>
          </a:p>
          <a:p>
            <a:pPr marL="0" indent="0">
              <a:buNone/>
            </a:pPr>
            <a:endParaRPr lang="nl-NL" dirty="0"/>
          </a:p>
          <a:p>
            <a:pPr marL="0" indent="0">
              <a:buNone/>
            </a:pPr>
            <a:r>
              <a:rPr lang="nl-NL" dirty="0"/>
              <a:t>Model: a relevant part of a system</a:t>
            </a:r>
          </a:p>
          <a:p>
            <a:r>
              <a:rPr lang="nl-NL" dirty="0" err="1"/>
              <a:t>specific</a:t>
            </a:r>
            <a:r>
              <a:rPr lang="nl-NL" dirty="0"/>
              <a:t> </a:t>
            </a:r>
            <a:r>
              <a:rPr lang="nl-NL" dirty="0" err="1"/>
              <a:t>elements</a:t>
            </a:r>
            <a:r>
              <a:rPr lang="nl-NL" dirty="0"/>
              <a:t>: e.g. the </a:t>
            </a:r>
            <a:r>
              <a:rPr lang="nl-NL" dirty="0" err="1"/>
              <a:t>systemic</a:t>
            </a:r>
            <a:r>
              <a:rPr lang="nl-NL" dirty="0"/>
              <a:t> </a:t>
            </a:r>
            <a:r>
              <a:rPr lang="nl-NL" dirty="0" err="1"/>
              <a:t>circulation</a:t>
            </a:r>
            <a:r>
              <a:rPr lang="nl-NL" dirty="0"/>
              <a:t> but </a:t>
            </a:r>
            <a:r>
              <a:rPr lang="nl-NL" dirty="0" err="1"/>
              <a:t>not</a:t>
            </a:r>
            <a:r>
              <a:rPr lang="nl-NL" dirty="0"/>
              <a:t> the </a:t>
            </a:r>
            <a:r>
              <a:rPr lang="nl-NL" dirty="0" err="1"/>
              <a:t>pulmonary</a:t>
            </a:r>
            <a:r>
              <a:rPr lang="nl-NL" dirty="0"/>
              <a:t> </a:t>
            </a:r>
            <a:r>
              <a:rPr lang="nl-NL" dirty="0" err="1"/>
              <a:t>circulation</a:t>
            </a:r>
            <a:endParaRPr lang="nl-NL" dirty="0"/>
          </a:p>
          <a:p>
            <a:r>
              <a:rPr lang="nl-NL" dirty="0" err="1"/>
              <a:t>Specific</a:t>
            </a:r>
            <a:r>
              <a:rPr lang="nl-NL" dirty="0"/>
              <a:t> relations: effect of </a:t>
            </a:r>
            <a:r>
              <a:rPr lang="nl-NL" dirty="0" err="1"/>
              <a:t>blood</a:t>
            </a:r>
            <a:r>
              <a:rPr lang="nl-NL" dirty="0"/>
              <a:t> </a:t>
            </a:r>
            <a:r>
              <a:rPr lang="nl-NL" dirty="0" err="1"/>
              <a:t>pressure</a:t>
            </a:r>
            <a:r>
              <a:rPr lang="nl-NL" dirty="0"/>
              <a:t> on </a:t>
            </a:r>
            <a:r>
              <a:rPr lang="nl-NL" dirty="0" err="1"/>
              <a:t>kidney</a:t>
            </a:r>
            <a:r>
              <a:rPr lang="nl-NL" dirty="0"/>
              <a:t> but </a:t>
            </a:r>
            <a:r>
              <a:rPr lang="nl-NL" dirty="0" err="1"/>
              <a:t>not</a:t>
            </a:r>
            <a:r>
              <a:rPr lang="nl-NL" dirty="0"/>
              <a:t> </a:t>
            </a:r>
            <a:r>
              <a:rPr lang="nl-NL" dirty="0" err="1"/>
              <a:t>brain</a:t>
            </a:r>
            <a:endParaRPr lang="nl-NL" dirty="0"/>
          </a:p>
          <a:p>
            <a:r>
              <a:rPr lang="nl-NL" dirty="0" err="1"/>
              <a:t>Specific</a:t>
            </a:r>
            <a:r>
              <a:rPr lang="nl-NL" dirty="0"/>
              <a:t> </a:t>
            </a:r>
            <a:r>
              <a:rPr lang="nl-NL" dirty="0" err="1"/>
              <a:t>aspects</a:t>
            </a:r>
            <a:r>
              <a:rPr lang="nl-NL" dirty="0"/>
              <a:t>: e.g. </a:t>
            </a:r>
            <a:r>
              <a:rPr lang="nl-NL" dirty="0" err="1"/>
              <a:t>for</a:t>
            </a:r>
            <a:r>
              <a:rPr lang="nl-NL" dirty="0"/>
              <a:t> the </a:t>
            </a:r>
            <a:r>
              <a:rPr lang="nl-NL" dirty="0" err="1"/>
              <a:t>heart</a:t>
            </a:r>
            <a:r>
              <a:rPr lang="nl-NL" dirty="0"/>
              <a:t> the </a:t>
            </a:r>
            <a:r>
              <a:rPr lang="nl-NL" dirty="0" err="1"/>
              <a:t>pumping</a:t>
            </a:r>
            <a:r>
              <a:rPr lang="nl-NL" dirty="0"/>
              <a:t> but </a:t>
            </a:r>
            <a:r>
              <a:rPr lang="nl-NL" dirty="0" err="1"/>
              <a:t>not</a:t>
            </a:r>
            <a:r>
              <a:rPr lang="nl-NL" dirty="0"/>
              <a:t> the ECG</a:t>
            </a:r>
          </a:p>
          <a:p>
            <a:r>
              <a:rPr lang="nl-NL" dirty="0" err="1"/>
              <a:t>Specific</a:t>
            </a:r>
            <a:r>
              <a:rPr lang="nl-NL" dirty="0"/>
              <a:t> time </a:t>
            </a:r>
            <a:r>
              <a:rPr lang="nl-NL" dirty="0" err="1"/>
              <a:t>scale</a:t>
            </a:r>
            <a:r>
              <a:rPr lang="nl-NL" dirty="0"/>
              <a:t>: e.g. </a:t>
            </a:r>
            <a:r>
              <a:rPr lang="nl-NL" dirty="0" err="1"/>
              <a:t>physiological</a:t>
            </a:r>
            <a:r>
              <a:rPr lang="nl-NL" dirty="0"/>
              <a:t> response but </a:t>
            </a:r>
            <a:r>
              <a:rPr lang="nl-NL" dirty="0" err="1"/>
              <a:t>not</a:t>
            </a:r>
            <a:r>
              <a:rPr lang="nl-NL" dirty="0"/>
              <a:t> </a:t>
            </a:r>
            <a:r>
              <a:rPr lang="nl-NL" dirty="0" err="1"/>
              <a:t>growth</a:t>
            </a:r>
            <a:r>
              <a:rPr lang="nl-NL" dirty="0"/>
              <a:t>/</a:t>
            </a:r>
            <a:r>
              <a:rPr lang="nl-NL" dirty="0" err="1"/>
              <a:t>remodeling</a:t>
            </a:r>
            <a:endParaRPr lang="nl-NL" dirty="0"/>
          </a:p>
          <a:p>
            <a:r>
              <a:rPr lang="nl-NL" dirty="0" err="1"/>
              <a:t>Specific</a:t>
            </a:r>
            <a:r>
              <a:rPr lang="nl-NL" dirty="0"/>
              <a:t> level of </a:t>
            </a:r>
            <a:r>
              <a:rPr lang="nl-NL" dirty="0" err="1"/>
              <a:t>integration</a:t>
            </a:r>
            <a:r>
              <a:rPr lang="nl-NL" dirty="0"/>
              <a:t>: </a:t>
            </a:r>
            <a:r>
              <a:rPr lang="nl-NL" dirty="0" err="1"/>
              <a:t>organs</a:t>
            </a:r>
            <a:r>
              <a:rPr lang="nl-NL" dirty="0"/>
              <a:t> but </a:t>
            </a:r>
            <a:r>
              <a:rPr lang="nl-NL" dirty="0" err="1"/>
              <a:t>not</a:t>
            </a:r>
            <a:r>
              <a:rPr lang="nl-NL" dirty="0"/>
              <a:t> the </a:t>
            </a:r>
            <a:r>
              <a:rPr lang="nl-NL" dirty="0" err="1"/>
              <a:t>molecules</a:t>
            </a:r>
            <a:endParaRPr lang="nl-NL" dirty="0"/>
          </a:p>
          <a:p>
            <a:r>
              <a:rPr lang="nl-NL" dirty="0" err="1"/>
              <a:t>And</a:t>
            </a:r>
            <a:r>
              <a:rPr lang="nl-NL" dirty="0"/>
              <a:t> </a:t>
            </a:r>
            <a:r>
              <a:rPr lang="nl-NL" dirty="0" err="1"/>
              <a:t>so</a:t>
            </a:r>
            <a:r>
              <a:rPr lang="nl-NL" dirty="0"/>
              <a:t> on</a:t>
            </a:r>
            <a:endParaRPr lang="en-US" dirty="0"/>
          </a:p>
        </p:txBody>
      </p:sp>
    </p:spTree>
    <p:extLst>
      <p:ext uri="{BB962C8B-B14F-4D97-AF65-F5344CB8AC3E}">
        <p14:creationId xmlns:p14="http://schemas.microsoft.com/office/powerpoint/2010/main" val="105565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Models</a:t>
            </a:r>
            <a:endParaRPr lang="en-US" dirty="0"/>
          </a:p>
        </p:txBody>
      </p:sp>
      <p:sp>
        <p:nvSpPr>
          <p:cNvPr id="3" name="Tijdelijke aanduiding voor inhoud 2"/>
          <p:cNvSpPr>
            <a:spLocks noGrp="1"/>
          </p:cNvSpPr>
          <p:nvPr>
            <p:ph idx="1"/>
          </p:nvPr>
        </p:nvSpPr>
        <p:spPr/>
        <p:txBody>
          <a:bodyPr/>
          <a:lstStyle/>
          <a:p>
            <a:r>
              <a:rPr lang="en-US" dirty="0"/>
              <a:t>A model represents those features of reality that are relevant for the specific purpose set by the modeler</a:t>
            </a:r>
          </a:p>
        </p:txBody>
      </p:sp>
    </p:spTree>
    <p:extLst>
      <p:ext uri="{BB962C8B-B14F-4D97-AF65-F5344CB8AC3E}">
        <p14:creationId xmlns:p14="http://schemas.microsoft.com/office/powerpoint/2010/main" val="17562508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p:cNvPicPr>
            <a:picLocks noChangeAspect="1"/>
          </p:cNvPicPr>
          <p:nvPr/>
        </p:nvPicPr>
        <p:blipFill>
          <a:blip r:embed="rId2"/>
          <a:stretch>
            <a:fillRect/>
          </a:stretch>
        </p:blipFill>
        <p:spPr>
          <a:xfrm>
            <a:off x="1852020" y="1097616"/>
            <a:ext cx="8487960" cy="5106113"/>
          </a:xfrm>
          <a:prstGeom prst="rect">
            <a:avLst/>
          </a:prstGeom>
        </p:spPr>
      </p:pic>
      <p:sp>
        <p:nvSpPr>
          <p:cNvPr id="5" name="Tekstvak 4"/>
          <p:cNvSpPr txBox="1"/>
          <p:nvPr/>
        </p:nvSpPr>
        <p:spPr>
          <a:xfrm>
            <a:off x="309351" y="6373091"/>
            <a:ext cx="5786649" cy="369332"/>
          </a:xfrm>
          <a:prstGeom prst="rect">
            <a:avLst/>
          </a:prstGeom>
          <a:noFill/>
        </p:spPr>
        <p:txBody>
          <a:bodyPr wrap="none" rtlCol="0">
            <a:spAutoFit/>
          </a:bodyPr>
          <a:lstStyle/>
          <a:p>
            <a:r>
              <a:rPr lang="en-US" dirty="0"/>
              <a:t>https://www.thoughtco.com/cardiovascular-system-373577</a:t>
            </a:r>
          </a:p>
        </p:txBody>
      </p:sp>
      <p:sp>
        <p:nvSpPr>
          <p:cNvPr id="6" name="Titel 5"/>
          <p:cNvSpPr>
            <a:spLocks noGrp="1"/>
          </p:cNvSpPr>
          <p:nvPr>
            <p:ph type="title"/>
          </p:nvPr>
        </p:nvSpPr>
        <p:spPr>
          <a:xfrm>
            <a:off x="931335" y="32616"/>
            <a:ext cx="10515600" cy="1325563"/>
          </a:xfrm>
        </p:spPr>
        <p:txBody>
          <a:bodyPr/>
          <a:lstStyle/>
          <a:p>
            <a:r>
              <a:rPr lang="nl-NL" dirty="0" err="1"/>
              <a:t>Anatomical</a:t>
            </a:r>
            <a:r>
              <a:rPr lang="nl-NL" dirty="0"/>
              <a:t> model</a:t>
            </a:r>
            <a:endParaRPr lang="en-US" dirty="0"/>
          </a:p>
        </p:txBody>
      </p:sp>
    </p:spTree>
    <p:extLst>
      <p:ext uri="{BB962C8B-B14F-4D97-AF65-F5344CB8AC3E}">
        <p14:creationId xmlns:p14="http://schemas.microsoft.com/office/powerpoint/2010/main" val="4290978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p:cNvPicPr>
            <a:picLocks noChangeAspect="1"/>
          </p:cNvPicPr>
          <p:nvPr/>
        </p:nvPicPr>
        <p:blipFill>
          <a:blip r:embed="rId2"/>
          <a:stretch>
            <a:fillRect/>
          </a:stretch>
        </p:blipFill>
        <p:spPr>
          <a:xfrm>
            <a:off x="1513835" y="871180"/>
            <a:ext cx="9164329" cy="5115639"/>
          </a:xfrm>
          <a:prstGeom prst="rect">
            <a:avLst/>
          </a:prstGeom>
        </p:spPr>
      </p:pic>
      <p:sp>
        <p:nvSpPr>
          <p:cNvPr id="5" name="Titel 5"/>
          <p:cNvSpPr>
            <a:spLocks noGrp="1"/>
          </p:cNvSpPr>
          <p:nvPr>
            <p:ph type="title"/>
          </p:nvPr>
        </p:nvSpPr>
        <p:spPr>
          <a:xfrm>
            <a:off x="931335" y="32616"/>
            <a:ext cx="10515600" cy="1325563"/>
          </a:xfrm>
        </p:spPr>
        <p:txBody>
          <a:bodyPr/>
          <a:lstStyle/>
          <a:p>
            <a:r>
              <a:rPr lang="nl-NL" dirty="0" err="1"/>
              <a:t>Physiological</a:t>
            </a:r>
            <a:r>
              <a:rPr lang="nl-NL" dirty="0"/>
              <a:t> model</a:t>
            </a:r>
            <a:endParaRPr lang="en-US" dirty="0"/>
          </a:p>
        </p:txBody>
      </p:sp>
    </p:spTree>
    <p:extLst>
      <p:ext uri="{BB962C8B-B14F-4D97-AF65-F5344CB8AC3E}">
        <p14:creationId xmlns:p14="http://schemas.microsoft.com/office/powerpoint/2010/main" val="3241297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5"/>
          <p:cNvSpPr>
            <a:spLocks noGrp="1"/>
          </p:cNvSpPr>
          <p:nvPr>
            <p:ph type="title"/>
          </p:nvPr>
        </p:nvSpPr>
        <p:spPr>
          <a:xfrm>
            <a:off x="931335" y="32616"/>
            <a:ext cx="10515600" cy="1325563"/>
          </a:xfrm>
        </p:spPr>
        <p:txBody>
          <a:bodyPr/>
          <a:lstStyle/>
          <a:p>
            <a:r>
              <a:rPr lang="nl-NL" dirty="0" err="1"/>
              <a:t>Physical</a:t>
            </a:r>
            <a:r>
              <a:rPr lang="nl-NL" dirty="0"/>
              <a:t> / Mathematical model</a:t>
            </a:r>
            <a:endParaRPr lang="en-US" dirty="0"/>
          </a:p>
        </p:txBody>
      </p:sp>
      <p:pic>
        <p:nvPicPr>
          <p:cNvPr id="2" name="Afbeelding 1"/>
          <p:cNvPicPr>
            <a:picLocks noChangeAspect="1"/>
          </p:cNvPicPr>
          <p:nvPr/>
        </p:nvPicPr>
        <p:blipFill>
          <a:blip r:embed="rId2"/>
          <a:stretch>
            <a:fillRect/>
          </a:stretch>
        </p:blipFill>
        <p:spPr>
          <a:xfrm>
            <a:off x="931335" y="1358179"/>
            <a:ext cx="10684859" cy="5177462"/>
          </a:xfrm>
          <a:prstGeom prst="rect">
            <a:avLst/>
          </a:prstGeom>
        </p:spPr>
      </p:pic>
    </p:spTree>
    <p:extLst>
      <p:ext uri="{BB962C8B-B14F-4D97-AF65-F5344CB8AC3E}">
        <p14:creationId xmlns:p14="http://schemas.microsoft.com/office/powerpoint/2010/main" val="15980212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kstvak 4">
            <a:extLst>
              <a:ext uri="{FF2B5EF4-FFF2-40B4-BE49-F238E27FC236}">
                <a16:creationId xmlns:a16="http://schemas.microsoft.com/office/drawing/2014/main" id="{1474FB12-76D8-4251-A9AF-658A19E56A88}"/>
              </a:ext>
            </a:extLst>
          </p:cNvPr>
          <p:cNvSpPr txBox="1"/>
          <p:nvPr/>
        </p:nvSpPr>
        <p:spPr>
          <a:xfrm>
            <a:off x="203201" y="6611779"/>
            <a:ext cx="4342856" cy="246221"/>
          </a:xfrm>
          <a:prstGeom prst="rect">
            <a:avLst/>
          </a:prstGeom>
          <a:noFill/>
        </p:spPr>
        <p:txBody>
          <a:bodyPr wrap="none" rtlCol="0">
            <a:spAutoFit/>
          </a:bodyPr>
          <a:lstStyle/>
          <a:p>
            <a:r>
              <a:rPr lang="nl-NL" sz="1000" dirty="0"/>
              <a:t>https://ars.els-cdn.com/content/image/1-s2.0-S0741521415003006-gr2_lrg.jpg</a:t>
            </a:r>
          </a:p>
        </p:txBody>
      </p:sp>
      <p:sp>
        <p:nvSpPr>
          <p:cNvPr id="6" name="Titel 5"/>
          <p:cNvSpPr>
            <a:spLocks noGrp="1"/>
          </p:cNvSpPr>
          <p:nvPr>
            <p:ph type="title"/>
          </p:nvPr>
        </p:nvSpPr>
        <p:spPr>
          <a:xfrm>
            <a:off x="931335" y="32616"/>
            <a:ext cx="10515600" cy="1325563"/>
          </a:xfrm>
        </p:spPr>
        <p:txBody>
          <a:bodyPr/>
          <a:lstStyle/>
          <a:p>
            <a:r>
              <a:rPr lang="nl-NL" dirty="0"/>
              <a:t>Engineering model</a:t>
            </a:r>
            <a:endParaRPr lang="en-US" dirty="0"/>
          </a:p>
        </p:txBody>
      </p:sp>
      <p:pic>
        <p:nvPicPr>
          <p:cNvPr id="2" name="Afbeelding 1"/>
          <p:cNvPicPr>
            <a:picLocks noChangeAspect="1"/>
          </p:cNvPicPr>
          <p:nvPr/>
        </p:nvPicPr>
        <p:blipFill>
          <a:blip r:embed="rId2"/>
          <a:stretch>
            <a:fillRect/>
          </a:stretch>
        </p:blipFill>
        <p:spPr>
          <a:xfrm>
            <a:off x="1482437" y="1259361"/>
            <a:ext cx="9112834" cy="5069621"/>
          </a:xfrm>
          <a:prstGeom prst="rect">
            <a:avLst/>
          </a:prstGeom>
        </p:spPr>
      </p:pic>
    </p:spTree>
    <p:extLst>
      <p:ext uri="{BB962C8B-B14F-4D97-AF65-F5344CB8AC3E}">
        <p14:creationId xmlns:p14="http://schemas.microsoft.com/office/powerpoint/2010/main" val="42905277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kstvak 4">
            <a:extLst>
              <a:ext uri="{FF2B5EF4-FFF2-40B4-BE49-F238E27FC236}">
                <a16:creationId xmlns:a16="http://schemas.microsoft.com/office/drawing/2014/main" id="{1474FB12-76D8-4251-A9AF-658A19E56A88}"/>
              </a:ext>
            </a:extLst>
          </p:cNvPr>
          <p:cNvSpPr txBox="1"/>
          <p:nvPr/>
        </p:nvSpPr>
        <p:spPr>
          <a:xfrm>
            <a:off x="203201" y="6611779"/>
            <a:ext cx="7738016" cy="246221"/>
          </a:xfrm>
          <a:prstGeom prst="rect">
            <a:avLst/>
          </a:prstGeom>
          <a:noFill/>
        </p:spPr>
        <p:txBody>
          <a:bodyPr wrap="none" rtlCol="0">
            <a:spAutoFit/>
          </a:bodyPr>
          <a:lstStyle/>
          <a:p>
            <a:r>
              <a:rPr lang="en-US" sz="1000" dirty="0"/>
              <a:t>https://www.researchgate.net/figure/Guytons-overall-regulation-model-of-Circulation-implementation-in-Matlab-Simulink-The_fig4_228683930</a:t>
            </a:r>
            <a:endParaRPr lang="nl-NL" sz="1000" dirty="0"/>
          </a:p>
        </p:txBody>
      </p:sp>
      <p:sp>
        <p:nvSpPr>
          <p:cNvPr id="6" name="Titel 5"/>
          <p:cNvSpPr>
            <a:spLocks noGrp="1"/>
          </p:cNvSpPr>
          <p:nvPr>
            <p:ph type="title"/>
          </p:nvPr>
        </p:nvSpPr>
        <p:spPr>
          <a:xfrm>
            <a:off x="931335" y="32616"/>
            <a:ext cx="10515600" cy="1325563"/>
          </a:xfrm>
        </p:spPr>
        <p:txBody>
          <a:bodyPr/>
          <a:lstStyle/>
          <a:p>
            <a:r>
              <a:rPr lang="nl-NL" dirty="0"/>
              <a:t>“</a:t>
            </a:r>
            <a:r>
              <a:rPr lang="nl-NL" dirty="0" err="1"/>
              <a:t>comprehensive</a:t>
            </a:r>
            <a:r>
              <a:rPr lang="nl-NL" dirty="0"/>
              <a:t>” </a:t>
            </a:r>
            <a:r>
              <a:rPr lang="nl-NL" dirty="0" err="1"/>
              <a:t>simulation</a:t>
            </a:r>
            <a:r>
              <a:rPr lang="nl-NL" dirty="0"/>
              <a:t> model</a:t>
            </a:r>
            <a:endParaRPr lang="en-US" dirty="0"/>
          </a:p>
        </p:txBody>
      </p:sp>
      <p:pic>
        <p:nvPicPr>
          <p:cNvPr id="7" name="Afbeelding 6"/>
          <p:cNvPicPr>
            <a:picLocks noChangeAspect="1"/>
          </p:cNvPicPr>
          <p:nvPr/>
        </p:nvPicPr>
        <p:blipFill>
          <a:blip r:embed="rId2"/>
          <a:stretch>
            <a:fillRect/>
          </a:stretch>
        </p:blipFill>
        <p:spPr>
          <a:xfrm>
            <a:off x="1501806" y="1069472"/>
            <a:ext cx="8237939" cy="5401763"/>
          </a:xfrm>
          <a:prstGeom prst="rect">
            <a:avLst/>
          </a:prstGeom>
        </p:spPr>
      </p:pic>
    </p:spTree>
    <p:extLst>
      <p:ext uri="{BB962C8B-B14F-4D97-AF65-F5344CB8AC3E}">
        <p14:creationId xmlns:p14="http://schemas.microsoft.com/office/powerpoint/2010/main" val="1070953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Models</a:t>
            </a:r>
            <a:endParaRPr lang="en-US" dirty="0"/>
          </a:p>
        </p:txBody>
      </p:sp>
      <p:sp>
        <p:nvSpPr>
          <p:cNvPr id="3" name="Tijdelijke aanduiding voor inhoud 2"/>
          <p:cNvSpPr>
            <a:spLocks noGrp="1"/>
          </p:cNvSpPr>
          <p:nvPr>
            <p:ph idx="1"/>
          </p:nvPr>
        </p:nvSpPr>
        <p:spPr/>
        <p:txBody>
          <a:bodyPr/>
          <a:lstStyle/>
          <a:p>
            <a:r>
              <a:rPr lang="en-US" dirty="0"/>
              <a:t>A model represents those features of reality that are relevant for the specific purpose set by the modeler</a:t>
            </a:r>
          </a:p>
          <a:p>
            <a:r>
              <a:rPr lang="en-US" dirty="0"/>
              <a:t>Question: what purposes could a modeler have? </a:t>
            </a:r>
          </a:p>
          <a:p>
            <a:pPr marL="457200" lvl="1" indent="0">
              <a:buNone/>
            </a:pPr>
            <a:endParaRPr lang="en-US" dirty="0"/>
          </a:p>
          <a:p>
            <a:endParaRPr lang="en-US" dirty="0"/>
          </a:p>
          <a:p>
            <a:endParaRPr lang="en-US" dirty="0"/>
          </a:p>
        </p:txBody>
      </p:sp>
    </p:spTree>
    <p:extLst>
      <p:ext uri="{BB962C8B-B14F-4D97-AF65-F5344CB8AC3E}">
        <p14:creationId xmlns:p14="http://schemas.microsoft.com/office/powerpoint/2010/main" val="2786362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Some</a:t>
            </a:r>
            <a:r>
              <a:rPr lang="nl-NL" dirty="0"/>
              <a:t> </a:t>
            </a:r>
            <a:r>
              <a:rPr lang="nl-NL" dirty="0" err="1"/>
              <a:t>purposes</a:t>
            </a:r>
            <a:r>
              <a:rPr lang="nl-NL" dirty="0"/>
              <a:t> of </a:t>
            </a:r>
            <a:r>
              <a:rPr lang="nl-NL" dirty="0" err="1"/>
              <a:t>models</a:t>
            </a:r>
            <a:r>
              <a:rPr lang="nl-NL" dirty="0"/>
              <a:t> of </a:t>
            </a:r>
            <a:r>
              <a:rPr lang="nl-NL" dirty="0" err="1"/>
              <a:t>biological</a:t>
            </a:r>
            <a:r>
              <a:rPr lang="nl-NL" dirty="0"/>
              <a:t>/</a:t>
            </a:r>
            <a:r>
              <a:rPr lang="nl-NL" dirty="0" err="1"/>
              <a:t>physical</a:t>
            </a:r>
            <a:r>
              <a:rPr lang="nl-NL" dirty="0"/>
              <a:t> systems</a:t>
            </a:r>
            <a:endParaRPr lang="en-US" dirty="0"/>
          </a:p>
        </p:txBody>
      </p:sp>
      <p:sp>
        <p:nvSpPr>
          <p:cNvPr id="3" name="Tijdelijke aanduiding voor inhoud 2"/>
          <p:cNvSpPr>
            <a:spLocks noGrp="1"/>
          </p:cNvSpPr>
          <p:nvPr>
            <p:ph idx="1"/>
          </p:nvPr>
        </p:nvSpPr>
        <p:spPr/>
        <p:txBody>
          <a:bodyPr>
            <a:normAutofit fontScale="62500" lnSpcReduction="20000"/>
          </a:bodyPr>
          <a:lstStyle/>
          <a:p>
            <a:r>
              <a:rPr lang="nl-NL" dirty="0"/>
              <a:t>Make studies on a system </a:t>
            </a:r>
            <a:r>
              <a:rPr lang="nl-NL" dirty="0" err="1"/>
              <a:t>feasible</a:t>
            </a:r>
            <a:endParaRPr lang="nl-NL" dirty="0"/>
          </a:p>
          <a:p>
            <a:pPr lvl="1"/>
            <a:r>
              <a:rPr lang="nl-NL" dirty="0" err="1"/>
              <a:t>Finite</a:t>
            </a:r>
            <a:r>
              <a:rPr lang="nl-NL" dirty="0"/>
              <a:t> </a:t>
            </a:r>
            <a:r>
              <a:rPr lang="nl-NL" dirty="0" err="1"/>
              <a:t>number</a:t>
            </a:r>
            <a:r>
              <a:rPr lang="nl-NL" dirty="0"/>
              <a:t> of parameters</a:t>
            </a:r>
          </a:p>
          <a:p>
            <a:pPr lvl="1"/>
            <a:r>
              <a:rPr lang="nl-NL" dirty="0" err="1"/>
              <a:t>Scale</a:t>
            </a:r>
            <a:r>
              <a:rPr lang="nl-NL" dirty="0"/>
              <a:t> in time and / or </a:t>
            </a:r>
            <a:r>
              <a:rPr lang="nl-NL" dirty="0" err="1"/>
              <a:t>space</a:t>
            </a:r>
            <a:endParaRPr lang="nl-NL" dirty="0"/>
          </a:p>
          <a:p>
            <a:pPr lvl="1"/>
            <a:r>
              <a:rPr lang="nl-NL" dirty="0"/>
              <a:t>Make </a:t>
            </a:r>
            <a:r>
              <a:rPr lang="nl-NL" dirty="0" err="1"/>
              <a:t>the</a:t>
            </a:r>
            <a:r>
              <a:rPr lang="nl-NL" dirty="0"/>
              <a:t> </a:t>
            </a:r>
            <a:r>
              <a:rPr lang="nl-NL" dirty="0" err="1"/>
              <a:t>study</a:t>
            </a:r>
            <a:r>
              <a:rPr lang="nl-NL" dirty="0"/>
              <a:t> safe / </a:t>
            </a:r>
            <a:r>
              <a:rPr lang="nl-NL" dirty="0" err="1"/>
              <a:t>reduce</a:t>
            </a:r>
            <a:r>
              <a:rPr lang="nl-NL" dirty="0"/>
              <a:t> </a:t>
            </a:r>
            <a:r>
              <a:rPr lang="nl-NL" dirty="0" err="1"/>
              <a:t>costs</a:t>
            </a:r>
            <a:endParaRPr lang="nl-NL" dirty="0"/>
          </a:p>
          <a:p>
            <a:r>
              <a:rPr lang="nl-NL" dirty="0" err="1"/>
              <a:t>Generate</a:t>
            </a:r>
            <a:r>
              <a:rPr lang="nl-NL" dirty="0"/>
              <a:t> a concrete / </a:t>
            </a:r>
            <a:r>
              <a:rPr lang="nl-NL" dirty="0" err="1"/>
              <a:t>quantitative</a:t>
            </a:r>
            <a:r>
              <a:rPr lang="nl-NL" dirty="0"/>
              <a:t> </a:t>
            </a:r>
            <a:r>
              <a:rPr lang="nl-NL" dirty="0" err="1"/>
              <a:t>representation</a:t>
            </a:r>
            <a:r>
              <a:rPr lang="nl-NL" dirty="0"/>
              <a:t> </a:t>
            </a:r>
            <a:r>
              <a:rPr lang="nl-NL" dirty="0" err="1"/>
              <a:t>that</a:t>
            </a:r>
            <a:r>
              <a:rPr lang="nl-NL" dirty="0"/>
              <a:t> </a:t>
            </a:r>
            <a:r>
              <a:rPr lang="nl-NL" dirty="0" err="1"/>
              <a:t>allows</a:t>
            </a:r>
            <a:r>
              <a:rPr lang="nl-NL" dirty="0"/>
              <a:t> analysis </a:t>
            </a:r>
            <a:r>
              <a:rPr lang="nl-NL" dirty="0" err="1"/>
              <a:t>by</a:t>
            </a:r>
            <a:r>
              <a:rPr lang="nl-NL" dirty="0"/>
              <a:t> </a:t>
            </a:r>
            <a:r>
              <a:rPr lang="nl-NL" dirty="0" err="1"/>
              <a:t>simulation</a:t>
            </a:r>
            <a:r>
              <a:rPr lang="nl-NL" dirty="0"/>
              <a:t> and/or </a:t>
            </a:r>
            <a:r>
              <a:rPr lang="nl-NL" dirty="0" err="1"/>
              <a:t>mathematics</a:t>
            </a:r>
            <a:r>
              <a:rPr lang="nl-NL" dirty="0"/>
              <a:t> </a:t>
            </a:r>
          </a:p>
          <a:p>
            <a:r>
              <a:rPr lang="nl-NL" dirty="0"/>
              <a:t>Analysis</a:t>
            </a:r>
          </a:p>
          <a:p>
            <a:pPr lvl="1"/>
            <a:r>
              <a:rPr lang="nl-NL" dirty="0"/>
              <a:t>Understand </a:t>
            </a:r>
            <a:r>
              <a:rPr lang="nl-NL" dirty="0" err="1"/>
              <a:t>how</a:t>
            </a:r>
            <a:r>
              <a:rPr lang="nl-NL" dirty="0"/>
              <a:t> a system </a:t>
            </a:r>
            <a:r>
              <a:rPr lang="nl-NL" dirty="0" err="1"/>
              <a:t>works</a:t>
            </a:r>
            <a:endParaRPr lang="nl-NL" dirty="0"/>
          </a:p>
          <a:p>
            <a:pPr lvl="1"/>
            <a:r>
              <a:rPr lang="nl-NL" dirty="0" err="1"/>
              <a:t>Unravel</a:t>
            </a:r>
            <a:r>
              <a:rPr lang="nl-NL" dirty="0"/>
              <a:t> </a:t>
            </a:r>
            <a:r>
              <a:rPr lang="nl-NL" dirty="0" err="1"/>
              <a:t>which</a:t>
            </a:r>
            <a:r>
              <a:rPr lang="nl-NL" dirty="0"/>
              <a:t> </a:t>
            </a:r>
            <a:r>
              <a:rPr lang="nl-NL" dirty="0" err="1"/>
              <a:t>processes</a:t>
            </a:r>
            <a:r>
              <a:rPr lang="nl-NL" dirty="0"/>
              <a:t> / parameters are </a:t>
            </a:r>
            <a:r>
              <a:rPr lang="nl-NL" dirty="0" err="1"/>
              <a:t>critical</a:t>
            </a:r>
            <a:r>
              <a:rPr lang="nl-NL" dirty="0"/>
              <a:t> </a:t>
            </a:r>
            <a:r>
              <a:rPr lang="nl-NL" dirty="0" err="1"/>
              <a:t>for</a:t>
            </a:r>
            <a:r>
              <a:rPr lang="nl-NL" dirty="0"/>
              <a:t> </a:t>
            </a:r>
            <a:r>
              <a:rPr lang="nl-NL" dirty="0" err="1"/>
              <a:t>outcome</a:t>
            </a:r>
            <a:r>
              <a:rPr lang="nl-NL" dirty="0"/>
              <a:t> </a:t>
            </a:r>
          </a:p>
          <a:p>
            <a:pPr lvl="1"/>
            <a:r>
              <a:rPr lang="nl-NL" dirty="0"/>
              <a:t>Test </a:t>
            </a:r>
            <a:r>
              <a:rPr lang="nl-NL" dirty="0" err="1"/>
              <a:t>specific</a:t>
            </a:r>
            <a:r>
              <a:rPr lang="nl-NL" dirty="0"/>
              <a:t> hypotheses</a:t>
            </a:r>
          </a:p>
          <a:p>
            <a:pPr lvl="1"/>
            <a:r>
              <a:rPr lang="nl-NL" dirty="0"/>
              <a:t>Fit model parameters </a:t>
            </a:r>
            <a:r>
              <a:rPr lang="nl-NL" dirty="0" err="1"/>
              <a:t>to</a:t>
            </a:r>
            <a:r>
              <a:rPr lang="nl-NL" dirty="0"/>
              <a:t> </a:t>
            </a:r>
            <a:r>
              <a:rPr lang="nl-NL" dirty="0" err="1"/>
              <a:t>experimental</a:t>
            </a:r>
            <a:r>
              <a:rPr lang="nl-NL" dirty="0"/>
              <a:t> data</a:t>
            </a:r>
          </a:p>
          <a:p>
            <a:pPr lvl="1"/>
            <a:r>
              <a:rPr lang="nl-NL" dirty="0" err="1"/>
              <a:t>Predict</a:t>
            </a:r>
            <a:r>
              <a:rPr lang="nl-NL" dirty="0"/>
              <a:t> </a:t>
            </a:r>
            <a:r>
              <a:rPr lang="nl-NL" dirty="0" err="1"/>
              <a:t>future</a:t>
            </a:r>
            <a:endParaRPr lang="nl-NL" dirty="0"/>
          </a:p>
          <a:p>
            <a:r>
              <a:rPr lang="nl-NL" dirty="0" err="1"/>
              <a:t>Aid</a:t>
            </a:r>
            <a:r>
              <a:rPr lang="nl-NL" dirty="0"/>
              <a:t> in </a:t>
            </a:r>
            <a:r>
              <a:rPr lang="nl-NL" dirty="0" err="1"/>
              <a:t>decisionmaking</a:t>
            </a:r>
            <a:r>
              <a:rPr lang="nl-NL" dirty="0"/>
              <a:t> </a:t>
            </a:r>
          </a:p>
          <a:p>
            <a:r>
              <a:rPr lang="nl-NL" dirty="0" err="1"/>
              <a:t>Visualization</a:t>
            </a:r>
            <a:endParaRPr lang="nl-NL" dirty="0"/>
          </a:p>
          <a:p>
            <a:r>
              <a:rPr lang="nl-NL" dirty="0" err="1"/>
              <a:t>Mental</a:t>
            </a:r>
            <a:r>
              <a:rPr lang="nl-NL" dirty="0"/>
              <a:t> picture</a:t>
            </a:r>
          </a:p>
          <a:p>
            <a:r>
              <a:rPr lang="nl-NL" dirty="0"/>
              <a:t>Communication </a:t>
            </a:r>
            <a:endParaRPr lang="en-US" dirty="0"/>
          </a:p>
        </p:txBody>
      </p:sp>
    </p:spTree>
    <p:extLst>
      <p:ext uri="{BB962C8B-B14F-4D97-AF65-F5344CB8AC3E}">
        <p14:creationId xmlns:p14="http://schemas.microsoft.com/office/powerpoint/2010/main" val="279319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Steps in </a:t>
            </a:r>
            <a:r>
              <a:rPr lang="nl-NL" dirty="0" err="1"/>
              <a:t>simulation</a:t>
            </a:r>
            <a:endParaRPr lang="en-US" dirty="0"/>
          </a:p>
        </p:txBody>
      </p:sp>
      <p:sp>
        <p:nvSpPr>
          <p:cNvPr id="4" name="Tekstvak 3"/>
          <p:cNvSpPr txBox="1"/>
          <p:nvPr/>
        </p:nvSpPr>
        <p:spPr>
          <a:xfrm>
            <a:off x="144966" y="6488668"/>
            <a:ext cx="8169801" cy="369332"/>
          </a:xfrm>
          <a:prstGeom prst="rect">
            <a:avLst/>
          </a:prstGeom>
          <a:noFill/>
        </p:spPr>
        <p:txBody>
          <a:bodyPr wrap="none" rtlCol="0">
            <a:spAutoFit/>
          </a:bodyPr>
          <a:lstStyle/>
          <a:p>
            <a:r>
              <a:rPr lang="en-US" dirty="0"/>
              <a:t>https://www.researchgate.net/publication/229124727_Business_Process_Simulation</a:t>
            </a:r>
          </a:p>
        </p:txBody>
      </p:sp>
      <p:pic>
        <p:nvPicPr>
          <p:cNvPr id="6" name="Afbeelding 5"/>
          <p:cNvPicPr>
            <a:picLocks noChangeAspect="1"/>
          </p:cNvPicPr>
          <p:nvPr/>
        </p:nvPicPr>
        <p:blipFill rotWithShape="1">
          <a:blip r:embed="rId2"/>
          <a:srcRect b="7310"/>
          <a:stretch/>
        </p:blipFill>
        <p:spPr>
          <a:xfrm>
            <a:off x="1839362" y="1360529"/>
            <a:ext cx="7943505" cy="5059322"/>
          </a:xfrm>
          <a:prstGeom prst="rect">
            <a:avLst/>
          </a:prstGeom>
        </p:spPr>
      </p:pic>
      <p:sp>
        <p:nvSpPr>
          <p:cNvPr id="7" name="Tekstvak 6"/>
          <p:cNvSpPr txBox="1"/>
          <p:nvPr/>
        </p:nvSpPr>
        <p:spPr>
          <a:xfrm>
            <a:off x="7410451" y="600075"/>
            <a:ext cx="4105274" cy="2031325"/>
          </a:xfrm>
          <a:prstGeom prst="rect">
            <a:avLst/>
          </a:prstGeom>
          <a:noFill/>
        </p:spPr>
        <p:txBody>
          <a:bodyPr wrap="square" rtlCol="0">
            <a:spAutoFit/>
          </a:bodyPr>
          <a:lstStyle/>
          <a:p>
            <a:r>
              <a:rPr lang="en-US" dirty="0"/>
              <a:t>Verification is the process of checking whether your simulation model is correctly implemented and free of errors.</a:t>
            </a:r>
          </a:p>
          <a:p>
            <a:endParaRPr lang="en-US" dirty="0"/>
          </a:p>
          <a:p>
            <a:r>
              <a:rPr lang="en-US" dirty="0"/>
              <a:t>Validation is the process of checking whether your simulation model is a good representation of the real system.</a:t>
            </a:r>
          </a:p>
        </p:txBody>
      </p:sp>
    </p:spTree>
    <p:extLst>
      <p:ext uri="{BB962C8B-B14F-4D97-AF65-F5344CB8AC3E}">
        <p14:creationId xmlns:p14="http://schemas.microsoft.com/office/powerpoint/2010/main" val="36636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52475" y="0"/>
            <a:ext cx="10515600" cy="1325563"/>
          </a:xfrm>
        </p:spPr>
        <p:txBody>
          <a:bodyPr/>
          <a:lstStyle/>
          <a:p>
            <a:r>
              <a:rPr lang="nl-NL" dirty="0" err="1"/>
              <a:t>Simulation</a:t>
            </a:r>
            <a:r>
              <a:rPr lang="nl-NL" dirty="0"/>
              <a:t> of </a:t>
            </a:r>
            <a:r>
              <a:rPr lang="nl-NL" dirty="0" err="1"/>
              <a:t>the</a:t>
            </a:r>
            <a:r>
              <a:rPr lang="nl-NL" dirty="0"/>
              <a:t> Schiphol security queue..</a:t>
            </a:r>
            <a:endParaRPr lang="en-US" dirty="0"/>
          </a:p>
        </p:txBody>
      </p:sp>
      <p:pic>
        <p:nvPicPr>
          <p:cNvPr id="2050" name="Picture 2" descr="Why one of Europe's top airports has become a 'crazy mess' | CN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5100" y="1690688"/>
            <a:ext cx="5737224" cy="3227189"/>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4"/>
          <p:cNvSpPr txBox="1"/>
          <p:nvPr/>
        </p:nvSpPr>
        <p:spPr>
          <a:xfrm>
            <a:off x="3876675" y="5200650"/>
            <a:ext cx="2043188" cy="646331"/>
          </a:xfrm>
          <a:prstGeom prst="rect">
            <a:avLst/>
          </a:prstGeom>
          <a:noFill/>
        </p:spPr>
        <p:txBody>
          <a:bodyPr wrap="none" rtlCol="0">
            <a:spAutoFit/>
          </a:bodyPr>
          <a:lstStyle/>
          <a:p>
            <a:r>
              <a:rPr lang="nl-NL" dirty="0" err="1"/>
              <a:t>Problem</a:t>
            </a:r>
            <a:r>
              <a:rPr lang="nl-NL" dirty="0"/>
              <a:t> </a:t>
            </a:r>
            <a:r>
              <a:rPr lang="nl-NL" dirty="0" err="1"/>
              <a:t>definition</a:t>
            </a:r>
            <a:r>
              <a:rPr lang="nl-NL" dirty="0"/>
              <a:t>?</a:t>
            </a:r>
          </a:p>
          <a:p>
            <a:r>
              <a:rPr lang="nl-NL" dirty="0" err="1"/>
              <a:t>Conceptual</a:t>
            </a:r>
            <a:r>
              <a:rPr lang="nl-NL" dirty="0"/>
              <a:t> model?</a:t>
            </a:r>
            <a:endParaRPr lang="en-US" dirty="0"/>
          </a:p>
        </p:txBody>
      </p:sp>
    </p:spTree>
    <p:extLst>
      <p:ext uri="{BB962C8B-B14F-4D97-AF65-F5344CB8AC3E}">
        <p14:creationId xmlns:p14="http://schemas.microsoft.com/office/powerpoint/2010/main" val="40559592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FA30F2-B068-7114-6A7A-721E0C106A03}"/>
              </a:ext>
            </a:extLst>
          </p:cNvPr>
          <p:cNvSpPr>
            <a:spLocks noGrp="1"/>
          </p:cNvSpPr>
          <p:nvPr>
            <p:ph type="title"/>
          </p:nvPr>
        </p:nvSpPr>
        <p:spPr/>
        <p:txBody>
          <a:bodyPr/>
          <a:lstStyle/>
          <a:p>
            <a:r>
              <a:rPr lang="nl-NL" dirty="0" err="1"/>
              <a:t>Discuss</a:t>
            </a:r>
            <a:r>
              <a:rPr lang="nl-NL" dirty="0"/>
              <a:t> in </a:t>
            </a:r>
            <a:r>
              <a:rPr lang="nl-NL" dirty="0" err="1"/>
              <a:t>couples</a:t>
            </a:r>
            <a:r>
              <a:rPr lang="nl-NL" dirty="0"/>
              <a:t>: </a:t>
            </a:r>
            <a:r>
              <a:rPr lang="nl-NL" dirty="0" err="1"/>
              <a:t>Modeling</a:t>
            </a:r>
            <a:r>
              <a:rPr lang="nl-NL" dirty="0"/>
              <a:t> </a:t>
            </a:r>
            <a:r>
              <a:rPr lang="nl-NL" dirty="0" err="1"/>
              <a:t>the</a:t>
            </a:r>
            <a:r>
              <a:rPr lang="nl-NL" dirty="0"/>
              <a:t> Schiphol queue</a:t>
            </a:r>
          </a:p>
        </p:txBody>
      </p:sp>
      <p:sp>
        <p:nvSpPr>
          <p:cNvPr id="3" name="Tijdelijke aanduiding voor inhoud 2">
            <a:extLst>
              <a:ext uri="{FF2B5EF4-FFF2-40B4-BE49-F238E27FC236}">
                <a16:creationId xmlns:a16="http://schemas.microsoft.com/office/drawing/2014/main" id="{0144847B-EA52-18E5-D7A7-9829B1503437}"/>
              </a:ext>
            </a:extLst>
          </p:cNvPr>
          <p:cNvSpPr>
            <a:spLocks noGrp="1"/>
          </p:cNvSpPr>
          <p:nvPr>
            <p:ph idx="1"/>
          </p:nvPr>
        </p:nvSpPr>
        <p:spPr/>
        <p:txBody>
          <a:bodyPr/>
          <a:lstStyle/>
          <a:p>
            <a:r>
              <a:rPr lang="nl-NL" dirty="0" err="1"/>
              <a:t>What</a:t>
            </a:r>
            <a:r>
              <a:rPr lang="nl-NL" dirty="0"/>
              <a:t> is </a:t>
            </a:r>
            <a:r>
              <a:rPr lang="nl-NL" dirty="0" err="1"/>
              <a:t>the</a:t>
            </a:r>
            <a:r>
              <a:rPr lang="nl-NL" dirty="0"/>
              <a:t> </a:t>
            </a:r>
            <a:r>
              <a:rPr lang="nl-NL" dirty="0" err="1"/>
              <a:t>problem</a:t>
            </a:r>
            <a:r>
              <a:rPr lang="nl-NL" dirty="0"/>
              <a:t>?</a:t>
            </a:r>
          </a:p>
          <a:p>
            <a:r>
              <a:rPr lang="nl-NL" dirty="0" err="1"/>
              <a:t>What</a:t>
            </a:r>
            <a:r>
              <a:rPr lang="nl-NL" dirty="0"/>
              <a:t> </a:t>
            </a:r>
            <a:r>
              <a:rPr lang="nl-NL" dirty="0" err="1"/>
              <a:t>could</a:t>
            </a:r>
            <a:r>
              <a:rPr lang="nl-NL" dirty="0"/>
              <a:t> a </a:t>
            </a:r>
            <a:r>
              <a:rPr lang="nl-NL" dirty="0" err="1"/>
              <a:t>conceptual</a:t>
            </a:r>
            <a:r>
              <a:rPr lang="nl-NL" dirty="0"/>
              <a:t> model look like?</a:t>
            </a:r>
          </a:p>
        </p:txBody>
      </p:sp>
    </p:spTree>
    <p:extLst>
      <p:ext uri="{BB962C8B-B14F-4D97-AF65-F5344CB8AC3E}">
        <p14:creationId xmlns:p14="http://schemas.microsoft.com/office/powerpoint/2010/main" val="32295328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p:cNvSpPr>
            <a:spLocks noGrp="1"/>
          </p:cNvSpPr>
          <p:nvPr>
            <p:ph type="title"/>
          </p:nvPr>
        </p:nvSpPr>
        <p:spPr>
          <a:xfrm>
            <a:off x="752475" y="0"/>
            <a:ext cx="10515600" cy="1325563"/>
          </a:xfrm>
        </p:spPr>
        <p:txBody>
          <a:bodyPr/>
          <a:lstStyle/>
          <a:p>
            <a:r>
              <a:rPr lang="nl-NL" dirty="0" err="1"/>
              <a:t>Simulation</a:t>
            </a:r>
            <a:r>
              <a:rPr lang="nl-NL" dirty="0"/>
              <a:t> of </a:t>
            </a:r>
            <a:r>
              <a:rPr lang="nl-NL" dirty="0" err="1"/>
              <a:t>the</a:t>
            </a:r>
            <a:r>
              <a:rPr lang="nl-NL" dirty="0"/>
              <a:t> Schiphol security queue..</a:t>
            </a:r>
            <a:endParaRPr lang="en-US" dirty="0"/>
          </a:p>
        </p:txBody>
      </p:sp>
      <p:sp>
        <p:nvSpPr>
          <p:cNvPr id="7" name="Tekstvak 6"/>
          <p:cNvSpPr txBox="1"/>
          <p:nvPr/>
        </p:nvSpPr>
        <p:spPr>
          <a:xfrm>
            <a:off x="1039341" y="3429421"/>
            <a:ext cx="1425711" cy="646331"/>
          </a:xfrm>
          <a:prstGeom prst="rect">
            <a:avLst/>
          </a:prstGeom>
          <a:solidFill>
            <a:schemeClr val="accent4">
              <a:lumMod val="40000"/>
              <a:lumOff val="60000"/>
            </a:schemeClr>
          </a:solidFill>
          <a:ln>
            <a:solidFill>
              <a:schemeClr val="tx1">
                <a:lumMod val="95000"/>
                <a:lumOff val="5000"/>
              </a:schemeClr>
            </a:solidFill>
          </a:ln>
        </p:spPr>
        <p:txBody>
          <a:bodyPr wrap="none" rtlCol="0">
            <a:spAutoFit/>
          </a:bodyPr>
          <a:lstStyle/>
          <a:p>
            <a:r>
              <a:rPr lang="nl-NL" dirty="0"/>
              <a:t>State: </a:t>
            </a:r>
            <a:r>
              <a:rPr lang="nl-NL" dirty="0" err="1"/>
              <a:t>length</a:t>
            </a:r>
            <a:r>
              <a:rPr lang="nl-NL" dirty="0"/>
              <a:t> </a:t>
            </a:r>
          </a:p>
          <a:p>
            <a:r>
              <a:rPr lang="nl-NL" dirty="0"/>
              <a:t>of queue (N)</a:t>
            </a:r>
            <a:endParaRPr lang="en-US" dirty="0"/>
          </a:p>
        </p:txBody>
      </p:sp>
      <p:sp>
        <p:nvSpPr>
          <p:cNvPr id="8" name="Tekstvak 7"/>
          <p:cNvSpPr txBox="1"/>
          <p:nvPr/>
        </p:nvSpPr>
        <p:spPr>
          <a:xfrm>
            <a:off x="1009650" y="2171700"/>
            <a:ext cx="1837875" cy="646331"/>
          </a:xfrm>
          <a:prstGeom prst="rect">
            <a:avLst/>
          </a:prstGeom>
          <a:solidFill>
            <a:schemeClr val="accent6">
              <a:lumMod val="20000"/>
              <a:lumOff val="80000"/>
            </a:schemeClr>
          </a:solidFill>
          <a:ln>
            <a:solidFill>
              <a:schemeClr val="tx1">
                <a:lumMod val="95000"/>
                <a:lumOff val="5000"/>
              </a:schemeClr>
            </a:solidFill>
          </a:ln>
        </p:spPr>
        <p:txBody>
          <a:bodyPr wrap="none" rtlCol="0">
            <a:spAutoFit/>
          </a:bodyPr>
          <a:lstStyle/>
          <a:p>
            <a:r>
              <a:rPr lang="nl-NL" dirty="0"/>
              <a:t>Input: </a:t>
            </a:r>
            <a:r>
              <a:rPr lang="nl-NL" dirty="0" err="1"/>
              <a:t>passengers</a:t>
            </a:r>
            <a:endParaRPr lang="nl-NL" dirty="0"/>
          </a:p>
          <a:p>
            <a:r>
              <a:rPr lang="nl-NL" dirty="0"/>
              <a:t>entering p(t)</a:t>
            </a:r>
            <a:endParaRPr lang="en-US" dirty="0"/>
          </a:p>
        </p:txBody>
      </p:sp>
      <p:sp>
        <p:nvSpPr>
          <p:cNvPr id="10" name="Tekstvak 9"/>
          <p:cNvSpPr txBox="1"/>
          <p:nvPr/>
        </p:nvSpPr>
        <p:spPr>
          <a:xfrm>
            <a:off x="1009650" y="4762500"/>
            <a:ext cx="2069669" cy="646331"/>
          </a:xfrm>
          <a:prstGeom prst="rect">
            <a:avLst/>
          </a:prstGeom>
          <a:solidFill>
            <a:schemeClr val="accent2">
              <a:lumMod val="20000"/>
              <a:lumOff val="80000"/>
            </a:schemeClr>
          </a:solidFill>
          <a:ln>
            <a:solidFill>
              <a:schemeClr val="tx1">
                <a:lumMod val="95000"/>
                <a:lumOff val="5000"/>
              </a:schemeClr>
            </a:solidFill>
          </a:ln>
        </p:spPr>
        <p:txBody>
          <a:bodyPr wrap="none" rtlCol="0">
            <a:spAutoFit/>
          </a:bodyPr>
          <a:lstStyle/>
          <a:p>
            <a:r>
              <a:rPr lang="nl-NL" dirty="0" err="1"/>
              <a:t>Passengers</a:t>
            </a:r>
            <a:r>
              <a:rPr lang="nl-NL" dirty="0"/>
              <a:t> </a:t>
            </a:r>
            <a:r>
              <a:rPr lang="nl-NL" dirty="0" err="1"/>
              <a:t>through</a:t>
            </a:r>
            <a:r>
              <a:rPr lang="nl-NL" dirty="0"/>
              <a:t> </a:t>
            </a:r>
          </a:p>
          <a:p>
            <a:r>
              <a:rPr lang="nl-NL" dirty="0"/>
              <a:t>security q(N)</a:t>
            </a:r>
            <a:endParaRPr lang="en-US" dirty="0"/>
          </a:p>
        </p:txBody>
      </p:sp>
      <p:sp>
        <p:nvSpPr>
          <p:cNvPr id="11" name="Tekstvak 10"/>
          <p:cNvSpPr txBox="1"/>
          <p:nvPr/>
        </p:nvSpPr>
        <p:spPr>
          <a:xfrm>
            <a:off x="3079319" y="3429000"/>
            <a:ext cx="1869807" cy="646331"/>
          </a:xfrm>
          <a:prstGeom prst="rect">
            <a:avLst/>
          </a:prstGeom>
          <a:solidFill>
            <a:schemeClr val="accent1">
              <a:lumMod val="20000"/>
              <a:lumOff val="80000"/>
            </a:schemeClr>
          </a:solidFill>
          <a:ln>
            <a:solidFill>
              <a:schemeClr val="tx1">
                <a:lumMod val="95000"/>
                <a:lumOff val="5000"/>
              </a:schemeClr>
            </a:solidFill>
          </a:ln>
        </p:spPr>
        <p:txBody>
          <a:bodyPr wrap="none" rtlCol="0">
            <a:spAutoFit/>
          </a:bodyPr>
          <a:lstStyle/>
          <a:p>
            <a:r>
              <a:rPr lang="nl-NL" dirty="0" err="1"/>
              <a:t>Passengers</a:t>
            </a:r>
            <a:r>
              <a:rPr lang="nl-NL" dirty="0"/>
              <a:t> </a:t>
            </a:r>
            <a:r>
              <a:rPr lang="nl-NL" dirty="0" err="1"/>
              <a:t>giving</a:t>
            </a:r>
            <a:r>
              <a:rPr lang="nl-NL" dirty="0"/>
              <a:t> </a:t>
            </a:r>
          </a:p>
          <a:p>
            <a:r>
              <a:rPr lang="nl-NL" dirty="0"/>
              <a:t>up r(N)</a:t>
            </a:r>
            <a:endParaRPr lang="en-US" dirty="0"/>
          </a:p>
        </p:txBody>
      </p:sp>
      <p:cxnSp>
        <p:nvCxnSpPr>
          <p:cNvPr id="13" name="Rechte verbindingslijn met pijl 12"/>
          <p:cNvCxnSpPr/>
          <p:nvPr/>
        </p:nvCxnSpPr>
        <p:spPr>
          <a:xfrm>
            <a:off x="1722505" y="2905125"/>
            <a:ext cx="0" cy="4381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p:cNvCxnSpPr/>
          <p:nvPr/>
        </p:nvCxnSpPr>
        <p:spPr>
          <a:xfrm>
            <a:off x="1722505" y="4191000"/>
            <a:ext cx="0" cy="4381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Rechte verbindingslijn met pijl 15"/>
          <p:cNvCxnSpPr/>
          <p:nvPr/>
        </p:nvCxnSpPr>
        <p:spPr>
          <a:xfrm>
            <a:off x="2044484" y="4191000"/>
            <a:ext cx="0" cy="43815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p:cNvCxnSpPr/>
          <p:nvPr/>
        </p:nvCxnSpPr>
        <p:spPr>
          <a:xfrm rot="5400000">
            <a:off x="2760730" y="3429000"/>
            <a:ext cx="0" cy="4381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Rechte verbindingslijn met pijl 17"/>
          <p:cNvCxnSpPr/>
          <p:nvPr/>
        </p:nvCxnSpPr>
        <p:spPr>
          <a:xfrm rot="16200000" flipH="1">
            <a:off x="2753950" y="3714750"/>
            <a:ext cx="0" cy="43815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4" name="Tekstvak 13"/>
          <p:cNvSpPr txBox="1"/>
          <p:nvPr/>
        </p:nvSpPr>
        <p:spPr>
          <a:xfrm>
            <a:off x="1182068" y="1001991"/>
            <a:ext cx="1897251" cy="369332"/>
          </a:xfrm>
          <a:prstGeom prst="rect">
            <a:avLst/>
          </a:prstGeom>
          <a:noFill/>
        </p:spPr>
        <p:txBody>
          <a:bodyPr wrap="none" rtlCol="0">
            <a:spAutoFit/>
          </a:bodyPr>
          <a:lstStyle/>
          <a:p>
            <a:r>
              <a:rPr lang="nl-NL" dirty="0" err="1"/>
              <a:t>Conceptual</a:t>
            </a:r>
            <a:r>
              <a:rPr lang="nl-NL" dirty="0"/>
              <a:t> model</a:t>
            </a:r>
            <a:endParaRPr lang="en-US" dirty="0"/>
          </a:p>
        </p:txBody>
      </p:sp>
      <p:grpSp>
        <p:nvGrpSpPr>
          <p:cNvPr id="9" name="Groep 8">
            <a:extLst>
              <a:ext uri="{FF2B5EF4-FFF2-40B4-BE49-F238E27FC236}">
                <a16:creationId xmlns:a16="http://schemas.microsoft.com/office/drawing/2014/main" id="{746823F9-7DED-BD91-08FA-3D40AB8CBB94}"/>
              </a:ext>
            </a:extLst>
          </p:cNvPr>
          <p:cNvGrpSpPr/>
          <p:nvPr/>
        </p:nvGrpSpPr>
        <p:grpSpPr>
          <a:xfrm>
            <a:off x="5458690" y="1001991"/>
            <a:ext cx="6220693" cy="5574001"/>
            <a:chOff x="5458690" y="1001991"/>
            <a:chExt cx="6220693" cy="5574001"/>
          </a:xfrm>
        </p:grpSpPr>
        <p:sp>
          <p:nvSpPr>
            <p:cNvPr id="20" name="Tekstvak 19"/>
            <p:cNvSpPr txBox="1"/>
            <p:nvPr/>
          </p:nvSpPr>
          <p:spPr>
            <a:xfrm>
              <a:off x="6954218" y="1001991"/>
              <a:ext cx="1849289" cy="369332"/>
            </a:xfrm>
            <a:prstGeom prst="rect">
              <a:avLst/>
            </a:prstGeom>
            <a:noFill/>
          </p:spPr>
          <p:txBody>
            <a:bodyPr wrap="none" rtlCol="0">
              <a:spAutoFit/>
            </a:bodyPr>
            <a:lstStyle/>
            <a:p>
              <a:r>
                <a:rPr lang="nl-NL" dirty="0" err="1"/>
                <a:t>Executable</a:t>
              </a:r>
              <a:r>
                <a:rPr lang="nl-NL" dirty="0"/>
                <a:t> model</a:t>
              </a:r>
              <a:endParaRPr lang="en-US" dirty="0"/>
            </a:p>
          </p:txBody>
        </p:sp>
        <p:pic>
          <p:nvPicPr>
            <p:cNvPr id="4" name="Afbeelding 3">
              <a:extLst>
                <a:ext uri="{FF2B5EF4-FFF2-40B4-BE49-F238E27FC236}">
                  <a16:creationId xmlns:a16="http://schemas.microsoft.com/office/drawing/2014/main" id="{AEA2A2C4-98E2-D6A1-112A-4CB72DCBCADB}"/>
                </a:ext>
              </a:extLst>
            </p:cNvPr>
            <p:cNvPicPr>
              <a:picLocks noChangeAspect="1"/>
            </p:cNvPicPr>
            <p:nvPr/>
          </p:nvPicPr>
          <p:blipFill>
            <a:blip r:embed="rId2"/>
            <a:stretch>
              <a:fillRect/>
            </a:stretch>
          </p:blipFill>
          <p:spPr>
            <a:xfrm>
              <a:off x="5458690" y="1574669"/>
              <a:ext cx="6220693" cy="5001323"/>
            </a:xfrm>
            <a:prstGeom prst="rect">
              <a:avLst/>
            </a:prstGeom>
          </p:spPr>
        </p:pic>
      </p:grpSp>
    </p:spTree>
    <p:extLst>
      <p:ext uri="{BB962C8B-B14F-4D97-AF65-F5344CB8AC3E}">
        <p14:creationId xmlns:p14="http://schemas.microsoft.com/office/powerpoint/2010/main" val="417902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p:cNvSpPr>
            <a:spLocks noGrp="1"/>
          </p:cNvSpPr>
          <p:nvPr>
            <p:ph type="title"/>
          </p:nvPr>
        </p:nvSpPr>
        <p:spPr>
          <a:xfrm>
            <a:off x="752475" y="0"/>
            <a:ext cx="10515600" cy="1325563"/>
          </a:xfrm>
        </p:spPr>
        <p:txBody>
          <a:bodyPr/>
          <a:lstStyle/>
          <a:p>
            <a:r>
              <a:rPr lang="nl-NL" dirty="0" err="1"/>
              <a:t>Simulation</a:t>
            </a:r>
            <a:r>
              <a:rPr lang="nl-NL" dirty="0"/>
              <a:t> of </a:t>
            </a:r>
            <a:r>
              <a:rPr lang="nl-NL" dirty="0" err="1"/>
              <a:t>the</a:t>
            </a:r>
            <a:r>
              <a:rPr lang="nl-NL" dirty="0"/>
              <a:t> Schiphol security queue..</a:t>
            </a:r>
            <a:endParaRPr lang="en-US" dirty="0"/>
          </a:p>
        </p:txBody>
      </p:sp>
      <p:pic>
        <p:nvPicPr>
          <p:cNvPr id="6" name="Afbeelding 5"/>
          <p:cNvPicPr>
            <a:picLocks noChangeAspect="1"/>
          </p:cNvPicPr>
          <p:nvPr/>
        </p:nvPicPr>
        <p:blipFill>
          <a:blip r:embed="rId2"/>
          <a:stretch>
            <a:fillRect/>
          </a:stretch>
        </p:blipFill>
        <p:spPr>
          <a:xfrm>
            <a:off x="1975573" y="1325563"/>
            <a:ext cx="3353999" cy="5532438"/>
          </a:xfrm>
          <a:prstGeom prst="rect">
            <a:avLst/>
          </a:prstGeom>
        </p:spPr>
      </p:pic>
      <p:sp>
        <p:nvSpPr>
          <p:cNvPr id="7" name="Tekstvak 6"/>
          <p:cNvSpPr txBox="1"/>
          <p:nvPr/>
        </p:nvSpPr>
        <p:spPr>
          <a:xfrm>
            <a:off x="2141100" y="894430"/>
            <a:ext cx="3782767" cy="369332"/>
          </a:xfrm>
          <a:prstGeom prst="rect">
            <a:avLst/>
          </a:prstGeom>
          <a:noFill/>
        </p:spPr>
        <p:txBody>
          <a:bodyPr wrap="none" rtlCol="0">
            <a:spAutoFit/>
          </a:bodyPr>
          <a:lstStyle/>
          <a:p>
            <a:r>
              <a:rPr lang="nl-NL" dirty="0"/>
              <a:t>Everybody </a:t>
            </a:r>
            <a:r>
              <a:rPr lang="nl-NL" dirty="0" err="1"/>
              <a:t>stays</a:t>
            </a:r>
            <a:r>
              <a:rPr lang="nl-NL" dirty="0"/>
              <a:t> in queue </a:t>
            </a:r>
            <a:r>
              <a:rPr lang="nl-NL" dirty="0" err="1"/>
              <a:t>kr</a:t>
            </a:r>
            <a:r>
              <a:rPr lang="nl-NL" dirty="0"/>
              <a:t>=0 [1/min]</a:t>
            </a:r>
            <a:endParaRPr lang="en-US" dirty="0"/>
          </a:p>
        </p:txBody>
      </p:sp>
      <p:grpSp>
        <p:nvGrpSpPr>
          <p:cNvPr id="2" name="Groep 1">
            <a:extLst>
              <a:ext uri="{FF2B5EF4-FFF2-40B4-BE49-F238E27FC236}">
                <a16:creationId xmlns:a16="http://schemas.microsoft.com/office/drawing/2014/main" id="{E939EF6B-688A-4415-2875-43BF386A3B02}"/>
              </a:ext>
            </a:extLst>
          </p:cNvPr>
          <p:cNvGrpSpPr/>
          <p:nvPr/>
        </p:nvGrpSpPr>
        <p:grpSpPr>
          <a:xfrm>
            <a:off x="6343650" y="894430"/>
            <a:ext cx="3488164" cy="5859349"/>
            <a:chOff x="6343650" y="894430"/>
            <a:chExt cx="3488164" cy="5859349"/>
          </a:xfrm>
        </p:grpSpPr>
        <p:pic>
          <p:nvPicPr>
            <p:cNvPr id="5" name="Afbeelding 4"/>
            <p:cNvPicPr>
              <a:picLocks noChangeAspect="1"/>
            </p:cNvPicPr>
            <p:nvPr/>
          </p:nvPicPr>
          <p:blipFill>
            <a:blip r:embed="rId3"/>
            <a:stretch>
              <a:fillRect/>
            </a:stretch>
          </p:blipFill>
          <p:spPr>
            <a:xfrm>
              <a:off x="6343650" y="1263762"/>
              <a:ext cx="3376953" cy="5490017"/>
            </a:xfrm>
            <a:prstGeom prst="rect">
              <a:avLst/>
            </a:prstGeom>
          </p:spPr>
        </p:pic>
        <p:sp>
          <p:nvSpPr>
            <p:cNvPr id="8" name="Tekstvak 7"/>
            <p:cNvSpPr txBox="1"/>
            <p:nvPr/>
          </p:nvSpPr>
          <p:spPr>
            <a:xfrm>
              <a:off x="6367661" y="894430"/>
              <a:ext cx="3464153" cy="369332"/>
            </a:xfrm>
            <a:prstGeom prst="rect">
              <a:avLst/>
            </a:prstGeom>
            <a:noFill/>
          </p:spPr>
          <p:txBody>
            <a:bodyPr wrap="none" rtlCol="0">
              <a:spAutoFit/>
            </a:bodyPr>
            <a:lstStyle/>
            <a:p>
              <a:r>
                <a:rPr lang="nl-NL" dirty="0" err="1"/>
                <a:t>Passengers</a:t>
              </a:r>
              <a:r>
                <a:rPr lang="nl-NL" dirty="0"/>
                <a:t> </a:t>
              </a:r>
              <a:r>
                <a:rPr lang="nl-NL" dirty="0" err="1"/>
                <a:t>give</a:t>
              </a:r>
              <a:r>
                <a:rPr lang="nl-NL" dirty="0"/>
                <a:t> up </a:t>
              </a:r>
              <a:r>
                <a:rPr lang="nl-NL" dirty="0" err="1"/>
                <a:t>kr</a:t>
              </a:r>
              <a:r>
                <a:rPr lang="nl-NL" dirty="0"/>
                <a:t>=0.05 [1/min]</a:t>
              </a:r>
              <a:endParaRPr lang="en-US" dirty="0"/>
            </a:p>
          </p:txBody>
        </p:sp>
      </p:grpSp>
      <p:sp>
        <p:nvSpPr>
          <p:cNvPr id="9" name="Tekstvak 8"/>
          <p:cNvSpPr txBox="1"/>
          <p:nvPr/>
        </p:nvSpPr>
        <p:spPr>
          <a:xfrm>
            <a:off x="114486" y="3276600"/>
            <a:ext cx="1861087" cy="369332"/>
          </a:xfrm>
          <a:prstGeom prst="rect">
            <a:avLst/>
          </a:prstGeom>
          <a:noFill/>
        </p:spPr>
        <p:txBody>
          <a:bodyPr wrap="none" rtlCol="0">
            <a:spAutoFit/>
          </a:bodyPr>
          <a:lstStyle/>
          <a:p>
            <a:r>
              <a:rPr lang="nl-NL" dirty="0" err="1"/>
              <a:t>Simulation</a:t>
            </a:r>
            <a:r>
              <a:rPr lang="nl-NL" dirty="0"/>
              <a:t> </a:t>
            </a:r>
            <a:r>
              <a:rPr lang="nl-NL" dirty="0" err="1"/>
              <a:t>results</a:t>
            </a:r>
            <a:endParaRPr lang="en-US" dirty="0"/>
          </a:p>
        </p:txBody>
      </p:sp>
    </p:spTree>
    <p:extLst>
      <p:ext uri="{BB962C8B-B14F-4D97-AF65-F5344CB8AC3E}">
        <p14:creationId xmlns:p14="http://schemas.microsoft.com/office/powerpoint/2010/main" val="368890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normAutofit lnSpcReduction="10000"/>
          </a:bodyPr>
          <a:lstStyle/>
          <a:p>
            <a:pPr marL="0" indent="0">
              <a:buNone/>
            </a:pPr>
            <a:r>
              <a:rPr lang="nl-NL" dirty="0" err="1"/>
              <a:t>Verification</a:t>
            </a:r>
            <a:endParaRPr lang="nl-NL" dirty="0"/>
          </a:p>
          <a:p>
            <a:r>
              <a:rPr lang="nl-NL" dirty="0"/>
              <a:t>N is taken </a:t>
            </a:r>
            <a:r>
              <a:rPr lang="nl-NL" dirty="0" err="1"/>
              <a:t>continuous</a:t>
            </a:r>
            <a:r>
              <a:rPr lang="nl-NL" dirty="0"/>
              <a:t>, delta t discrete …</a:t>
            </a:r>
          </a:p>
          <a:p>
            <a:pPr marL="0" indent="0">
              <a:buNone/>
            </a:pPr>
            <a:r>
              <a:rPr lang="nl-NL" dirty="0" err="1"/>
              <a:t>Validation</a:t>
            </a:r>
            <a:endParaRPr lang="nl-NL" dirty="0"/>
          </a:p>
          <a:p>
            <a:r>
              <a:rPr lang="nl-NL" dirty="0"/>
              <a:t>Decent </a:t>
            </a:r>
            <a:r>
              <a:rPr lang="nl-NL" dirty="0" err="1"/>
              <a:t>models</a:t>
            </a:r>
            <a:r>
              <a:rPr lang="nl-NL" dirty="0"/>
              <a:t> of passenger </a:t>
            </a:r>
            <a:r>
              <a:rPr lang="nl-NL" dirty="0" err="1"/>
              <a:t>behavior</a:t>
            </a:r>
            <a:r>
              <a:rPr lang="nl-NL" dirty="0"/>
              <a:t>? </a:t>
            </a:r>
          </a:p>
          <a:p>
            <a:r>
              <a:rPr lang="nl-NL" dirty="0" err="1"/>
              <a:t>Variation</a:t>
            </a:r>
            <a:r>
              <a:rPr lang="nl-NL" dirty="0"/>
              <a:t> in e.g. handling time? =&gt; data </a:t>
            </a:r>
            <a:r>
              <a:rPr lang="nl-NL" dirty="0" err="1"/>
              <a:t>needed</a:t>
            </a:r>
            <a:endParaRPr lang="nl-NL" dirty="0"/>
          </a:p>
          <a:p>
            <a:pPr marL="0" indent="0">
              <a:buNone/>
            </a:pPr>
            <a:r>
              <a:rPr lang="nl-NL" dirty="0" err="1"/>
              <a:t>Answers</a:t>
            </a:r>
            <a:r>
              <a:rPr lang="nl-NL" dirty="0"/>
              <a:t>, </a:t>
            </a:r>
            <a:r>
              <a:rPr lang="nl-NL" dirty="0" err="1"/>
              <a:t>solutions</a:t>
            </a:r>
            <a:r>
              <a:rPr lang="nl-NL" dirty="0"/>
              <a:t>?</a:t>
            </a:r>
          </a:p>
          <a:p>
            <a:r>
              <a:rPr lang="nl-NL" dirty="0" err="1"/>
              <a:t>What</a:t>
            </a:r>
            <a:r>
              <a:rPr lang="nl-NL" dirty="0"/>
              <a:t> was </a:t>
            </a:r>
            <a:r>
              <a:rPr lang="nl-NL" dirty="0" err="1"/>
              <a:t>the</a:t>
            </a:r>
            <a:r>
              <a:rPr lang="nl-NL" dirty="0"/>
              <a:t> </a:t>
            </a:r>
            <a:r>
              <a:rPr lang="nl-NL" dirty="0" err="1"/>
              <a:t>problem</a:t>
            </a:r>
            <a:r>
              <a:rPr lang="nl-NL" dirty="0"/>
              <a:t>, queue </a:t>
            </a:r>
            <a:r>
              <a:rPr lang="nl-NL" dirty="0" err="1"/>
              <a:t>length</a:t>
            </a:r>
            <a:r>
              <a:rPr lang="nl-NL" dirty="0"/>
              <a:t> or </a:t>
            </a:r>
            <a:r>
              <a:rPr lang="nl-NL" dirty="0" err="1"/>
              <a:t>waiting</a:t>
            </a:r>
            <a:r>
              <a:rPr lang="nl-NL" dirty="0"/>
              <a:t> time or </a:t>
            </a:r>
            <a:r>
              <a:rPr lang="nl-NL" dirty="0" err="1"/>
              <a:t>passengers</a:t>
            </a:r>
            <a:r>
              <a:rPr lang="nl-NL" dirty="0"/>
              <a:t> missing </a:t>
            </a:r>
            <a:r>
              <a:rPr lang="nl-NL" dirty="0" err="1"/>
              <a:t>flights</a:t>
            </a:r>
            <a:r>
              <a:rPr lang="nl-NL" dirty="0"/>
              <a:t>?</a:t>
            </a:r>
          </a:p>
          <a:p>
            <a:r>
              <a:rPr lang="nl-NL" dirty="0" err="1"/>
              <a:t>Other</a:t>
            </a:r>
            <a:r>
              <a:rPr lang="nl-NL" dirty="0"/>
              <a:t> </a:t>
            </a:r>
            <a:r>
              <a:rPr lang="nl-NL" dirty="0" err="1"/>
              <a:t>answers</a:t>
            </a:r>
            <a:r>
              <a:rPr lang="nl-NL" dirty="0"/>
              <a:t> </a:t>
            </a:r>
            <a:r>
              <a:rPr lang="nl-NL" dirty="0" err="1"/>
              <a:t>may</a:t>
            </a:r>
            <a:r>
              <a:rPr lang="nl-NL" dirty="0"/>
              <a:t> </a:t>
            </a:r>
            <a:r>
              <a:rPr lang="nl-NL" dirty="0" err="1"/>
              <a:t>need</a:t>
            </a:r>
            <a:r>
              <a:rPr lang="nl-NL" dirty="0"/>
              <a:t> </a:t>
            </a:r>
            <a:r>
              <a:rPr lang="nl-NL" dirty="0" err="1"/>
              <a:t>completely</a:t>
            </a:r>
            <a:r>
              <a:rPr lang="nl-NL" dirty="0"/>
              <a:t> different approach </a:t>
            </a:r>
            <a:endParaRPr lang="en-US" dirty="0"/>
          </a:p>
        </p:txBody>
      </p:sp>
      <p:sp>
        <p:nvSpPr>
          <p:cNvPr id="4" name="Titel 1"/>
          <p:cNvSpPr>
            <a:spLocks noGrp="1"/>
          </p:cNvSpPr>
          <p:nvPr>
            <p:ph type="title"/>
          </p:nvPr>
        </p:nvSpPr>
        <p:spPr>
          <a:xfrm>
            <a:off x="838200" y="0"/>
            <a:ext cx="10515600" cy="1325563"/>
          </a:xfrm>
        </p:spPr>
        <p:txBody>
          <a:bodyPr/>
          <a:lstStyle/>
          <a:p>
            <a:r>
              <a:rPr lang="nl-NL" dirty="0" err="1"/>
              <a:t>Simulation</a:t>
            </a:r>
            <a:r>
              <a:rPr lang="nl-NL" dirty="0"/>
              <a:t> of </a:t>
            </a:r>
            <a:r>
              <a:rPr lang="nl-NL" dirty="0" err="1"/>
              <a:t>the</a:t>
            </a:r>
            <a:r>
              <a:rPr lang="nl-NL" dirty="0"/>
              <a:t> Schiphol security queue..</a:t>
            </a:r>
            <a:endParaRPr lang="en-US" dirty="0"/>
          </a:p>
        </p:txBody>
      </p:sp>
      <p:sp>
        <p:nvSpPr>
          <p:cNvPr id="5" name="Tekstvak 4"/>
          <p:cNvSpPr txBox="1"/>
          <p:nvPr/>
        </p:nvSpPr>
        <p:spPr>
          <a:xfrm>
            <a:off x="171450" y="6488668"/>
            <a:ext cx="6410986" cy="369332"/>
          </a:xfrm>
          <a:prstGeom prst="rect">
            <a:avLst/>
          </a:prstGeom>
          <a:noFill/>
        </p:spPr>
        <p:txBody>
          <a:bodyPr wrap="none" rtlCol="0">
            <a:spAutoFit/>
          </a:bodyPr>
          <a:lstStyle/>
          <a:p>
            <a:r>
              <a:rPr lang="nl-NL" dirty="0"/>
              <a:t>See </a:t>
            </a:r>
            <a:r>
              <a:rPr lang="nl-NL" dirty="0" err="1"/>
              <a:t>also</a:t>
            </a:r>
            <a:r>
              <a:rPr lang="nl-NL" dirty="0"/>
              <a:t> e.g. </a:t>
            </a:r>
            <a:r>
              <a:rPr lang="nl-NL" dirty="0">
                <a:hlinkClick r:id="rId2"/>
              </a:rPr>
              <a:t>https://web.mst.edu/~gosavia/queuing_formulas.pdf</a:t>
            </a:r>
            <a:r>
              <a:rPr lang="nl-NL" dirty="0"/>
              <a:t> </a:t>
            </a:r>
            <a:endParaRPr lang="en-US" dirty="0"/>
          </a:p>
        </p:txBody>
      </p:sp>
    </p:spTree>
    <p:extLst>
      <p:ext uri="{BB962C8B-B14F-4D97-AF65-F5344CB8AC3E}">
        <p14:creationId xmlns:p14="http://schemas.microsoft.com/office/powerpoint/2010/main" val="239640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The </a:t>
            </a:r>
            <a:r>
              <a:rPr lang="nl-NL" dirty="0" err="1"/>
              <a:t>Cardiovascular</a:t>
            </a:r>
            <a:r>
              <a:rPr lang="nl-NL" dirty="0"/>
              <a:t> System</a:t>
            </a:r>
          </a:p>
        </p:txBody>
      </p:sp>
      <p:sp>
        <p:nvSpPr>
          <p:cNvPr id="3" name="Tijdelijke aanduiding voor inhoud 2"/>
          <p:cNvSpPr>
            <a:spLocks noGrp="1"/>
          </p:cNvSpPr>
          <p:nvPr>
            <p:ph idx="1"/>
          </p:nvPr>
        </p:nvSpPr>
        <p:spPr/>
        <p:txBody>
          <a:bodyPr/>
          <a:lstStyle/>
          <a:p>
            <a:r>
              <a:rPr lang="nl-NL" dirty="0" err="1"/>
              <a:t>Specific</a:t>
            </a:r>
            <a:r>
              <a:rPr lang="nl-NL" dirty="0"/>
              <a:t> </a:t>
            </a:r>
            <a:r>
              <a:rPr lang="nl-NL" dirty="0" err="1"/>
              <a:t>purpose</a:t>
            </a:r>
            <a:r>
              <a:rPr lang="nl-NL" dirty="0"/>
              <a:t> of </a:t>
            </a:r>
            <a:r>
              <a:rPr lang="nl-NL" dirty="0" err="1"/>
              <a:t>using</a:t>
            </a:r>
            <a:r>
              <a:rPr lang="nl-NL" dirty="0"/>
              <a:t> the </a:t>
            </a:r>
            <a:r>
              <a:rPr lang="nl-NL" dirty="0" err="1"/>
              <a:t>Cardiovascular</a:t>
            </a:r>
            <a:r>
              <a:rPr lang="nl-NL" dirty="0"/>
              <a:t> System: </a:t>
            </a:r>
            <a:r>
              <a:rPr lang="nl-NL" dirty="0" err="1"/>
              <a:t>to</a:t>
            </a:r>
            <a:r>
              <a:rPr lang="nl-NL" dirty="0"/>
              <a:t> </a:t>
            </a:r>
            <a:r>
              <a:rPr lang="nl-NL" dirty="0" err="1"/>
              <a:t>provide</a:t>
            </a:r>
            <a:r>
              <a:rPr lang="nl-NL" dirty="0"/>
              <a:t> </a:t>
            </a:r>
            <a:r>
              <a:rPr lang="nl-NL" dirty="0" err="1"/>
              <a:t>insight</a:t>
            </a:r>
            <a:r>
              <a:rPr lang="nl-NL" dirty="0"/>
              <a:t> </a:t>
            </a:r>
            <a:r>
              <a:rPr lang="nl-NL" dirty="0" err="1"/>
              <a:t>and</a:t>
            </a:r>
            <a:r>
              <a:rPr lang="nl-NL" dirty="0"/>
              <a:t> skills on </a:t>
            </a:r>
            <a:r>
              <a:rPr lang="nl-NL" dirty="0" err="1"/>
              <a:t>using</a:t>
            </a:r>
            <a:r>
              <a:rPr lang="nl-NL" dirty="0"/>
              <a:t> </a:t>
            </a:r>
            <a:r>
              <a:rPr lang="nl-NL" dirty="0" err="1"/>
              <a:t>modeling</a:t>
            </a:r>
            <a:r>
              <a:rPr lang="nl-NL" dirty="0"/>
              <a:t> </a:t>
            </a:r>
            <a:r>
              <a:rPr lang="nl-NL" dirty="0" err="1"/>
              <a:t>and</a:t>
            </a:r>
            <a:r>
              <a:rPr lang="nl-NL" dirty="0"/>
              <a:t> </a:t>
            </a:r>
            <a:r>
              <a:rPr lang="nl-NL" dirty="0" err="1"/>
              <a:t>simulation</a:t>
            </a:r>
            <a:r>
              <a:rPr lang="nl-NL" dirty="0"/>
              <a:t> </a:t>
            </a:r>
            <a:r>
              <a:rPr lang="nl-NL" dirty="0" err="1"/>
              <a:t>for</a:t>
            </a:r>
            <a:r>
              <a:rPr lang="nl-NL" dirty="0"/>
              <a:t> </a:t>
            </a:r>
            <a:r>
              <a:rPr lang="nl-NL" dirty="0" err="1"/>
              <a:t>understanding</a:t>
            </a:r>
            <a:r>
              <a:rPr lang="nl-NL" dirty="0"/>
              <a:t> </a:t>
            </a:r>
            <a:r>
              <a:rPr lang="nl-NL" dirty="0" err="1"/>
              <a:t>physical</a:t>
            </a:r>
            <a:r>
              <a:rPr lang="nl-NL" dirty="0"/>
              <a:t> / </a:t>
            </a:r>
            <a:r>
              <a:rPr lang="nl-NL" dirty="0" err="1"/>
              <a:t>physiological</a:t>
            </a:r>
            <a:r>
              <a:rPr lang="nl-NL" dirty="0"/>
              <a:t> / </a:t>
            </a:r>
            <a:r>
              <a:rPr lang="nl-NL" dirty="0" err="1"/>
              <a:t>anatomical</a:t>
            </a:r>
            <a:r>
              <a:rPr lang="nl-NL" dirty="0"/>
              <a:t> </a:t>
            </a:r>
            <a:r>
              <a:rPr lang="nl-NL" dirty="0" err="1"/>
              <a:t>interactions</a:t>
            </a:r>
            <a:endParaRPr lang="nl-NL" dirty="0"/>
          </a:p>
          <a:p>
            <a:endParaRPr lang="nl-NL" dirty="0"/>
          </a:p>
          <a:p>
            <a:r>
              <a:rPr lang="nl-NL" dirty="0"/>
              <a:t>Relevant </a:t>
            </a:r>
            <a:r>
              <a:rPr lang="nl-NL" dirty="0" err="1"/>
              <a:t>physics</a:t>
            </a:r>
            <a:endParaRPr lang="nl-NL" dirty="0"/>
          </a:p>
          <a:p>
            <a:r>
              <a:rPr lang="nl-NL" dirty="0"/>
              <a:t>Relevant </a:t>
            </a:r>
            <a:r>
              <a:rPr lang="nl-NL" dirty="0" err="1"/>
              <a:t>physiology</a:t>
            </a:r>
            <a:r>
              <a:rPr lang="nl-NL" dirty="0"/>
              <a:t> (and </a:t>
            </a:r>
            <a:r>
              <a:rPr lang="nl-NL" dirty="0" err="1"/>
              <a:t>anatomy</a:t>
            </a:r>
            <a:r>
              <a:rPr lang="nl-NL" dirty="0"/>
              <a:t>)</a:t>
            </a:r>
          </a:p>
          <a:p>
            <a:r>
              <a:rPr lang="nl-NL" dirty="0" err="1"/>
              <a:t>Modeling</a:t>
            </a:r>
            <a:r>
              <a:rPr lang="nl-NL" dirty="0"/>
              <a:t> (</a:t>
            </a:r>
            <a:r>
              <a:rPr lang="nl-NL" dirty="0" err="1"/>
              <a:t>mathematics</a:t>
            </a:r>
            <a:r>
              <a:rPr lang="nl-NL" dirty="0"/>
              <a:t>) </a:t>
            </a:r>
            <a:r>
              <a:rPr lang="nl-NL" dirty="0" err="1"/>
              <a:t>and</a:t>
            </a:r>
            <a:r>
              <a:rPr lang="nl-NL" dirty="0"/>
              <a:t> </a:t>
            </a:r>
            <a:r>
              <a:rPr lang="nl-NL" dirty="0" err="1"/>
              <a:t>simulating</a:t>
            </a:r>
            <a:r>
              <a:rPr lang="nl-NL" dirty="0"/>
              <a:t> </a:t>
            </a:r>
            <a:r>
              <a:rPr lang="nl-NL" dirty="0" err="1"/>
              <a:t>their</a:t>
            </a:r>
            <a:r>
              <a:rPr lang="nl-NL" dirty="0"/>
              <a:t> </a:t>
            </a:r>
            <a:r>
              <a:rPr lang="nl-NL" dirty="0" err="1"/>
              <a:t>interaction</a:t>
            </a:r>
            <a:endParaRPr lang="nl-NL" dirty="0"/>
          </a:p>
          <a:p>
            <a:pPr lvl="1"/>
            <a:r>
              <a:rPr lang="nl-NL" dirty="0"/>
              <a:t>In Mathematica </a:t>
            </a:r>
          </a:p>
          <a:p>
            <a:pPr lvl="1"/>
            <a:r>
              <a:rPr lang="nl-NL" dirty="0"/>
              <a:t>In Python</a:t>
            </a:r>
          </a:p>
          <a:p>
            <a:pPr marL="0" indent="0">
              <a:buNone/>
            </a:pPr>
            <a:endParaRPr lang="en-US" dirty="0"/>
          </a:p>
        </p:txBody>
      </p:sp>
    </p:spTree>
    <p:extLst>
      <p:ext uri="{BB962C8B-B14F-4D97-AF65-F5344CB8AC3E}">
        <p14:creationId xmlns:p14="http://schemas.microsoft.com/office/powerpoint/2010/main" val="86079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1175</TotalTime>
  <Words>2265</Words>
  <Application>Microsoft Office PowerPoint</Application>
  <PresentationFormat>Widescreen</PresentationFormat>
  <Paragraphs>281</Paragraphs>
  <Slides>46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Calibri Light</vt:lpstr>
      <vt:lpstr>Cambria</vt:lpstr>
      <vt:lpstr>Segoe UI</vt:lpstr>
      <vt:lpstr>Trebuchet MS Standaard</vt:lpstr>
      <vt:lpstr>Office Theme</vt:lpstr>
      <vt:lpstr>Introduction  Ed van Bavel</vt:lpstr>
      <vt:lpstr>From Physics to Physiology</vt:lpstr>
      <vt:lpstr>Aim today</vt:lpstr>
      <vt:lpstr>PowerPoint Presentation</vt:lpstr>
      <vt:lpstr>PowerPoint Presentation</vt:lpstr>
      <vt:lpstr>PowerPoint Presentation</vt:lpstr>
      <vt:lpstr>PowerPoint Presentation</vt:lpstr>
      <vt:lpstr>PowerPoint Presentation</vt:lpstr>
      <vt:lpstr>Ed van Bavel:</vt:lpstr>
      <vt:lpstr>Research example: cerebral circulation,  stroke and stroke treatment</vt:lpstr>
      <vt:lpstr>Research example: cerebral circulation,  stroke and stroke treatment</vt:lpstr>
      <vt:lpstr>Many questions in stroke research</vt:lpstr>
      <vt:lpstr>FP2P course </vt:lpstr>
      <vt:lpstr>Final score</vt:lpstr>
      <vt:lpstr>Academic honesty</vt:lpstr>
      <vt:lpstr>Usage of AI tools in education</vt:lpstr>
      <vt:lpstr>Rules for the usage of AI </vt:lpstr>
      <vt:lpstr>Content classes Ed / Simone</vt:lpstr>
      <vt:lpstr>PowerPoint Presentation</vt:lpstr>
      <vt:lpstr>Content classes Ed / Simone</vt:lpstr>
      <vt:lpstr>Content classes Ed / Simone</vt:lpstr>
      <vt:lpstr>Content classes Ed / Simone</vt:lpstr>
      <vt:lpstr>PowerPoint Presentation</vt:lpstr>
      <vt:lpstr>From Physics to Physiology</vt:lpstr>
      <vt:lpstr>From Physics to Physiology</vt:lpstr>
      <vt:lpstr>From Physics to Physiology</vt:lpstr>
      <vt:lpstr>PowerPoint Presentation</vt:lpstr>
      <vt:lpstr>From Physics to Physiology</vt:lpstr>
      <vt:lpstr>From Physics to Physiology</vt:lpstr>
      <vt:lpstr>From Physics to Physiology</vt:lpstr>
      <vt:lpstr>Systems and models</vt:lpstr>
      <vt:lpstr>Models</vt:lpstr>
      <vt:lpstr>Anatomical model</vt:lpstr>
      <vt:lpstr>Physiological model</vt:lpstr>
      <vt:lpstr>Physical / Mathematical model</vt:lpstr>
      <vt:lpstr>Engineering model</vt:lpstr>
      <vt:lpstr>“comprehensive” simulation model</vt:lpstr>
      <vt:lpstr>Models</vt:lpstr>
      <vt:lpstr>Some purposes of models of biological/physical systems</vt:lpstr>
      <vt:lpstr>Steps in simulation</vt:lpstr>
      <vt:lpstr>Simulation of the Schiphol security queue..</vt:lpstr>
      <vt:lpstr>Discuss in couples: Modeling the Schiphol queue</vt:lpstr>
      <vt:lpstr>Simulation of the Schiphol security queue..</vt:lpstr>
      <vt:lpstr>Simulation of the Schiphol security queue..</vt:lpstr>
      <vt:lpstr>Simulation of the Schiphol security queue..</vt:lpstr>
      <vt:lpstr>The Cardiovascular System</vt:lpstr>
    </vt:vector>
  </TitlesOfParts>
  <Company>AMC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part Ed van Bavel</dc:title>
  <dc:creator>Bavel, E.T. van (Ed)</dc:creator>
  <cp:lastModifiedBy>Saitta, Simone</cp:lastModifiedBy>
  <cp:revision>74</cp:revision>
  <dcterms:created xsi:type="dcterms:W3CDTF">2020-08-27T09:03:51Z</dcterms:created>
  <dcterms:modified xsi:type="dcterms:W3CDTF">2026-08-31T08:16:58Z</dcterms:modified>
</cp:coreProperties>
</file>